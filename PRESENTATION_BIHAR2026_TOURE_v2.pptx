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2188952" cy="470916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PROJET FINAL MLOps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600200"/>
            <a:ext cx="5788152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9A84C"/>
                </a:solidFill>
              </a:rPr>
              <a:t>Prévision de Série Temporelle  •  Classification Multimodale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60320"/>
            <a:ext cx="9445752" cy="594360"/>
          </a:xfrm>
          <a:prstGeom prst="rect">
            <a:avLst/>
          </a:prstGeom>
          <a:solidFill>
            <a:srgbClr val="2A5A6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8775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Etudiant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87752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TOURE Abdoul Aziz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310127"/>
            <a:ext cx="9445752" cy="594360"/>
          </a:xfrm>
          <a:prstGeom prst="rect">
            <a:avLst/>
          </a:prstGeom>
          <a:solidFill>
            <a:srgbClr val="2A5A6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337560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Programme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37560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MSc BIHAR 2025-2026 — ESTIA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059935"/>
            <a:ext cx="9445752" cy="594360"/>
          </a:xfrm>
          <a:prstGeom prst="rect">
            <a:avLst/>
          </a:prstGeom>
          <a:solidFill>
            <a:srgbClr val="2A5A6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087368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Modules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087368"/>
            <a:ext cx="7132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M32 Machine Learning II  •  M33 Deep Learning II  •  M27 DevOps</a:t>
            </a:r>
          </a:p>
        </p:txBody>
      </p:sp>
    </p:spTree>
  </p:cSld>
  <p:clrMapOvr>
    <a:masterClrMapping/>
  </p:clrMapOvr>
  <p:timing>
    <p:tnLst>
      <p:par>
        <p:cTn id="76" dur="indefinite" restart="whenNotActive" nodeType="tmRoot">
          <p:childTnLst>
            <p:seq concurrent="1" nextAc="seek">
              <p:cTn id="77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8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6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54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72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90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108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26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4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162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180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198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16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5" grpId="0"/>
      <p:bldP spid="6" grpId="1"/>
      <p:bldP spid="7" grpId="2"/>
      <p:bldP spid="8" grpId="3"/>
      <p:bldP spid="9" grpId="4"/>
      <p:bldP spid="10" grpId="5"/>
      <p:bldP spid="11" grpId="6"/>
      <p:bldP spid="12" grpId="7"/>
      <p:bldP spid="13" grpId="8"/>
      <p:bldP spid="14" grpId="9"/>
      <p:bldP spid="15" grpId="10"/>
      <p:bldP spid="16" grpId="11"/>
      <p:bldP spid="17" grpId="12"/>
    </p:bldLst>
  </p:timing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7238" y="841248"/>
            <a:ext cx="6094476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1463040"/>
          </a:xfrm>
          <a:prstGeom prst="rect">
            <a:avLst/>
          </a:prstGeom>
          <a:solidFill>
            <a:srgbClr val="5E9E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914400" cy="146304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914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Introduction &amp; Contexte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486400" cy="1463040"/>
          </a:xfrm>
          <a:prstGeom prst="rect">
            <a:avLst/>
          </a:prstGeom>
          <a:solidFill>
            <a:srgbClr val="5E9E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05840"/>
            <a:ext cx="914400" cy="146304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05840"/>
            <a:ext cx="914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28016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Données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486400" cy="1463040"/>
          </a:xfrm>
          <a:prstGeom prst="rect">
            <a:avLst/>
          </a:prstGeom>
          <a:solidFill>
            <a:srgbClr val="5E9E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914400" cy="146304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43200"/>
            <a:ext cx="914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175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Classification
Multimodale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5486400" cy="1463040"/>
          </a:xfrm>
          <a:prstGeom prst="rect">
            <a:avLst/>
          </a:prstGeom>
          <a:solidFill>
            <a:srgbClr val="5E9E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743200"/>
            <a:ext cx="914400" cy="146304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743200"/>
            <a:ext cx="914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0175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Prévision
Série Temporelle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80560"/>
            <a:ext cx="5486400" cy="1463040"/>
          </a:xfrm>
          <a:prstGeom prst="rect">
            <a:avLst/>
          </a:prstGeom>
          <a:solidFill>
            <a:srgbClr val="5E9E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480560"/>
            <a:ext cx="914400" cy="146304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80560"/>
            <a:ext cx="914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548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MLOps / DevOps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480560"/>
            <a:ext cx="5486400" cy="1463040"/>
          </a:xfrm>
          <a:prstGeom prst="rect">
            <a:avLst/>
          </a:prstGeom>
          <a:solidFill>
            <a:srgbClr val="5E9E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480560"/>
            <a:ext cx="914400" cy="146304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480560"/>
            <a:ext cx="914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7548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Résultats &amp;
Conclusion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98" dur="indefinite" restart="whenNotActive" nodeType="tmRoot">
          <p:childTnLst>
            <p:seq concurrent="1" nextAc="seek">
              <p:cTn id="199" dur="indefinite" nodeType="mainSeq"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1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2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3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4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6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7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8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9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0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2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3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14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15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16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18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19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0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1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2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24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25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26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27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6" grpId="0"/>
      <p:bldP spid="7" grpId="1"/>
      <p:bldP spid="8" grpId="2"/>
      <p:bldP spid="9" grpId="3"/>
      <p:bldP spid="10" grpId="4"/>
      <p:bldP spid="11" grpId="5"/>
      <p:bldP spid="12" grpId="6"/>
      <p:bldP spid="13" grpId="7"/>
      <p:bldP spid="14" grpId="8"/>
      <p:bldP spid="15" grpId="9"/>
      <p:bldP spid="16" grpId="10"/>
      <p:bldP spid="17" grpId="11"/>
      <p:bldP spid="18" grpId="12"/>
      <p:bldP spid="19" grpId="13"/>
      <p:bldP spid="20" grpId="14"/>
      <p:bldP spid="21" grpId="15"/>
      <p:bldP spid="22" grpId="16"/>
      <p:bldP spid="23" grpId="17"/>
      <p:bldP spid="24" grpId="18"/>
      <p:bldP spid="25" grpId="19"/>
      <p:bldP spid="26" grpId="20"/>
      <p:bldP spid="27" grpId="21"/>
      <p:bldP spid="28" grpId="22"/>
      <p:bldP spid="29" grpId="23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solidFill>
            <a:srgbClr val="2A5A6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4C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Introduction &amp; Contexte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6180" y="3858768"/>
            <a:ext cx="47091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>
    <p:fade/>
  </p:transition>
  <p:timing>
    <p:tnLst>
      <p:par>
        <p:cTn id="210" dur="indefinite" restart="whenNotActive" nodeType="tmRoot">
          <p:childTnLst>
            <p:seq concurrent="1" nextAc="seek">
              <p:cTn id="211" dur="indefinite" nodeType="mainSeq"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20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4" grpId="0"/>
      <p:bldP spid="5" grpId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Contexte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Objectif Global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Construire un pipeline MLOps complet de bout en bout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938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Deux sous-projets indépendants : Multimodal + Série Temporelle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Sous-projet 1 — Classification Multimodale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358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Prédire plusieurs labels sur des images + descriptions textuelles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Dataset : Kaggle Multi-label Classification Competition 2023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Sous-projet 2 — Prévision de Série Temporelle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44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Prédire la température sur 3 jours (horizon 72h = 24 pas x 3h)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4690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65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Données : Open-Meteo, Côte d'Ivoire, 2023-2025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Partie MLOps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3504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053327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Pipeline entraînement → inférence → API REST → CI/CD →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322" dur="indefinite" restart="whenNotActive" nodeType="tmRoot">
          <p:childTnLst>
            <p:seq concurrent="1" nextAc="seek">
              <p:cTn id="323" dur="indefinite" nodeType="mainSeq"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15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30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45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60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75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90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105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120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135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150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165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180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195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210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225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240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255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270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285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300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315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Pourquoi ces choix technologiques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PyTorch — Framework Deep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Flexibilité maximale pour les architectures custom (LSTM, BiLSTM, EfficientNet)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938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Debuggage facile (eager mode) — meilleur contrôle que TensorFlow sur Windows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FastAPI — API 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358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Performances élevées (ASGI async) — typage automatique — docs Swagger auto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Natif pour les projets Python ML vs Flask (plus moderne, plus rapide)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MLflow — Tracking &amp; Registry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44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Standard industrie — log params/métriques/artefacts/datasets en 3 lignes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4690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65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Model Registry intégré — versionning automatique des modèles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SQLite — Base de données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3504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053327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Zero-configuration — portable — parfait pour un projet local/batch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5566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1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Performant pour les volumes de données météo (~10k lignes)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7040879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04087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GitHub Actions — CI/CD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754380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7562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Natif GitHub — gratuit — GITHUB_TOKEN auto (pas de secrets)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464" dur="indefinite" restart="whenNotActive" nodeType="tmRoot">
          <p:childTnLst>
            <p:seq concurrent="1" nextAc="seek">
              <p:cTn id="465" dur="indefinite" nodeType="mainSeq"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15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30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45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60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75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90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105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120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135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150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165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180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195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210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225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240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255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270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285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300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315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330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345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360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375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390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405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  <p:bldP spid="33" grpId="26"/>
      <p:bldP spid="34" grpId="27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solidFill>
            <a:srgbClr val="2A5A6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4C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6180" y="3858768"/>
            <a:ext cx="47091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>
    <p:fade/>
  </p:transition>
  <p:timing>
    <p:tnLst>
      <p:par>
        <p:cTn id="476" dur="indefinite" restart="whenNotActive" nodeType="tmRoot">
          <p:childTnLst>
            <p:seq concurrent="1" nextAc="seek">
              <p:cTn id="477" dur="indefinite" nodeType="mainSeq"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20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4" grpId="0"/>
      <p:bldP spid="5" grpId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Dataset Multimodal — Kaggle 2023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Structure du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~10 000 images (.jpg) + train.csv (ImageID, Labels, Caption)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938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18 classes de labels (labels 1-19, label 12 absent)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5000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682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Chaque image peut avoir PLUSIEURS labels simultanément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35224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352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Défi principal : déséquilibre des 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Classes fréquentes (label 1, 3, 8) : &gt; 2000 occurrences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5876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87705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Classes rares (label 15, 2, 14) : &lt; 500 occurrences — ratio max/min ≈ 10:1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79392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297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Solution : pos_weight = N_neg/N_pos dans BCEWithLogitsLoss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64608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8646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Problème 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6752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3858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Captions contiennent des virgules → lignes mal formées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88152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806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Solution : pd.read_csv(TRAIN_CSV, on_bad_lines='skip')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373368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3733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Split : 70% train / 15% val / 15% 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monitoring/output/eda_label_distribution.png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598" dur="indefinite" restart="whenNotActive" nodeType="tmRoot">
          <p:childTnLst>
            <p:seq concurrent="1" nextAc="seek">
              <p:cTn id="599" dur="indefinite" nodeType="mainSeq"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15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30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45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60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75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90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105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120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135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1500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165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>
                      <p:stCondLst>
                        <p:cond delay="180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195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210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225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240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255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270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285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300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3" fill="hold">
                      <p:stCondLst>
                        <p:cond delay="315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330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345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EDA Multimodal — Texte &amp; Co-occurrences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CF0"/>
                </a:solidFill>
              </a:rPr>
              <a:t>Mots les plus fréquents dans les captions</a:t>
            </a:r>
          </a:p>
        </p:txBody>
      </p:sp>
      <p:pic>
        <p:nvPicPr>
          <p:cNvPr id="9" name="Picture 8" descr="eda_cooccur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48640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CF0"/>
                </a:solidFill>
              </a:rPr>
              <a:t>Labels qui co-apparaissent souvent (heatmap)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620" dur="indefinite" restart="whenNotActive" nodeType="tmRoot">
          <p:childTnLst>
            <p:seq concurrent="1" nextAc="seek">
              <p:cTn id="621" dur="indefinite" nodeType="mainSeq">
                <p:childTnLst>
                  <p:par>
                    <p:cTn id="600" fill="hold">
                      <p:stCondLst>
                        <p:cond delay="0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300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0" fill="hold">
                      <p:stCondLst>
                        <p:cond delay="60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>
                      <p:stCondLst>
                        <p:cond delay="90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Dataset Météo — Série Temporelle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Source : API Open-Meteo (gratuite, no auth)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Variable : temperature_2m — Localisation : Côte d'Ivoire (6.82°N, 5.28°W)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938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Période : 2023-01-01 → 2025-12-31 | ~9 500 observations à 3h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Agrégation 3 heures (requis par le sujet)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358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Valeur à 00h = moyenne(00h, 01h, 02h)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Valeur à 03h = moyenne(03h, 04h, 05h) … etc.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5876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87705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Implémentation : df.resample('3h', label='left').mean()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43984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Patterns identifiés par l'EDA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4690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65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Saisonnalité journalière forte : pic 14h–15h, minimum 06h (amplitude ≈ 8°C)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6752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3858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Saisonnalité annuelle : saison sèche (DJF) vs saison humide (MAM/SON)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88152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806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Autocorrélation : ρ≈0.97 à lag 1, pic à lag 8 (24h) et lag 56 (7 jours)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208776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2270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Légère tendance haussière : +0.2°C/an sur 2023–2025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793992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79399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Split temporel : 70% / 15% / 15% (chronologique)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7296912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7315199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Fit StandardScaler sur train uniquement — pas de fuite de données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762" dur="indefinite" restart="whenNotActive" nodeType="tmRoot">
          <p:childTnLst>
            <p:seq concurrent="1" nextAc="seek">
              <p:cTn id="763" dur="indefinite" nodeType="mainSeq"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7" fill="hold">
                      <p:stCondLst>
                        <p:cond delay="15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300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7" fill="hold">
                      <p:stCondLst>
                        <p:cond delay="45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2" fill="hold">
                      <p:stCondLst>
                        <p:cond delay="60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75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900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id="6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105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fill="hold">
                      <p:stCondLst>
                        <p:cond delay="1200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id="6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1350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150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165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2" fill="hold">
                      <p:stCondLst>
                        <p:cond delay="180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195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fill="hold">
                      <p:stCondLst>
                        <p:cond delay="2100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225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2" fill="hold">
                      <p:stCondLst>
                        <p:cond delay="240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7" fill="hold">
                      <p:stCondLst>
                        <p:cond delay="255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fill="hold">
                      <p:stCondLst>
                        <p:cond delay="2700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id="7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285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2" fill="hold">
                      <p:stCondLst>
                        <p:cond delay="300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7" fill="hold">
                      <p:stCondLst>
                        <p:cond delay="3150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id="7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fill="hold">
                      <p:stCondLst>
                        <p:cond delay="330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345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360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375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2" fill="hold">
                      <p:stCondLst>
                        <p:cond delay="3900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id="7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>
                      <p:stCondLst>
                        <p:cond delay="4050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1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  <p:bldP spid="33" grpId="26"/>
      <p:bldP spid="34" grpId="27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solidFill>
            <a:srgbClr val="2A5A6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4C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Classification Multimodale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6180" y="3858768"/>
            <a:ext cx="47091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CF0"/>
                </a:solidFill>
              </a:rPr>
              <a:t>Images • Textes • Fusion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774" dur="indefinite" restart="whenNotActive" nodeType="tmRoot">
          <p:childTnLst>
            <p:seq concurrent="1" nextAc="seek">
              <p:cTn id="775" dur="indefinite" nodeType="mainSeq">
                <p:childTnLst>
                  <p:par>
                    <p:cTn id="764" fill="hold">
                      <p:stCondLst>
                        <p:cond delay="0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id="7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9" fill="hold">
                      <p:stCondLst>
                        <p:cond delay="200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id="7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4" grpId="0"/>
      <p:bldP spid="5" grpId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Architecture — 3 Modèles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3566160" cy="1188720"/>
          </a:xfrm>
          <a:prstGeom prst="rect">
            <a:avLst/>
          </a:prstGeom>
          <a:solidFill>
            <a:srgbClr val="3A70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515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Baseline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8988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Conv(32)→BN→Pool
Conv(64)→BN→Pool
Conv(128)→BN→Pool
GAP→Dense(256)→Dense(18)
622 866 params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566160" cy="1188720"/>
          </a:xfrm>
          <a:prstGeom prst="rect">
            <a:avLst/>
          </a:prstGeom>
          <a:solidFill>
            <a:srgbClr val="3A70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0515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EfficientNetB0 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EfficientNetB0 GELÉ
(4M params figés)
+ tête entraînable
Dense(512)→Dense(18)
23 058 params entr.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005840"/>
            <a:ext cx="3566160" cy="1188720"/>
          </a:xfrm>
          <a:prstGeom prst="rect">
            <a:avLst/>
          </a:prstGeom>
          <a:solidFill>
            <a:srgbClr val="1A5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0515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EfficientNetB0 FT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38988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 derniers blocs dégelés
+ nouvelle tête
3.18M / 4.03M params
→ adaptation au domaine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468880"/>
            <a:ext cx="11795760" cy="4572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51460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Paramètres communs : Adam lr=1e-3  |  BCEWithLogitsLoss + pos_weight  |  batch=32  |  20 epochs  |  EarlyStopping patience=5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108960"/>
            <a:ext cx="3566160" cy="256032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315467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Résultats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3493008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0.2873
F1 macro : 0.2072
Précision : 0.1770
Rappel : 0.7621
Sous-ajustement
features CNN limitées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108960"/>
            <a:ext cx="3566160" cy="256032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15467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Résultats 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493008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0.4544
F1 macro : 0.3484
Précision : 0.3177
Rappel : 0.7974
+18pts vs baseline
Features ImageNet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108960"/>
            <a:ext cx="3566160" cy="2560320"/>
          </a:xfrm>
          <a:prstGeom prst="rect">
            <a:avLst/>
          </a:prstGeom>
          <a:solidFill>
            <a:srgbClr val="1A5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15467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Résultats FT 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493008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0.6665
F1 macro : 0.5553
Précision : 0.5748
Rappel : 0.7930
+38pts vs baseline
MEILLEUR MODELE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876" dur="indefinite" restart="whenNotActive" nodeType="tmRoot">
          <p:childTnLst>
            <p:seq concurrent="1" nextAc="seek">
              <p:cTn id="877" dur="indefinite" nodeType="mainSeq">
                <p:childTnLst>
                  <p:par>
                    <p:cTn id="776" fill="hold">
                      <p:stCondLst>
                        <p:cond delay="0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id="7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200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6" fill="hold">
                      <p:stCondLst>
                        <p:cond delay="40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1" fill="hold">
                      <p:stCondLst>
                        <p:cond delay="60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6" fill="hold">
                      <p:stCondLst>
                        <p:cond delay="800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id="7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100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6" fill="hold">
                      <p:stCondLst>
                        <p:cond delay="1200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id="8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1" fill="hold">
                      <p:stCondLst>
                        <p:cond delay="1400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id="8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6" fill="hold">
                      <p:stCondLst>
                        <p:cond delay="160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1" fill="hold">
                      <p:stCondLst>
                        <p:cond delay="1800"/>
                      </p:stCondLst>
                      <p:childTnLst>
                        <p:par>
                          <p:cTn id="822" fill="hold">
                            <p:stCondLst>
                              <p:cond delay="0"/>
                            </p:stCondLst>
                            <p:childTnLst>
                              <p:par>
                                <p:cTn id="8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6" fill="hold">
                      <p:stCondLst>
                        <p:cond delay="200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220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6" fill="hold">
                      <p:stCondLst>
                        <p:cond delay="2400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id="8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1" fill="hold">
                      <p:stCondLst>
                        <p:cond delay="2600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id="8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6" fill="hold">
                      <p:stCondLst>
                        <p:cond delay="280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1" fill="hold">
                      <p:stCondLst>
                        <p:cond delay="3000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id="8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6" fill="hold">
                      <p:stCondLst>
                        <p:cond delay="3200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id="8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1" fill="hold">
                      <p:stCondLst>
                        <p:cond delay="340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6" fill="hold">
                      <p:stCondLst>
                        <p:cond delay="3600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id="8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1" fill="hold">
                      <p:stCondLst>
                        <p:cond delay="3800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id="8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Courbes &amp; Grad-CAM — Classification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EfficientNetB0_Fine-tu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CF0"/>
                </a:solidFill>
              </a:rPr>
              <a:t>EfficientNetB0 Fine-tuning — courbes d'entraînement</a:t>
            </a:r>
          </a:p>
        </p:txBody>
      </p:sp>
      <p:pic>
        <p:nvPicPr>
          <p:cNvPr id="9" name="Picture 8" descr="img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48640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CF0"/>
                </a:solidFill>
              </a:rPr>
              <a:t>Grad-CAM — zones activées pour chaque prédiction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898" dur="indefinite" restart="whenNotActive" nodeType="tmRoot">
          <p:childTnLst>
            <p:seq concurrent="1" nextAc="seek">
              <p:cTn id="899" dur="indefinite" nodeType="mainSeq">
                <p:childTnLst>
                  <p:par>
                    <p:cTn id="878" fill="hold">
                      <p:stCondLst>
                        <p:cond delay="0"/>
                      </p:stCondLst>
                      <p:childTnLst>
                        <p:par>
                          <p:cTn id="879" fill="hold">
                            <p:stCondLst>
                              <p:cond delay="0"/>
                            </p:stCondLst>
                            <p:childTnLst>
                              <p:par>
                                <p:cTn id="8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300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8" fill="hold">
                      <p:stCondLst>
                        <p:cond delay="600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3" fill="hold">
                      <p:stCondLst>
                        <p:cond delay="900"/>
                      </p:stCondLst>
                      <p:childTnLst>
                        <p:par>
                          <p:cTn id="894" fill="hold">
                            <p:stCondLst>
                              <p:cond delay="0"/>
                            </p:stCondLst>
                            <p:childTnLst>
                              <p:par>
                                <p:cTn id="8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Architecture — 3 Modèles Textes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3749039" cy="1280160"/>
          </a:xfrm>
          <a:prstGeom prst="rect">
            <a:avLst/>
          </a:prstGeom>
          <a:solidFill>
            <a:srgbClr val="3A70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515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TF-IDF + LogReg (baseline)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89888"/>
            <a:ext cx="36575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TfidfVectorizer(10 000 features, ngram(1,2))
OneVsRestClassifier(LogisticRegression)
Rapide, interprétable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3749039" cy="1280160"/>
          </a:xfrm>
          <a:prstGeom prst="rect">
            <a:avLst/>
          </a:prstGeom>
          <a:solidFill>
            <a:srgbClr val="3A70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0515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TF-IDF + 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1389888"/>
            <a:ext cx="36575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Input(10000)→Dense(512,relu)
→Dropout→Dense(256)→Dense(18)
Capture non-linéarités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05840"/>
            <a:ext cx="3749039" cy="1280160"/>
          </a:xfrm>
          <a:prstGeom prst="rect">
            <a:avLst/>
          </a:prstGeom>
          <a:solidFill>
            <a:srgbClr val="1A5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0515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Bi-LSTM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389888"/>
            <a:ext cx="365759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Embedding(5000, 128)
→BiLSTM(128)→BiLSTM(64)
→Dense(128)→Dense(18)
2.3M params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514600"/>
            <a:ext cx="3749039" cy="22860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560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Résultats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898648"/>
            <a:ext cx="36575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~0.45
Pas de représentation
de l'ordre des mots
Baseline solide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514600"/>
            <a:ext cx="3749039" cy="22860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560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Résultats 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2898648"/>
            <a:ext cx="36575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~0.55
Capture relations
non-linéaires
entre mots TF-IDF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514600"/>
            <a:ext cx="3749039" cy="2286000"/>
          </a:xfrm>
          <a:prstGeom prst="rect">
            <a:avLst/>
          </a:prstGeom>
          <a:solidFill>
            <a:srgbClr val="1A5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5603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Résultats Bi-LSTM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98648"/>
            <a:ext cx="36575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~0.66
Contexte bidirectionnel
Capture séquences
MEILLEUR MODELE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5029200"/>
            <a:ext cx="11795760" cy="54864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507492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Interprétabilité : LIME — mots les plus influents par prédiction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000" dur="indefinite" restart="whenNotActive" nodeType="tmRoot">
          <p:childTnLst>
            <p:seq concurrent="1" nextAc="seek">
              <p:cTn id="1001" dur="indefinite" nodeType="mainSeq">
                <p:childTnLst>
                  <p:par>
                    <p:cTn id="900" fill="hold">
                      <p:stCondLst>
                        <p:cond delay="0"/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9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5" fill="hold">
                      <p:stCondLst>
                        <p:cond delay="200"/>
                      </p:stCondLst>
                      <p:childTnLst>
                        <p:par>
                          <p:cTn id="906" fill="hold">
                            <p:stCondLst>
                              <p:cond delay="0"/>
                            </p:stCondLst>
                            <p:childTnLst>
                              <p:par>
                                <p:cTn id="9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0" fill="hold">
                      <p:stCondLst>
                        <p:cond delay="400"/>
                      </p:stCondLst>
                      <p:childTnLst>
                        <p:par>
                          <p:cTn id="911" fill="hold">
                            <p:stCondLst>
                              <p:cond delay="0"/>
                            </p:stCondLst>
                            <p:childTnLst>
                              <p:par>
                                <p:cTn id="9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5" fill="hold">
                      <p:stCondLst>
                        <p:cond delay="60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0" fill="hold">
                      <p:stCondLst>
                        <p:cond delay="800"/>
                      </p:stCondLst>
                      <p:childTnLst>
                        <p:par>
                          <p:cTn id="921" fill="hold">
                            <p:stCondLst>
                              <p:cond delay="0"/>
                            </p:stCondLst>
                            <p:childTnLst>
                              <p:par>
                                <p:cTn id="9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5" fill="hold">
                      <p:stCondLst>
                        <p:cond delay="1000"/>
                      </p:stCondLst>
                      <p:childTnLst>
                        <p:par>
                          <p:cTn id="926" fill="hold">
                            <p:stCondLst>
                              <p:cond delay="0"/>
                            </p:stCondLst>
                            <p:childTnLst>
                              <p:par>
                                <p:cTn id="9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0" fill="hold">
                      <p:stCondLst>
                        <p:cond delay="1200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5" fill="hold">
                      <p:stCondLst>
                        <p:cond delay="1400"/>
                      </p:stCondLst>
                      <p:childTnLst>
                        <p:par>
                          <p:cTn id="936" fill="hold">
                            <p:stCondLst>
                              <p:cond delay="0"/>
                            </p:stCondLst>
                            <p:childTnLst>
                              <p:par>
                                <p:cTn id="9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0" fill="hold">
                      <p:stCondLst>
                        <p:cond delay="1600"/>
                      </p:stCondLst>
                      <p:childTnLst>
                        <p:par>
                          <p:cTn id="941" fill="hold">
                            <p:stCondLst>
                              <p:cond delay="0"/>
                            </p:stCondLst>
                            <p:childTnLst>
                              <p:par>
                                <p:cTn id="9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5" fill="hold">
                      <p:stCondLst>
                        <p:cond delay="180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0" fill="hold">
                      <p:stCondLst>
                        <p:cond delay="2000"/>
                      </p:stCondLst>
                      <p:childTnLst>
                        <p:par>
                          <p:cTn id="951" fill="hold">
                            <p:stCondLst>
                              <p:cond delay="0"/>
                            </p:stCondLst>
                            <p:childTnLst>
                              <p:par>
                                <p:cTn id="9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5" fill="hold">
                      <p:stCondLst>
                        <p:cond delay="2200"/>
                      </p:stCondLst>
                      <p:childTnLst>
                        <p:par>
                          <p:cTn id="956" fill="hold">
                            <p:stCondLst>
                              <p:cond delay="0"/>
                            </p:stCondLst>
                            <p:childTnLst>
                              <p:par>
                                <p:cTn id="9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0" fill="hold">
                      <p:stCondLst>
                        <p:cond delay="2400"/>
                      </p:stCondLst>
                      <p:childTnLst>
                        <p:par>
                          <p:cTn id="961" fill="hold">
                            <p:stCondLst>
                              <p:cond delay="0"/>
                            </p:stCondLst>
                            <p:childTnLst>
                              <p:par>
                                <p:cTn id="9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5" fill="hold">
                      <p:stCondLst>
                        <p:cond delay="2600"/>
                      </p:stCondLst>
                      <p:childTnLst>
                        <p:par>
                          <p:cTn id="966" fill="hold">
                            <p:stCondLst>
                              <p:cond delay="0"/>
                            </p:stCondLst>
                            <p:childTnLst>
                              <p:par>
                                <p:cTn id="9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0" fill="hold">
                      <p:stCondLst>
                        <p:cond delay="2800"/>
                      </p:stCondLst>
                      <p:childTnLst>
                        <p:par>
                          <p:cTn id="971" fill="hold">
                            <p:stCondLst>
                              <p:cond delay="0"/>
                            </p:stCondLst>
                            <p:childTnLst>
                              <p:par>
                                <p:cTn id="9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5" fill="hold">
                      <p:stCondLst>
                        <p:cond delay="300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0" fill="hold">
                      <p:stCondLst>
                        <p:cond delay="3200"/>
                      </p:stCondLst>
                      <p:childTnLst>
                        <p:par>
                          <p:cTn id="981" fill="hold">
                            <p:stCondLst>
                              <p:cond delay="0"/>
                            </p:stCondLst>
                            <p:childTnLst>
                              <p:par>
                                <p:cTn id="9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5" fill="hold">
                      <p:stCondLst>
                        <p:cond delay="3400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0" fill="hold">
                      <p:stCondLst>
                        <p:cond delay="3600"/>
                      </p:stCondLst>
                      <p:childTnLst>
                        <p:par>
                          <p:cTn id="991" fill="hold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5" fill="hold">
                      <p:stCondLst>
                        <p:cond delay="3800"/>
                      </p:stCondLst>
                      <p:childTnLst>
                        <p:par>
                          <p:cTn id="996" fill="hold">
                            <p:stCondLst>
                              <p:cond delay="0"/>
                            </p:stCondLst>
                            <p:childTnLst>
                              <p:par>
                                <p:cTn id="9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LIME &amp; Courbes — Classification Textes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xt_bilstm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CF0"/>
                </a:solidFill>
              </a:rPr>
              <a:t>Bi-LSTM — courbes d'entraînement (train / val)</a:t>
            </a:r>
          </a:p>
        </p:txBody>
      </p:sp>
      <p:pic>
        <p:nvPicPr>
          <p:cNvPr id="9" name="Picture 8" descr="text_lime_expla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48640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CF0"/>
                </a:solidFill>
              </a:rPr>
              <a:t>LIME — mots les plus influents pour chaque label prédit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14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022" dur="indefinite" restart="whenNotActive" nodeType="tmRoot">
          <p:childTnLst>
            <p:seq concurrent="1" nextAc="seek">
              <p:cTn id="1023" dur="indefinite" nodeType="mainSeq"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300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par>
                                <p:cTn id="10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2" fill="hold">
                      <p:stCondLst>
                        <p:cond delay="600"/>
                      </p:stCondLst>
                      <p:childTnLst>
                        <p:par>
                          <p:cTn id="1013" fill="hold">
                            <p:stCondLst>
                              <p:cond delay="0"/>
                            </p:stCondLst>
                            <p:childTnLst>
                              <p:par>
                                <p:cTn id="10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7" fill="hold">
                      <p:stCondLst>
                        <p:cond delay="900"/>
                      </p:stCondLst>
                      <p:childTnLst>
                        <p:par>
                          <p:cTn id="1018" fill="hold">
                            <p:stCondLst>
                              <p:cond delay="0"/>
                            </p:stCondLst>
                            <p:childTnLst>
                              <p:par>
                                <p:cTn id="10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Architecture — Fusion Multimodale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3657600" cy="1188720"/>
          </a:xfrm>
          <a:prstGeom prst="rect">
            <a:avLst/>
          </a:prstGeom>
          <a:solidFill>
            <a:srgbClr val="3A70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EfficientNetB0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8988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Images 224×224
→ vecteur 1280-dim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3474720"/>
            <a:ext cx="3657600" cy="1188720"/>
          </a:xfrm>
          <a:prstGeom prst="rect">
            <a:avLst/>
          </a:prstGeom>
          <a:solidFill>
            <a:srgbClr val="3A70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352043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Bi-LSTM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858768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Captions tokenisées
→ vecteur 256-dim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960120"/>
            <a:ext cx="3657600" cy="1920240"/>
          </a:xfrm>
          <a:prstGeom prst="rect">
            <a:avLst/>
          </a:prstGeom>
          <a:solidFill>
            <a:srgbClr val="1A5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0058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Early Fusion (★)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344168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Extracteurs GELÉS
Concat(1536-dim)
→ Dense(512)
→ Dense(18)
5.96M params entr.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108960"/>
            <a:ext cx="3657600" cy="192024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315467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Joint 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3493008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Extracteurs dégelés
Gate attention:
w=softmax(Linear(1536,2))
fused=w0*img+w1*txt
→ Dense(18)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960120"/>
            <a:ext cx="3749039" cy="914400"/>
          </a:xfrm>
          <a:prstGeom prst="rect">
            <a:avLst/>
          </a:prstGeom>
          <a:solidFill>
            <a:srgbClr val="1A5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0058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Early Fusion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344168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0.7383  |  F1 macro : 0.6665
+13.1% vs image  /  +12.3% vs texte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103120"/>
            <a:ext cx="3749039" cy="6858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148839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Joint 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487168"/>
            <a:ext cx="36575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0.6761  |  Attention collapse !
image=1.00 / texte=0.00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108960"/>
            <a:ext cx="3749039" cy="6858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154679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Image seule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493008"/>
            <a:ext cx="36575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0.6531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023360"/>
            <a:ext cx="3749039" cy="6858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690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Texte seul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07408"/>
            <a:ext cx="36575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 micro : 0.6575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5029200"/>
            <a:ext cx="11795760" cy="54864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507492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Observation : Joint Fusion souffre d'un attention collapse — image poids=1.0, texte=0.0 → Early Fusion GAGNE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15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154" dur="indefinite" restart="whenNotActive" nodeType="tmRoot">
          <p:childTnLst>
            <p:seq concurrent="1" nextAc="seek">
              <p:cTn id="1155" dur="indefinite" nodeType="mainSeq">
                <p:childTnLst>
                  <p:par>
                    <p:cTn id="1024" fill="hold">
                      <p:stCondLst>
                        <p:cond delay="0"/>
                      </p:stCondLst>
                      <p:childTnLst>
                        <p:par>
                          <p:cTn id="1025" fill="hold">
                            <p:stCondLst>
                              <p:cond delay="0"/>
                            </p:stCondLst>
                            <p:childTnLst>
                              <p:par>
                                <p:cTn id="10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9" fill="hold">
                      <p:stCondLst>
                        <p:cond delay="20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4" fill="hold">
                      <p:stCondLst>
                        <p:cond delay="400"/>
                      </p:stCondLst>
                      <p:childTnLst>
                        <p:par>
                          <p:cTn id="1035" fill="hold">
                            <p:stCondLst>
                              <p:cond delay="0"/>
                            </p:stCondLst>
                            <p:childTnLst>
                              <p:par>
                                <p:cTn id="10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9" fill="hold">
                      <p:stCondLst>
                        <p:cond delay="600"/>
                      </p:stCondLst>
                      <p:childTnLst>
                        <p:par>
                          <p:cTn id="1040" fill="hold">
                            <p:stCondLst>
                              <p:cond delay="0"/>
                            </p:stCondLst>
                            <p:childTnLst>
                              <p:par>
                                <p:cTn id="10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4" fill="hold">
                      <p:stCondLst>
                        <p:cond delay="800"/>
                      </p:stCondLst>
                      <p:childTnLst>
                        <p:par>
                          <p:cTn id="1045" fill="hold">
                            <p:stCondLst>
                              <p:cond delay="0"/>
                            </p:stCondLst>
                            <p:childTnLst>
                              <p:par>
                                <p:cTn id="10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>
                      <p:stCondLst>
                        <p:cond delay="1000"/>
                      </p:stCondLst>
                      <p:childTnLst>
                        <p:par>
                          <p:cTn id="1050" fill="hold">
                            <p:stCondLst>
                              <p:cond delay="0"/>
                            </p:stCondLst>
                            <p:childTnLst>
                              <p:par>
                                <p:cTn id="10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4" fill="hold">
                      <p:stCondLst>
                        <p:cond delay="1200"/>
                      </p:stCondLst>
                      <p:childTnLst>
                        <p:par>
                          <p:cTn id="1055" fill="hold">
                            <p:stCondLst>
                              <p:cond delay="0"/>
                            </p:stCondLst>
                            <p:childTnLst>
                              <p:par>
                                <p:cTn id="10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9" fill="hold">
                      <p:stCondLst>
                        <p:cond delay="140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4" fill="hold">
                      <p:stCondLst>
                        <p:cond delay="1600"/>
                      </p:stCondLst>
                      <p:childTnLst>
                        <p:par>
                          <p:cTn id="1065" fill="hold">
                            <p:stCondLst>
                              <p:cond delay="0"/>
                            </p:stCondLst>
                            <p:childTnLst>
                              <p:par>
                                <p:cTn id="10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9" fill="hold">
                      <p:stCondLst>
                        <p:cond delay="1800"/>
                      </p:stCondLst>
                      <p:childTnLst>
                        <p:par>
                          <p:cTn id="1070" fill="hold">
                            <p:stCondLst>
                              <p:cond delay="0"/>
                            </p:stCondLst>
                            <p:childTnLst>
                              <p:par>
                                <p:cTn id="10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4" fill="hold">
                      <p:stCondLst>
                        <p:cond delay="2000"/>
                      </p:stCondLst>
                      <p:childTnLst>
                        <p:par>
                          <p:cTn id="1075" fill="hold">
                            <p:stCondLst>
                              <p:cond delay="0"/>
                            </p:stCondLst>
                            <p:childTnLst>
                              <p:par>
                                <p:cTn id="10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9" fill="hold">
                      <p:stCondLst>
                        <p:cond delay="2200"/>
                      </p:stCondLst>
                      <p:childTnLst>
                        <p:par>
                          <p:cTn id="1080" fill="hold">
                            <p:stCondLst>
                              <p:cond delay="0"/>
                            </p:stCondLst>
                            <p:childTnLst>
                              <p:par>
                                <p:cTn id="10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4" fill="hold">
                      <p:stCondLst>
                        <p:cond delay="2400"/>
                      </p:stCondLst>
                      <p:childTnLst>
                        <p:par>
                          <p:cTn id="1085" fill="hold">
                            <p:stCondLst>
                              <p:cond delay="0"/>
                            </p:stCondLst>
                            <p:childTnLst>
                              <p:par>
                                <p:cTn id="10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9" fill="hold">
                      <p:stCondLst>
                        <p:cond delay="260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4" fill="hold">
                      <p:stCondLst>
                        <p:cond delay="2800"/>
                      </p:stCondLst>
                      <p:childTnLst>
                        <p:par>
                          <p:cTn id="1095" fill="hold">
                            <p:stCondLst>
                              <p:cond delay="0"/>
                            </p:stCondLst>
                            <p:childTnLst>
                              <p:par>
                                <p:cTn id="10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9" fill="hold">
                      <p:stCondLst>
                        <p:cond delay="3000"/>
                      </p:stCondLst>
                      <p:childTnLst>
                        <p:par>
                          <p:cTn id="1100" fill="hold">
                            <p:stCondLst>
                              <p:cond delay="0"/>
                            </p:stCondLst>
                            <p:childTnLst>
                              <p:par>
                                <p:cTn id="1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4" fill="hold">
                      <p:stCondLst>
                        <p:cond delay="3200"/>
                      </p:stCondLst>
                      <p:childTnLst>
                        <p:par>
                          <p:cTn id="1105" fill="hold">
                            <p:stCondLst>
                              <p:cond delay="0"/>
                            </p:stCondLst>
                            <p:childTnLst>
                              <p:par>
                                <p:cTn id="1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>
                      <p:stCondLst>
                        <p:cond delay="3400"/>
                      </p:stCondLst>
                      <p:childTnLst>
                        <p:par>
                          <p:cTn id="1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4" fill="hold">
                      <p:stCondLst>
                        <p:cond delay="3600"/>
                      </p:stCondLst>
                      <p:childTnLst>
                        <p:par>
                          <p:cTn id="1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9" fill="hold">
                      <p:stCondLst>
                        <p:cond delay="380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4" fill="hold">
                      <p:stCondLst>
                        <p:cond delay="4000"/>
                      </p:stCondLst>
                      <p:childTnLst>
                        <p:par>
                          <p:cTn id="1125" fill="hold">
                            <p:stCondLst>
                              <p:cond delay="0"/>
                            </p:stCondLst>
                            <p:childTnLst>
                              <p:par>
                                <p:cTn id="1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9" fill="hold">
                      <p:stCondLst>
                        <p:cond delay="4200"/>
                      </p:stCondLst>
                      <p:childTnLst>
                        <p:par>
                          <p:cTn id="1130" fill="hold">
                            <p:stCondLst>
                              <p:cond delay="0"/>
                            </p:stCondLst>
                            <p:childTnLst>
                              <p:par>
                                <p:cTn id="1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4" fill="hold">
                      <p:stCondLst>
                        <p:cond delay="440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9" fill="hold">
                      <p:stCondLst>
                        <p:cond delay="4600"/>
                      </p:stCondLst>
                      <p:childTnLst>
                        <p:par>
                          <p:cTn id="1140" fill="hold">
                            <p:stCondLst>
                              <p:cond delay="0"/>
                            </p:stCondLst>
                            <p:childTnLst>
                              <p:par>
                                <p:cTn id="1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4" fill="hold">
                      <p:stCondLst>
                        <p:cond delay="4800"/>
                      </p:stCondLst>
                      <p:childTnLst>
                        <p:par>
                          <p:cTn id="1145" fill="hold">
                            <p:stCondLst>
                              <p:cond delay="0"/>
                            </p:stCondLst>
                            <p:childTnLst>
                              <p:par>
                                <p:cTn id="1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9" fill="hold">
                      <p:stCondLst>
                        <p:cond delay="5000"/>
                      </p:stCondLst>
                      <p:childTnLst>
                        <p:par>
                          <p:cTn id="1150" fill="hold">
                            <p:stCondLst>
                              <p:cond delay="0"/>
                            </p:stCondLst>
                            <p:childTnLst>
                              <p:par>
                                <p:cTn id="1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Résultats Fusion — Comparaison &amp;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usion_fin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CF0"/>
                </a:solidFill>
              </a:rPr>
              <a:t>Comparaison F1 micro des 4 configurations</a:t>
            </a:r>
          </a:p>
        </p:txBody>
      </p:sp>
      <p:pic>
        <p:nvPicPr>
          <p:cNvPr id="9" name="Picture 8" descr="fusion_attention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48640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CF0"/>
                </a:solidFill>
              </a:rPr>
              <a:t>Poids d'attention Joint Fusion — collapse sur modalité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16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176" dur="indefinite" restart="whenNotActive" nodeType="tmRoot">
          <p:childTnLst>
            <p:seq concurrent="1" nextAc="seek">
              <p:cTn id="1177" dur="indefinite" nodeType="mainSeq">
                <p:childTnLst>
                  <p:par>
                    <p:cTn id="1156" fill="hold">
                      <p:stCondLst>
                        <p:cond delay="0"/>
                      </p:stCondLst>
                      <p:childTnLst>
                        <p:par>
                          <p:cTn id="1157" fill="hold">
                            <p:stCondLst>
                              <p:cond delay="0"/>
                            </p:stCondLst>
                            <p:childTnLst>
                              <p:par>
                                <p:cTn id="1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1" fill="hold">
                      <p:stCondLst>
                        <p:cond delay="300"/>
                      </p:stCondLst>
                      <p:childTnLst>
                        <p:par>
                          <p:cTn id="1162" fill="hold">
                            <p:stCondLst>
                              <p:cond delay="0"/>
                            </p:stCondLst>
                            <p:childTnLst>
                              <p:par>
                                <p:cTn id="1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6" fill="hold">
                      <p:stCondLst>
                        <p:cond delay="600"/>
                      </p:stCondLst>
                      <p:childTnLst>
                        <p:par>
                          <p:cTn id="1167" fill="hold">
                            <p:stCondLst>
                              <p:cond delay="0"/>
                            </p:stCondLst>
                            <p:childTnLst>
                              <p:par>
                                <p:cTn id="1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1" fill="hold">
                      <p:stCondLst>
                        <p:cond delay="900"/>
                      </p:stCondLst>
                      <p:childTnLst>
                        <p:par>
                          <p:cTn id="1172" fill="hold">
                            <p:stCondLst>
                              <p:cond delay="0"/>
                            </p:stCondLst>
                            <p:childTnLst>
                              <p:par>
                                <p:cTn id="1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solidFill>
            <a:srgbClr val="2A5A6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4C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Prévision de Série Temporelle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6180" y="3858768"/>
            <a:ext cx="47091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CF0"/>
                </a:solidFill>
              </a:rPr>
              <a:t>LSTM • Prophet • TFT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188" dur="indefinite" restart="whenNotActive" nodeType="tmRoot">
          <p:childTnLst>
            <p:seq concurrent="1" nextAc="seek">
              <p:cTn id="1189" dur="indefinite" nodeType="mainSeq">
                <p:childTnLst>
                  <p:par>
                    <p:cTn id="1178" fill="hold">
                      <p:stCondLst>
                        <p:cond delay="0"/>
                      </p:stCondLst>
                      <p:childTnLst>
                        <p:par>
                          <p:cTn id="1179" fill="hold">
                            <p:stCondLst>
                              <p:cond delay="0"/>
                            </p:stCondLst>
                            <p:childTnLst>
                              <p:par>
                                <p:cTn id="1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3" fill="hold">
                      <p:stCondLst>
                        <p:cond delay="200"/>
                      </p:stCondLst>
                      <p:childTnLst>
                        <p:par>
                          <p:cTn id="1184" fill="hold">
                            <p:stCondLst>
                              <p:cond delay="0"/>
                            </p:stCondLst>
                            <p:childTnLst>
                              <p:par>
                                <p:cTn id="1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4" grpId="0"/>
      <p:bldP spid="5" grpId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Feature Engineering — 49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Pourquoi autant de features pour le LSTM 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Le LSTM apprend des patterns séquentiels MAIS ne calcule pas de lags explicitement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938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Fournir les lags et statistiques roulantes donne un avantage décisif (facteur x27 vs TFT)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Features cycliques (6) — encodage sin/cos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358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hour_sin/cos, day_sin/cos, month_sin/cos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Sin/cos évite la discontinuité : heure 23 et 00h sont proches dans l'espace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Lag features (26) — autocorrélation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44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Lags 1→24 (72h), lag 36 (108h), lag 48 (6 jours)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4690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65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Capturent directement la forte autocorrélation ρ≈0.97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Rolling statistics (10) — tendance locale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3504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053327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Moyenne + écart-type sur fenêtres 3h, 6h, 8h (24h), 12h, 24h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620255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20255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Différences (3) — taux de variation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7123175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7141463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diff_1, diff_2, diff_8 — variation relative entre pas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18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320" dur="indefinite" restart="whenNotActive" nodeType="tmRoot">
          <p:childTnLst>
            <p:seq concurrent="1" nextAc="seek">
              <p:cTn id="1321" dur="indefinite" nodeType="mainSeq">
                <p:childTnLst>
                  <p:par>
                    <p:cTn id="1190" fill="hold">
                      <p:stCondLst>
                        <p:cond delay="0"/>
                      </p:stCondLst>
                      <p:childTnLst>
                        <p:par>
                          <p:cTn id="1191" fill="hold">
                            <p:stCondLst>
                              <p:cond delay="0"/>
                            </p:stCondLst>
                            <p:childTnLst>
                              <p:par>
                                <p:cTn id="1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5" fill="hold">
                      <p:stCondLst>
                        <p:cond delay="150"/>
                      </p:stCondLst>
                      <p:childTnLst>
                        <p:par>
                          <p:cTn id="1196" fill="hold">
                            <p:stCondLst>
                              <p:cond delay="0"/>
                            </p:stCondLst>
                            <p:childTnLst>
                              <p:par>
                                <p:cTn id="1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0" fill="hold">
                      <p:stCondLst>
                        <p:cond delay="300"/>
                      </p:stCondLst>
                      <p:childTnLst>
                        <p:par>
                          <p:cTn id="1201" fill="hold">
                            <p:stCondLst>
                              <p:cond delay="0"/>
                            </p:stCondLst>
                            <p:childTnLst>
                              <p:par>
                                <p:cTn id="1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5" fill="hold">
                      <p:stCondLst>
                        <p:cond delay="450"/>
                      </p:stCondLst>
                      <p:childTnLst>
                        <p:par>
                          <p:cTn id="1206" fill="hold">
                            <p:stCondLst>
                              <p:cond delay="0"/>
                            </p:stCondLst>
                            <p:childTnLst>
                              <p:par>
                                <p:cTn id="1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0" fill="hold">
                      <p:stCondLst>
                        <p:cond delay="600"/>
                      </p:stCondLst>
                      <p:childTnLst>
                        <p:par>
                          <p:cTn id="1211" fill="hold">
                            <p:stCondLst>
                              <p:cond delay="0"/>
                            </p:stCondLst>
                            <p:childTnLst>
                              <p:par>
                                <p:cTn id="1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5" fill="hold">
                      <p:stCondLst>
                        <p:cond delay="75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0" fill="hold">
                      <p:stCondLst>
                        <p:cond delay="900"/>
                      </p:stCondLst>
                      <p:childTnLst>
                        <p:par>
                          <p:cTn id="1221" fill="hold">
                            <p:stCondLst>
                              <p:cond delay="0"/>
                            </p:stCondLst>
                            <p:childTnLst>
                              <p:par>
                                <p:cTn id="1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5" fill="hold">
                      <p:stCondLst>
                        <p:cond delay="1050"/>
                      </p:stCondLst>
                      <p:childTnLst>
                        <p:par>
                          <p:cTn id="1226" fill="hold">
                            <p:stCondLst>
                              <p:cond delay="0"/>
                            </p:stCondLst>
                            <p:childTnLst>
                              <p:par>
                                <p:cTn id="1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0" fill="hold">
                      <p:stCondLst>
                        <p:cond delay="1200"/>
                      </p:stCondLst>
                      <p:childTnLst>
                        <p:par>
                          <p:cTn id="1231" fill="hold">
                            <p:stCondLst>
                              <p:cond delay="0"/>
                            </p:stCondLst>
                            <p:childTnLst>
                              <p:par>
                                <p:cTn id="1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5" fill="hold">
                      <p:stCondLst>
                        <p:cond delay="1350"/>
                      </p:stCondLst>
                      <p:childTnLst>
                        <p:par>
                          <p:cTn id="1236" fill="hold">
                            <p:stCondLst>
                              <p:cond delay="0"/>
                            </p:stCondLst>
                            <p:childTnLst>
                              <p:par>
                                <p:cTn id="1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0" fill="hold">
                      <p:stCondLst>
                        <p:cond delay="1500"/>
                      </p:stCondLst>
                      <p:childTnLst>
                        <p:par>
                          <p:cTn id="1241" fill="hold">
                            <p:stCondLst>
                              <p:cond delay="0"/>
                            </p:stCondLst>
                            <p:childTnLst>
                              <p:par>
                                <p:cTn id="1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5" fill="hold">
                      <p:stCondLst>
                        <p:cond delay="1650"/>
                      </p:stCondLst>
                      <p:childTnLst>
                        <p:par>
                          <p:cTn id="1246" fill="hold">
                            <p:stCondLst>
                              <p:cond delay="0"/>
                            </p:stCondLst>
                            <p:childTnLst>
                              <p:par>
                                <p:cTn id="1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0" fill="hold">
                      <p:stCondLst>
                        <p:cond delay="1800"/>
                      </p:stCondLst>
                      <p:childTnLst>
                        <p:par>
                          <p:cTn id="1251" fill="hold">
                            <p:stCondLst>
                              <p:cond delay="0"/>
                            </p:stCondLst>
                            <p:childTnLst>
                              <p:par>
                                <p:cTn id="1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5" fill="hold">
                      <p:stCondLst>
                        <p:cond delay="1950"/>
                      </p:stCondLst>
                      <p:childTnLst>
                        <p:par>
                          <p:cTn id="1256" fill="hold">
                            <p:stCondLst>
                              <p:cond delay="0"/>
                            </p:stCondLst>
                            <p:childTnLst>
                              <p:par>
                                <p:cTn id="1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0" fill="hold">
                      <p:stCondLst>
                        <p:cond delay="2100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5" fill="hold">
                      <p:stCondLst>
                        <p:cond delay="2250"/>
                      </p:stCondLst>
                      <p:childTnLst>
                        <p:par>
                          <p:cTn id="1266" fill="hold">
                            <p:stCondLst>
                              <p:cond delay="0"/>
                            </p:stCondLst>
                            <p:childTnLst>
                              <p:par>
                                <p:cTn id="1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0" fill="hold">
                      <p:stCondLst>
                        <p:cond delay="2400"/>
                      </p:stCondLst>
                      <p:childTnLst>
                        <p:par>
                          <p:cTn id="1271" fill="hold">
                            <p:stCondLst>
                              <p:cond delay="0"/>
                            </p:stCondLst>
                            <p:childTnLst>
                              <p:par>
                                <p:cTn id="1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5" fill="hold">
                      <p:stCondLst>
                        <p:cond delay="2550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0" fill="hold">
                      <p:stCondLst>
                        <p:cond delay="2700"/>
                      </p:stCondLst>
                      <p:childTnLst>
                        <p:par>
                          <p:cTn id="1281" fill="hold">
                            <p:stCondLst>
                              <p:cond delay="0"/>
                            </p:stCondLst>
                            <p:childTnLst>
                              <p:par>
                                <p:cTn id="1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5" fill="hold">
                      <p:stCondLst>
                        <p:cond delay="2850"/>
                      </p:stCondLst>
                      <p:childTnLst>
                        <p:par>
                          <p:cTn id="1286" fill="hold">
                            <p:stCondLst>
                              <p:cond delay="0"/>
                            </p:stCondLst>
                            <p:childTnLst>
                              <p:par>
                                <p:cTn id="1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0" fill="hold">
                      <p:stCondLst>
                        <p:cond delay="3000"/>
                      </p:stCondLst>
                      <p:childTnLst>
                        <p:par>
                          <p:cTn id="1291" fill="hold">
                            <p:stCondLst>
                              <p:cond delay="0"/>
                            </p:stCondLst>
                            <p:childTnLst>
                              <p:par>
                                <p:cTn id="1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5" fill="hold">
                      <p:stCondLst>
                        <p:cond delay="3150"/>
                      </p:stCondLst>
                      <p:childTnLst>
                        <p:par>
                          <p:cTn id="1296" fill="hold">
                            <p:stCondLst>
                              <p:cond delay="0"/>
                            </p:stCondLst>
                            <p:childTnLst>
                              <p:par>
                                <p:cTn id="1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0" fill="hold">
                      <p:stCondLst>
                        <p:cond delay="3300"/>
                      </p:stCondLst>
                      <p:childTnLst>
                        <p:par>
                          <p:cTn id="1301" fill="hold">
                            <p:stCondLst>
                              <p:cond delay="0"/>
                            </p:stCondLst>
                            <p:childTnLst>
                              <p:par>
                                <p:cTn id="1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5" fill="hold">
                      <p:stCondLst>
                        <p:cond delay="345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0" fill="hold">
                      <p:stCondLst>
                        <p:cond delay="3600"/>
                      </p:stCondLst>
                      <p:childTnLst>
                        <p:par>
                          <p:cTn id="1311" fill="hold">
                            <p:stCondLst>
                              <p:cond delay="0"/>
                            </p:stCondLst>
                            <p:childTnLst>
                              <p:par>
                                <p:cTn id="1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5" fill="hold">
                      <p:stCondLst>
                        <p:cond delay="3750"/>
                      </p:stCondLst>
                      <p:childTnLst>
                        <p:par>
                          <p:cTn id="1316" fill="hold">
                            <p:stCondLst>
                              <p:cond delay="0"/>
                            </p:stCondLst>
                            <p:childTnLst>
                              <p:par>
                                <p:cTn id="1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Architecture LSTM Multi-step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86000" cy="50292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51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ENTRÉE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89888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Séquence
24 pas × 49 features
(72h historique)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005840"/>
            <a:ext cx="173736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0515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LSTM(128)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389888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Dropout(0.2)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173736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3317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LSTM(64)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670048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Dropout(0.2)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566160"/>
            <a:ext cx="173736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36118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LSTM(32)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950208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Dropout(0.2)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005840"/>
            <a:ext cx="173736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0515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6ECF0"/>
                </a:solidFill>
              </a:rPr>
              <a:t>Dense(64)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389888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ReLU  Dropout(0.2)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286000"/>
            <a:ext cx="173736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3317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6ECF0"/>
                </a:solidFill>
              </a:rPr>
              <a:t>Dense(32)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670048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ReLU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737360"/>
            <a:ext cx="1737360" cy="1371600"/>
          </a:xfrm>
          <a:prstGeom prst="rect">
            <a:avLst/>
          </a:prstGeom>
          <a:solidFill>
            <a:srgbClr val="1A504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7830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Dense(24)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121408"/>
            <a:ext cx="16459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Sortie linéaire
24 pas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1005840"/>
            <a:ext cx="3108960" cy="50292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1051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PARAMÈTRES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1389888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Optimizer : Adam
lr = 1e-3
Loss : MSELoss
Batch : 32
Max epochs : 100
EarlyStopping : 10
ReduceLROnPlateau :
  factor=0.5, patience=5
Device : CPU/CUDA auto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126480"/>
            <a:ext cx="11887200" cy="4572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172200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</a:rPr>
              <a:t>Standardscaler fit uniquement sur train — séquences : fenêtre glissante 24 pas → prédit 24 pas suivants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19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452" dur="indefinite" restart="whenNotActive" nodeType="tmRoot">
          <p:childTnLst>
            <p:seq concurrent="1" nextAc="seek">
              <p:cTn id="1453" dur="indefinite" nodeType="mainSeq">
                <p:childTnLst>
                  <p:par>
                    <p:cTn id="1322" fill="hold">
                      <p:stCondLst>
                        <p:cond delay="0"/>
                      </p:stCondLst>
                      <p:childTnLst>
                        <p:par>
                          <p:cTn id="1323" fill="hold">
                            <p:stCondLst>
                              <p:cond delay="0"/>
                            </p:stCondLst>
                            <p:childTnLst>
                              <p:par>
                                <p:cTn id="1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7" fill="hold">
                      <p:stCondLst>
                        <p:cond delay="200"/>
                      </p:stCondLst>
                      <p:childTnLst>
                        <p:par>
                          <p:cTn id="1328" fill="hold">
                            <p:stCondLst>
                              <p:cond delay="0"/>
                            </p:stCondLst>
                            <p:childTnLst>
                              <p:par>
                                <p:cTn id="1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2" fill="hold">
                      <p:stCondLst>
                        <p:cond delay="400"/>
                      </p:stCondLst>
                      <p:childTnLst>
                        <p:par>
                          <p:cTn id="1333" fill="hold">
                            <p:stCondLst>
                              <p:cond delay="0"/>
                            </p:stCondLst>
                            <p:childTnLst>
                              <p:par>
                                <p:cTn id="1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7" fill="hold">
                      <p:stCondLst>
                        <p:cond delay="600"/>
                      </p:stCondLst>
                      <p:childTnLst>
                        <p:par>
                          <p:cTn id="1338" fill="hold">
                            <p:stCondLst>
                              <p:cond delay="0"/>
                            </p:stCondLst>
                            <p:childTnLst>
                              <p:par>
                                <p:cTn id="1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2" fill="hold">
                      <p:stCondLst>
                        <p:cond delay="800"/>
                      </p:stCondLst>
                      <p:childTnLst>
                        <p:par>
                          <p:cTn id="1343" fill="hold">
                            <p:stCondLst>
                              <p:cond delay="0"/>
                            </p:stCondLst>
                            <p:childTnLst>
                              <p:par>
                                <p:cTn id="1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7" fill="hold">
                      <p:stCondLst>
                        <p:cond delay="100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2" fill="hold">
                      <p:stCondLst>
                        <p:cond delay="1200"/>
                      </p:stCondLst>
                      <p:childTnLst>
                        <p:par>
                          <p:cTn id="1353" fill="hold">
                            <p:stCondLst>
                              <p:cond delay="0"/>
                            </p:stCondLst>
                            <p:childTnLst>
                              <p:par>
                                <p:cTn id="1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7" fill="hold">
                      <p:stCondLst>
                        <p:cond delay="1400"/>
                      </p:stCondLst>
                      <p:childTnLst>
                        <p:par>
                          <p:cTn id="1358" fill="hold">
                            <p:stCondLst>
                              <p:cond delay="0"/>
                            </p:stCondLst>
                            <p:childTnLst>
                              <p:par>
                                <p:cTn id="1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2" fill="hold">
                      <p:stCondLst>
                        <p:cond delay="1600"/>
                      </p:stCondLst>
                      <p:childTnLst>
                        <p:par>
                          <p:cTn id="1363" fill="hold">
                            <p:stCondLst>
                              <p:cond delay="0"/>
                            </p:stCondLst>
                            <p:childTnLst>
                              <p:par>
                                <p:cTn id="13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7" fill="hold">
                      <p:stCondLst>
                        <p:cond delay="1800"/>
                      </p:stCondLst>
                      <p:childTnLst>
                        <p:par>
                          <p:cTn id="1368" fill="hold">
                            <p:stCondLst>
                              <p:cond delay="0"/>
                            </p:stCondLst>
                            <p:childTnLst>
                              <p:par>
                                <p:cTn id="13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2" fill="hold">
                      <p:stCondLst>
                        <p:cond delay="2000"/>
                      </p:stCondLst>
                      <p:childTnLst>
                        <p:par>
                          <p:cTn id="1373" fill="hold">
                            <p:stCondLst>
                              <p:cond delay="0"/>
                            </p:stCondLst>
                            <p:childTnLst>
                              <p:par>
                                <p:cTn id="1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7" fill="hold">
                      <p:stCondLst>
                        <p:cond delay="2200"/>
                      </p:stCondLst>
                      <p:childTnLst>
                        <p:par>
                          <p:cTn id="1378" fill="hold">
                            <p:stCondLst>
                              <p:cond delay="0"/>
                            </p:stCondLst>
                            <p:childTnLst>
                              <p:par>
                                <p:cTn id="13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2" fill="hold">
                      <p:stCondLst>
                        <p:cond delay="2400"/>
                      </p:stCondLst>
                      <p:childTnLst>
                        <p:par>
                          <p:cTn id="1383" fill="hold">
                            <p:stCondLst>
                              <p:cond delay="0"/>
                            </p:stCondLst>
                            <p:childTnLst>
                              <p:par>
                                <p:cTn id="13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7" fill="hold">
                      <p:stCondLst>
                        <p:cond delay="2600"/>
                      </p:stCondLst>
                      <p:childTnLst>
                        <p:par>
                          <p:cTn id="1388" fill="hold">
                            <p:stCondLst>
                              <p:cond delay="0"/>
                            </p:stCondLst>
                            <p:childTnLst>
                              <p:par>
                                <p:cTn id="1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2" fill="hold">
                      <p:stCondLst>
                        <p:cond delay="2800"/>
                      </p:stCondLst>
                      <p:childTnLst>
                        <p:par>
                          <p:cTn id="1393" fill="hold">
                            <p:stCondLst>
                              <p:cond delay="0"/>
                            </p:stCondLst>
                            <p:childTnLst>
                              <p:par>
                                <p:cTn id="13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5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7" fill="hold">
                      <p:stCondLst>
                        <p:cond delay="3000"/>
                      </p:stCondLst>
                      <p:childTnLst>
                        <p:par>
                          <p:cTn id="1398" fill="hold">
                            <p:stCondLst>
                              <p:cond delay="0"/>
                            </p:stCondLst>
                            <p:childTnLst>
                              <p:par>
                                <p:cTn id="1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2" fill="hold">
                      <p:stCondLst>
                        <p:cond delay="3200"/>
                      </p:stCondLst>
                      <p:childTnLst>
                        <p:par>
                          <p:cTn id="1403" fill="hold">
                            <p:stCondLst>
                              <p:cond delay="0"/>
                            </p:stCondLst>
                            <p:childTnLst>
                              <p:par>
                                <p:cTn id="14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7" fill="hold">
                      <p:stCondLst>
                        <p:cond delay="340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2" fill="hold">
                      <p:stCondLst>
                        <p:cond delay="3600"/>
                      </p:stCondLst>
                      <p:childTnLst>
                        <p:par>
                          <p:cTn id="1413" fill="hold">
                            <p:stCondLst>
                              <p:cond delay="0"/>
                            </p:stCondLst>
                            <p:childTnLst>
                              <p:par>
                                <p:cTn id="14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7" fill="hold">
                      <p:stCondLst>
                        <p:cond delay="3800"/>
                      </p:stCondLst>
                      <p:childTnLst>
                        <p:par>
                          <p:cTn id="1418" fill="hold">
                            <p:stCondLst>
                              <p:cond delay="0"/>
                            </p:stCondLst>
                            <p:childTnLst>
                              <p:par>
                                <p:cTn id="1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2" fill="hold">
                      <p:stCondLst>
                        <p:cond delay="4000"/>
                      </p:stCondLst>
                      <p:childTnLst>
                        <p:par>
                          <p:cTn id="1423" fill="hold">
                            <p:stCondLst>
                              <p:cond delay="0"/>
                            </p:stCondLst>
                            <p:childTnLst>
                              <p:par>
                                <p:cTn id="14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7" fill="hold">
                      <p:stCondLst>
                        <p:cond delay="4200"/>
                      </p:stCondLst>
                      <p:childTnLst>
                        <p:par>
                          <p:cTn id="1428" fill="hold">
                            <p:stCondLst>
                              <p:cond delay="0"/>
                            </p:stCondLst>
                            <p:childTnLst>
                              <p:par>
                                <p:cTn id="14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2" fill="hold">
                      <p:stCondLst>
                        <p:cond delay="4400"/>
                      </p:stCondLst>
                      <p:childTnLst>
                        <p:par>
                          <p:cTn id="1433" fill="hold">
                            <p:stCondLst>
                              <p:cond delay="0"/>
                            </p:stCondLst>
                            <p:childTnLst>
                              <p:par>
                                <p:cTn id="14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5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7" fill="hold">
                      <p:stCondLst>
                        <p:cond delay="4600"/>
                      </p:stCondLst>
                      <p:childTnLst>
                        <p:par>
                          <p:cTn id="1438" fill="hold">
                            <p:stCondLst>
                              <p:cond delay="0"/>
                            </p:stCondLst>
                            <p:childTnLst>
                              <p:par>
                                <p:cTn id="14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2" fill="hold">
                      <p:stCondLst>
                        <p:cond delay="4800"/>
                      </p:stCondLst>
                      <p:childTnLst>
                        <p:par>
                          <p:cTn id="1443" fill="hold">
                            <p:stCondLst>
                              <p:cond delay="0"/>
                            </p:stCondLst>
                            <p:childTnLst>
                              <p:par>
                                <p:cTn id="14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7" fill="hold">
                      <p:stCondLst>
                        <p:cond delay="5000"/>
                      </p:stCondLst>
                      <p:childTnLst>
                        <p:par>
                          <p:cTn id="1448" fill="hold">
                            <p:stCondLst>
                              <p:cond delay="0"/>
                            </p:stCondLst>
                            <p:childTnLst>
                              <p:par>
                                <p:cTn id="1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Résultats — MAE par horizon (jeu de test)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6012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Horizon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Prophet</a:t>
                      </a:r>
                    </a:p>
                    <a:p>
                      <a:r>
                        <a:t>(baseline stat.)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LSTM ★</a:t>
                      </a:r>
                    </a:p>
                    <a:p>
                      <a:r>
                        <a:t>(modèle prod.)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TFT</a:t>
                      </a:r>
                    </a:p>
                    <a:p>
                      <a:r>
                        <a:t>(exploratoire q50)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+3h  (pas 1)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1.3770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0.0434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1.9465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+24h (J+1)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1.4100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0.0506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3.4261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+48h (J+2)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1.4137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0.0537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0.4167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+72h (J+3)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1.4200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0.0503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1.0303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9A84C"/>
                          </a:solidFill>
                        </a:rPr>
                        <a:t>Moyenne ★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1.4107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1.5763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9A84C"/>
                </a:solidFill>
              </a:rPr>
              <a:t>★ LSTM : MAE ~27× inférieur à Prophet et TFT — Feature engineering = clé du succès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Pourquoi LSTM &gt; TFT ici ?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LSTM avec 49 features ingéniérées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Lags explicites + rolling stats → l'information est DIRECTEMENT accessible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938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Moins de capacité requise pour découvrir les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5000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6829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Entraînement 4 min (CPU) — convergence rapide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35224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352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TFT — Temporal Fusion Transformer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Conçu pour découvrir les patterns AUTOMATIQUEMENT (lags, saisonnalité)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5876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87705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Nécessite plus de données et d'epochs pour rivaliser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79392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297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Avantages uniques : intervalles de confiance q10-q90 + interprétabilité (VSN)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64608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8646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Avantage unique du TFT en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6752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3858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Variable Selection Networks : quelles features comptent le plus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88152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806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Attention temporelle : quels instants passés influencent la prévision 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208776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2270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Utilisé pour l'analyse et l'interprétabilité, LSTM pour la précision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793992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79399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Prophet — Rôle de 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7296912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7315199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Rapide à entraîner (30s), aucun GPU requis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7717536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7735823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Donne une borne inférieure de performance mesurable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21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604" dur="indefinite" restart="whenNotActive" nodeType="tmRoot">
          <p:childTnLst>
            <p:seq concurrent="1" nextAc="seek">
              <p:cTn id="1605" dur="indefinite" nodeType="mainSeq">
                <p:childTnLst>
                  <p:par>
                    <p:cTn id="1454" fill="hold">
                      <p:stCondLst>
                        <p:cond delay="0"/>
                      </p:stCondLst>
                      <p:childTnLst>
                        <p:par>
                          <p:cTn id="1455" fill="hold">
                            <p:stCondLst>
                              <p:cond delay="0"/>
                            </p:stCondLst>
                            <p:childTnLst>
                              <p:par>
                                <p:cTn id="14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9" fill="hold">
                      <p:stCondLst>
                        <p:cond delay="150"/>
                      </p:stCondLst>
                      <p:childTnLst>
                        <p:par>
                          <p:cTn id="1460" fill="hold">
                            <p:stCondLst>
                              <p:cond delay="0"/>
                            </p:stCondLst>
                            <p:childTnLst>
                              <p:par>
                                <p:cTn id="1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4" fill="hold">
                      <p:stCondLst>
                        <p:cond delay="300"/>
                      </p:stCondLst>
                      <p:childTnLst>
                        <p:par>
                          <p:cTn id="1465" fill="hold">
                            <p:stCondLst>
                              <p:cond delay="0"/>
                            </p:stCondLst>
                            <p:childTnLst>
                              <p:par>
                                <p:cTn id="14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9" fill="hold">
                      <p:stCondLst>
                        <p:cond delay="450"/>
                      </p:stCondLst>
                      <p:childTnLst>
                        <p:par>
                          <p:cTn id="1470" fill="hold">
                            <p:stCondLst>
                              <p:cond delay="0"/>
                            </p:stCondLst>
                            <p:childTnLst>
                              <p:par>
                                <p:cTn id="14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4" fill="hold">
                      <p:stCondLst>
                        <p:cond delay="600"/>
                      </p:stCondLst>
                      <p:childTnLst>
                        <p:par>
                          <p:cTn id="1475" fill="hold">
                            <p:stCondLst>
                              <p:cond delay="0"/>
                            </p:stCondLst>
                            <p:childTnLst>
                              <p:par>
                                <p:cTn id="14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9" fill="hold">
                      <p:stCondLst>
                        <p:cond delay="75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4" fill="hold">
                      <p:stCondLst>
                        <p:cond delay="900"/>
                      </p:stCondLst>
                      <p:childTnLst>
                        <p:par>
                          <p:cTn id="1485" fill="hold">
                            <p:stCondLst>
                              <p:cond delay="0"/>
                            </p:stCondLst>
                            <p:childTnLst>
                              <p:par>
                                <p:cTn id="14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9" fill="hold">
                      <p:stCondLst>
                        <p:cond delay="1050"/>
                      </p:stCondLst>
                      <p:childTnLst>
                        <p:par>
                          <p:cTn id="1490" fill="hold">
                            <p:stCondLst>
                              <p:cond delay="0"/>
                            </p:stCondLst>
                            <p:childTnLst>
                              <p:par>
                                <p:cTn id="1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4" fill="hold">
                      <p:stCondLst>
                        <p:cond delay="1200"/>
                      </p:stCondLst>
                      <p:childTnLst>
                        <p:par>
                          <p:cTn id="1495" fill="hold">
                            <p:stCondLst>
                              <p:cond delay="0"/>
                            </p:stCondLst>
                            <p:childTnLst>
                              <p:par>
                                <p:cTn id="14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9" fill="hold">
                      <p:stCondLst>
                        <p:cond delay="1350"/>
                      </p:stCondLst>
                      <p:childTnLst>
                        <p:par>
                          <p:cTn id="1500" fill="hold">
                            <p:stCondLst>
                              <p:cond delay="0"/>
                            </p:stCondLst>
                            <p:childTnLst>
                              <p:par>
                                <p:cTn id="15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4" fill="hold">
                      <p:stCondLst>
                        <p:cond delay="1500"/>
                      </p:stCondLst>
                      <p:childTnLst>
                        <p:par>
                          <p:cTn id="1505" fill="hold">
                            <p:stCondLst>
                              <p:cond delay="0"/>
                            </p:stCondLst>
                            <p:childTnLst>
                              <p:par>
                                <p:cTn id="1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9" fill="hold">
                      <p:stCondLst>
                        <p:cond delay="1650"/>
                      </p:stCondLst>
                      <p:childTnLst>
                        <p:par>
                          <p:cTn id="1510" fill="hold">
                            <p:stCondLst>
                              <p:cond delay="0"/>
                            </p:stCondLst>
                            <p:childTnLst>
                              <p:par>
                                <p:cTn id="15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4" fill="hold">
                      <p:stCondLst>
                        <p:cond delay="1800"/>
                      </p:stCondLst>
                      <p:childTnLst>
                        <p:par>
                          <p:cTn id="1515" fill="hold">
                            <p:stCondLst>
                              <p:cond delay="0"/>
                            </p:stCondLst>
                            <p:childTnLst>
                              <p:par>
                                <p:cTn id="15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9" fill="hold">
                      <p:stCondLst>
                        <p:cond delay="1950"/>
                      </p:stCondLst>
                      <p:childTnLst>
                        <p:par>
                          <p:cTn id="1520" fill="hold">
                            <p:stCondLst>
                              <p:cond delay="0"/>
                            </p:stCondLst>
                            <p:childTnLst>
                              <p:par>
                                <p:cTn id="15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4" fill="hold">
                      <p:stCondLst>
                        <p:cond delay="2100"/>
                      </p:stCondLst>
                      <p:childTnLst>
                        <p:par>
                          <p:cTn id="1525" fill="hold">
                            <p:stCondLst>
                              <p:cond delay="0"/>
                            </p:stCondLst>
                            <p:childTnLst>
                              <p:par>
                                <p:cTn id="15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9" fill="hold">
                      <p:stCondLst>
                        <p:cond delay="2250"/>
                      </p:stCondLst>
                      <p:childTnLst>
                        <p:par>
                          <p:cTn id="1530" fill="hold">
                            <p:stCondLst>
                              <p:cond delay="0"/>
                            </p:stCondLst>
                            <p:childTnLst>
                              <p:par>
                                <p:cTn id="15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4" fill="hold">
                      <p:stCondLst>
                        <p:cond delay="2400"/>
                      </p:stCondLst>
                      <p:childTnLst>
                        <p:par>
                          <p:cTn id="1535" fill="hold">
                            <p:stCondLst>
                              <p:cond delay="0"/>
                            </p:stCondLst>
                            <p:childTnLst>
                              <p:par>
                                <p:cTn id="15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9" fill="hold">
                      <p:stCondLst>
                        <p:cond delay="2550"/>
                      </p:stCondLst>
                      <p:childTnLst>
                        <p:par>
                          <p:cTn id="1540" fill="hold">
                            <p:stCondLst>
                              <p:cond delay="0"/>
                            </p:stCondLst>
                            <p:childTnLst>
                              <p:par>
                                <p:cTn id="15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4" fill="hold">
                      <p:stCondLst>
                        <p:cond delay="2700"/>
                      </p:stCondLst>
                      <p:childTnLst>
                        <p:par>
                          <p:cTn id="1545" fill="hold">
                            <p:stCondLst>
                              <p:cond delay="0"/>
                            </p:stCondLst>
                            <p:childTnLst>
                              <p:par>
                                <p:cTn id="15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9" fill="hold">
                      <p:stCondLst>
                        <p:cond delay="2850"/>
                      </p:stCondLst>
                      <p:childTnLst>
                        <p:par>
                          <p:cTn id="1550" fill="hold">
                            <p:stCondLst>
                              <p:cond delay="0"/>
                            </p:stCondLst>
                            <p:childTnLst>
                              <p:par>
                                <p:cTn id="15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4" fill="hold">
                      <p:stCondLst>
                        <p:cond delay="3000"/>
                      </p:stCondLst>
                      <p:childTnLst>
                        <p:par>
                          <p:cTn id="1555" fill="hold">
                            <p:stCondLst>
                              <p:cond delay="0"/>
                            </p:stCondLst>
                            <p:childTnLst>
                              <p:par>
                                <p:cTn id="15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9" fill="hold">
                      <p:stCondLst>
                        <p:cond delay="3150"/>
                      </p:stCondLst>
                      <p:childTnLst>
                        <p:par>
                          <p:cTn id="1560" fill="hold">
                            <p:stCondLst>
                              <p:cond delay="0"/>
                            </p:stCondLst>
                            <p:childTnLst>
                              <p:par>
                                <p:cTn id="15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4" fill="hold">
                      <p:stCondLst>
                        <p:cond delay="3300"/>
                      </p:stCondLst>
                      <p:childTnLst>
                        <p:par>
                          <p:cTn id="1565" fill="hold">
                            <p:stCondLst>
                              <p:cond delay="0"/>
                            </p:stCondLst>
                            <p:childTnLst>
                              <p:par>
                                <p:cTn id="15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9" fill="hold">
                      <p:stCondLst>
                        <p:cond delay="3450"/>
                      </p:stCondLst>
                      <p:childTnLst>
                        <p:par>
                          <p:cTn id="1570" fill="hold">
                            <p:stCondLst>
                              <p:cond delay="0"/>
                            </p:stCondLst>
                            <p:childTnLst>
                              <p:par>
                                <p:cTn id="15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4" fill="hold">
                      <p:stCondLst>
                        <p:cond delay="3600"/>
                      </p:stCondLst>
                      <p:childTnLst>
                        <p:par>
                          <p:cTn id="1575" fill="hold">
                            <p:stCondLst>
                              <p:cond delay="0"/>
                            </p:stCondLst>
                            <p:childTnLst>
                              <p:par>
                                <p:cTn id="15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9" fill="hold">
                      <p:stCondLst>
                        <p:cond delay="3750"/>
                      </p:stCondLst>
                      <p:childTnLst>
                        <p:par>
                          <p:cTn id="1580" fill="hold">
                            <p:stCondLst>
                              <p:cond delay="0"/>
                            </p:stCondLst>
                            <p:childTnLst>
                              <p:par>
                                <p:cTn id="15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4" fill="hold">
                      <p:stCondLst>
                        <p:cond delay="3900"/>
                      </p:stCondLst>
                      <p:childTnLst>
                        <p:par>
                          <p:cTn id="1585" fill="hold">
                            <p:stCondLst>
                              <p:cond delay="0"/>
                            </p:stCondLst>
                            <p:childTnLst>
                              <p:par>
                                <p:cTn id="15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7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8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9" fill="hold">
                      <p:stCondLst>
                        <p:cond delay="4050"/>
                      </p:stCondLst>
                      <p:childTnLst>
                        <p:par>
                          <p:cTn id="1590" fill="hold">
                            <p:stCondLst>
                              <p:cond delay="0"/>
                            </p:stCondLst>
                            <p:childTnLst>
                              <p:par>
                                <p:cTn id="15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3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4" fill="hold">
                      <p:stCondLst>
                        <p:cond delay="4200"/>
                      </p:stCondLst>
                      <p:childTnLst>
                        <p:par>
                          <p:cTn id="1595" fill="hold">
                            <p:stCondLst>
                              <p:cond delay="0"/>
                            </p:stCondLst>
                            <p:childTnLst>
                              <p:par>
                                <p:cTn id="15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7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9" fill="hold">
                      <p:stCondLst>
                        <p:cond delay="4350"/>
                      </p:stCondLst>
                      <p:childTnLst>
                        <p:par>
                          <p:cTn id="1600" fill="hold">
                            <p:stCondLst>
                              <p:cond delay="0"/>
                            </p:stCondLst>
                            <p:childTnLst>
                              <p:par>
                                <p:cTn id="16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2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  <p:bldP spid="33" grpId="26"/>
      <p:bldP spid="34" grpId="27"/>
      <p:bldP spid="35" grpId="28"/>
      <p:bldP spid="36" grpId="29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Monitoring — Prédictions LSTM vs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port_2026-03-25_2026-03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CF0"/>
                </a:solidFill>
              </a:rPr>
              <a:t>Comparaison automatique prédictions vs températures observées — MAE calculé par src/monitoring/report.py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22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616" dur="indefinite" restart="whenNotActive" nodeType="tmRoot">
          <p:childTnLst>
            <p:seq concurrent="1" nextAc="seek">
              <p:cTn id="1617" dur="indefinite" nodeType="mainSeq">
                <p:childTnLst>
                  <p:par>
                    <p:cTn id="1606" fill="hold">
                      <p:stCondLst>
                        <p:cond delay="0"/>
                      </p:stCondLst>
                      <p:childTnLst>
                        <p:par>
                          <p:cTn id="1607" fill="hold">
                            <p:stCondLst>
                              <p:cond delay="0"/>
                            </p:stCondLst>
                            <p:childTnLst>
                              <p:par>
                                <p:cTn id="16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1" fill="hold">
                      <p:stCondLst>
                        <p:cond delay="200"/>
                      </p:stCondLst>
                      <p:childTnLst>
                        <p:par>
                          <p:cTn id="1612" fill="hold">
                            <p:stCondLst>
                              <p:cond delay="0"/>
                            </p:stCondLst>
                            <p:childTnLst>
                              <p:par>
                                <p:cTn id="16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solidFill>
            <a:srgbClr val="2A5A6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4C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MLOps / DevOps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6180" y="3858768"/>
            <a:ext cx="47091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CF0"/>
                </a:solidFill>
              </a:rPr>
              <a:t>Architecture • API • CI/CD • Docker • Tests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628" dur="indefinite" restart="whenNotActive" nodeType="tmRoot">
          <p:childTnLst>
            <p:seq concurrent="1" nextAc="seek">
              <p:cTn id="1629" dur="indefinite" nodeType="mainSeq">
                <p:childTnLst>
                  <p:par>
                    <p:cTn id="1618" fill="hold">
                      <p:stCondLst>
                        <p:cond delay="0"/>
                      </p:stCondLst>
                      <p:childTnLst>
                        <p:par>
                          <p:cTn id="1619" fill="hold">
                            <p:stCondLst>
                              <p:cond delay="0"/>
                            </p:stCondLst>
                            <p:childTnLst>
                              <p:par>
                                <p:cTn id="1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3" fill="hold">
                      <p:stCondLst>
                        <p:cond delay="200"/>
                      </p:stCondLst>
                      <p:childTnLst>
                        <p:par>
                          <p:cTn id="1624" fill="hold">
                            <p:stCondLst>
                              <p:cond delay="0"/>
                            </p:stCondLst>
                            <p:childTnLst>
                              <p:par>
                                <p:cTn id="16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4" grpId="0"/>
      <p:bldP spid="5" grpId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Architecture de l'Application — Flux de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05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Open-Meteo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441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Température 2m
Côte d'Ivoire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9601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005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fetch_data.py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13441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Agrégation 3h
resample().mean()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9601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005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weather.db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3441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SQLite
weather_data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3317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3774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train.py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7157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LSTM PyTorch
49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3317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3774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MLflow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7157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params + métriques
+ artefacts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9601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005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model/registry/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3441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lstm_model.pth
scaler.pkl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3317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3774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predict.py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39" y="27157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Batch inference
24 pas (72h)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3317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23774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predictions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27157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model_id, date
horizon, predicted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703320"/>
            <a:ext cx="5303520" cy="1097280"/>
          </a:xfrm>
          <a:prstGeom prst="rect">
            <a:avLst/>
          </a:prstGeom>
          <a:solidFill>
            <a:srgbClr val="1A50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374903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FastAPI — api/main.py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408736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GET /predictions  |  GET /predictions/combined
GET /version  |  GET /health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7033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7490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report.py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40873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MAE prédictions
vs réel → PNG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3703320"/>
            <a:ext cx="2560320" cy="109728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37490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monitoring/output/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087368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Graphiques
de suivi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24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795" dur="indefinite" restart="whenNotActive" nodeType="tmRoot">
          <p:childTnLst>
            <p:seq concurrent="1" nextAc="seek">
              <p:cTn id="1796" dur="indefinite" nodeType="mainSeq">
                <p:childTnLst>
                  <p:par>
                    <p:cTn id="1630" fill="hold">
                      <p:stCondLst>
                        <p:cond delay="0"/>
                      </p:stCondLst>
                      <p:childTnLst>
                        <p:par>
                          <p:cTn id="1631" fill="hold">
                            <p:stCondLst>
                              <p:cond delay="0"/>
                            </p:stCondLst>
                            <p:childTnLst>
                              <p:par>
                                <p:cTn id="16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5" fill="hold">
                      <p:stCondLst>
                        <p:cond delay="200"/>
                      </p:stCondLst>
                      <p:childTnLst>
                        <p:par>
                          <p:cTn id="1636" fill="hold">
                            <p:stCondLst>
                              <p:cond delay="0"/>
                            </p:stCondLst>
                            <p:childTnLst>
                              <p:par>
                                <p:cTn id="16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0" fill="hold">
                      <p:stCondLst>
                        <p:cond delay="400"/>
                      </p:stCondLst>
                      <p:childTnLst>
                        <p:par>
                          <p:cTn id="1641" fill="hold">
                            <p:stCondLst>
                              <p:cond delay="0"/>
                            </p:stCondLst>
                            <p:childTnLst>
                              <p:par>
                                <p:cTn id="16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5" fill="hold">
                      <p:stCondLst>
                        <p:cond delay="600"/>
                      </p:stCondLst>
                      <p:childTnLst>
                        <p:par>
                          <p:cTn id="1646" fill="hold">
                            <p:stCondLst>
                              <p:cond delay="0"/>
                            </p:stCondLst>
                            <p:childTnLst>
                              <p:par>
                                <p:cTn id="16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0" fill="hold">
                      <p:stCondLst>
                        <p:cond delay="800"/>
                      </p:stCondLst>
                      <p:childTnLst>
                        <p:par>
                          <p:cTn id="1651" fill="hold">
                            <p:stCondLst>
                              <p:cond delay="0"/>
                            </p:stCondLst>
                            <p:childTnLst>
                              <p:par>
                                <p:cTn id="16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5" fill="hold">
                      <p:stCondLst>
                        <p:cond delay="1000"/>
                      </p:stCondLst>
                      <p:childTnLst>
                        <p:par>
                          <p:cTn id="1656" fill="hold">
                            <p:stCondLst>
                              <p:cond delay="0"/>
                            </p:stCondLst>
                            <p:childTnLst>
                              <p:par>
                                <p:cTn id="16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0" fill="hold">
                      <p:stCondLst>
                        <p:cond delay="1200"/>
                      </p:stCondLst>
                      <p:childTnLst>
                        <p:par>
                          <p:cTn id="1661" fill="hold">
                            <p:stCondLst>
                              <p:cond delay="0"/>
                            </p:stCondLst>
                            <p:childTnLst>
                              <p:par>
                                <p:cTn id="16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5" fill="hold">
                      <p:stCondLst>
                        <p:cond delay="1400"/>
                      </p:stCondLst>
                      <p:childTnLst>
                        <p:par>
                          <p:cTn id="1666" fill="hold">
                            <p:stCondLst>
                              <p:cond delay="0"/>
                            </p:stCondLst>
                            <p:childTnLst>
                              <p:par>
                                <p:cTn id="16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0" fill="hold">
                      <p:stCondLst>
                        <p:cond delay="1600"/>
                      </p:stCondLst>
                      <p:childTnLst>
                        <p:par>
                          <p:cTn id="1671" fill="hold">
                            <p:stCondLst>
                              <p:cond delay="0"/>
                            </p:stCondLst>
                            <p:childTnLst>
                              <p:par>
                                <p:cTn id="16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5" fill="hold">
                      <p:stCondLst>
                        <p:cond delay="1800"/>
                      </p:stCondLst>
                      <p:childTnLst>
                        <p:par>
                          <p:cTn id="1676" fill="hold">
                            <p:stCondLst>
                              <p:cond delay="0"/>
                            </p:stCondLst>
                            <p:childTnLst>
                              <p:par>
                                <p:cTn id="16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0" fill="hold">
                      <p:stCondLst>
                        <p:cond delay="2000"/>
                      </p:stCondLst>
                      <p:childTnLst>
                        <p:par>
                          <p:cTn id="1681" fill="hold">
                            <p:stCondLst>
                              <p:cond delay="0"/>
                            </p:stCondLst>
                            <p:childTnLst>
                              <p:par>
                                <p:cTn id="16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5" fill="hold">
                      <p:stCondLst>
                        <p:cond delay="2200"/>
                      </p:stCondLst>
                      <p:childTnLst>
                        <p:par>
                          <p:cTn id="1686" fill="hold">
                            <p:stCondLst>
                              <p:cond delay="0"/>
                            </p:stCondLst>
                            <p:childTnLst>
                              <p:par>
                                <p:cTn id="16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0" fill="hold">
                      <p:stCondLst>
                        <p:cond delay="2400"/>
                      </p:stCondLst>
                      <p:childTnLst>
                        <p:par>
                          <p:cTn id="1691" fill="hold">
                            <p:stCondLst>
                              <p:cond delay="0"/>
                            </p:stCondLst>
                            <p:childTnLst>
                              <p:par>
                                <p:cTn id="16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5" fill="hold">
                      <p:stCondLst>
                        <p:cond delay="2600"/>
                      </p:stCondLst>
                      <p:childTnLst>
                        <p:par>
                          <p:cTn id="1696" fill="hold">
                            <p:stCondLst>
                              <p:cond delay="0"/>
                            </p:stCondLst>
                            <p:childTnLst>
                              <p:par>
                                <p:cTn id="16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0" fill="hold">
                      <p:stCondLst>
                        <p:cond delay="2800"/>
                      </p:stCondLst>
                      <p:childTnLst>
                        <p:par>
                          <p:cTn id="1701" fill="hold">
                            <p:stCondLst>
                              <p:cond delay="0"/>
                            </p:stCondLst>
                            <p:childTnLst>
                              <p:par>
                                <p:cTn id="17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5" fill="hold">
                      <p:stCondLst>
                        <p:cond delay="3000"/>
                      </p:stCondLst>
                      <p:childTnLst>
                        <p:par>
                          <p:cTn id="1706" fill="hold">
                            <p:stCondLst>
                              <p:cond delay="0"/>
                            </p:stCondLst>
                            <p:childTnLst>
                              <p:par>
                                <p:cTn id="17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0" fill="hold">
                      <p:stCondLst>
                        <p:cond delay="3200"/>
                      </p:stCondLst>
                      <p:childTnLst>
                        <p:par>
                          <p:cTn id="1711" fill="hold">
                            <p:stCondLst>
                              <p:cond delay="0"/>
                            </p:stCondLst>
                            <p:childTnLst>
                              <p:par>
                                <p:cTn id="17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5" fill="hold">
                      <p:stCondLst>
                        <p:cond delay="3400"/>
                      </p:stCondLst>
                      <p:childTnLst>
                        <p:par>
                          <p:cTn id="1716" fill="hold">
                            <p:stCondLst>
                              <p:cond delay="0"/>
                            </p:stCondLst>
                            <p:childTnLst>
                              <p:par>
                                <p:cTn id="17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0" fill="hold">
                      <p:stCondLst>
                        <p:cond delay="3600"/>
                      </p:stCondLst>
                      <p:childTnLst>
                        <p:par>
                          <p:cTn id="1721" fill="hold">
                            <p:stCondLst>
                              <p:cond delay="0"/>
                            </p:stCondLst>
                            <p:childTnLst>
                              <p:par>
                                <p:cTn id="17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5" fill="hold">
                      <p:stCondLst>
                        <p:cond delay="3800"/>
                      </p:stCondLst>
                      <p:childTnLst>
                        <p:par>
                          <p:cTn id="1726" fill="hold">
                            <p:stCondLst>
                              <p:cond delay="0"/>
                            </p:stCondLst>
                            <p:childTnLst>
                              <p:par>
                                <p:cTn id="17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0" fill="hold">
                      <p:stCondLst>
                        <p:cond delay="4000"/>
                      </p:stCondLst>
                      <p:childTnLst>
                        <p:par>
                          <p:cTn id="1731" fill="hold">
                            <p:stCondLst>
                              <p:cond delay="0"/>
                            </p:stCondLst>
                            <p:childTnLst>
                              <p:par>
                                <p:cTn id="17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5" fill="hold">
                      <p:stCondLst>
                        <p:cond delay="4200"/>
                      </p:stCondLst>
                      <p:childTnLst>
                        <p:par>
                          <p:cTn id="1736" fill="hold">
                            <p:stCondLst>
                              <p:cond delay="0"/>
                            </p:stCondLst>
                            <p:childTnLst>
                              <p:par>
                                <p:cTn id="17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0" fill="hold">
                      <p:stCondLst>
                        <p:cond delay="4400"/>
                      </p:stCondLst>
                      <p:childTnLst>
                        <p:par>
                          <p:cTn id="1741" fill="hold">
                            <p:stCondLst>
                              <p:cond delay="0"/>
                            </p:stCondLst>
                            <p:childTnLst>
                              <p:par>
                                <p:cTn id="17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5" fill="hold">
                      <p:stCondLst>
                        <p:cond delay="4600"/>
                      </p:stCondLst>
                      <p:childTnLst>
                        <p:par>
                          <p:cTn id="1746" fill="hold">
                            <p:stCondLst>
                              <p:cond delay="0"/>
                            </p:stCondLst>
                            <p:childTnLst>
                              <p:par>
                                <p:cTn id="17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0" fill="hold">
                      <p:stCondLst>
                        <p:cond delay="4800"/>
                      </p:stCondLst>
                      <p:childTnLst>
                        <p:par>
                          <p:cTn id="1751" fill="hold">
                            <p:stCondLst>
                              <p:cond delay="0"/>
                            </p:stCondLst>
                            <p:childTnLst>
                              <p:par>
                                <p:cTn id="17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5" fill="hold">
                      <p:stCondLst>
                        <p:cond delay="500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0" fill="hold">
                      <p:stCondLst>
                        <p:cond delay="5200"/>
                      </p:stCondLst>
                      <p:childTnLst>
                        <p:par>
                          <p:cTn id="1761" fill="hold">
                            <p:stCondLst>
                              <p:cond delay="0"/>
                            </p:stCondLst>
                            <p:childTnLst>
                              <p:par>
                                <p:cTn id="17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3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5" fill="hold">
                      <p:stCondLst>
                        <p:cond delay="5400"/>
                      </p:stCondLst>
                      <p:childTnLst>
                        <p:par>
                          <p:cTn id="1766" fill="hold">
                            <p:stCondLst>
                              <p:cond delay="0"/>
                            </p:stCondLst>
                            <p:childTnLst>
                              <p:par>
                                <p:cTn id="17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0" fill="hold">
                      <p:stCondLst>
                        <p:cond delay="5600"/>
                      </p:stCondLst>
                      <p:childTnLst>
                        <p:par>
                          <p:cTn id="1771" fill="hold">
                            <p:stCondLst>
                              <p:cond delay="0"/>
                            </p:stCondLst>
                            <p:childTnLst>
                              <p:par>
                                <p:cTn id="17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5" fill="hold">
                      <p:stCondLst>
                        <p:cond delay="5800"/>
                      </p:stCondLst>
                      <p:childTnLst>
                        <p:par>
                          <p:cTn id="1776" fill="hold">
                            <p:stCondLst>
                              <p:cond delay="0"/>
                            </p:stCondLst>
                            <p:childTnLst>
                              <p:par>
                                <p:cTn id="17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9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0" fill="hold">
                      <p:stCondLst>
                        <p:cond delay="6000"/>
                      </p:stCondLst>
                      <p:childTnLst>
                        <p:par>
                          <p:cTn id="1781" fill="hold">
                            <p:stCondLst>
                              <p:cond delay="0"/>
                            </p:stCondLst>
                            <p:childTnLst>
                              <p:par>
                                <p:cTn id="17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3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5" fill="hold">
                      <p:stCondLst>
                        <p:cond delay="6200"/>
                      </p:stCondLst>
                      <p:childTnLst>
                        <p:par>
                          <p:cTn id="1786" fill="hold">
                            <p:stCondLst>
                              <p:cond delay="0"/>
                            </p:stCondLst>
                            <p:childTnLst>
                              <p:par>
                                <p:cTn id="17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8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9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0" fill="hold">
                      <p:stCondLst>
                        <p:cond delay="6400"/>
                      </p:stCondLst>
                      <p:childTnLst>
                        <p:par>
                          <p:cTn id="1791" fill="hold">
                            <p:stCondLst>
                              <p:cond delay="0"/>
                            </p:stCondLst>
                            <p:childTnLst>
                              <p:par>
                                <p:cTn id="17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  <p:bldP spid="33" grpId="26"/>
      <p:bldP spid="34" grpId="27"/>
      <p:bldP spid="35" grpId="28"/>
      <p:bldP spid="36" grpId="29"/>
      <p:bldP spid="37" grpId="30"/>
      <p:bldP spid="38" grpId="31"/>
      <p:bldP spid="39" grpId="32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API REST FastAPI — 4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GET /predictions?date=YYYY-MM-DD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Retourne les 24 prédictions (72h) générées pour une date donnée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938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Réponse : {date, model_id, n_steps:24, predictions:[{horizon_step, target_time, predicted}]}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GET /predictions/combined?start=...&amp;end=...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358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Joint prédictions + températures réelles (monitoring post-hoc)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Calcule et retourne : MAE, biais, erreur par 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GET /version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44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software_version : 0.0.0 en local — commit SHA injecté en CI/CD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4690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65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model_version : MLflow run_id du dernier modèle entraîné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GET /health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3504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053327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Retourne {status: ok} — utilisé par Docker et CI/CD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620255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20255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Logging automatique sur chaque endpoint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7123175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7141463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Format : timestamp | level | GET /path → status (latence ms)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25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927" dur="indefinite" restart="whenNotActive" nodeType="tmRoot">
          <p:childTnLst>
            <p:seq concurrent="1" nextAc="seek">
              <p:cTn id="1928" dur="indefinite" nodeType="mainSeq">
                <p:childTnLst>
                  <p:par>
                    <p:cTn id="1797" fill="hold">
                      <p:stCondLst>
                        <p:cond delay="0"/>
                      </p:stCondLst>
                      <p:childTnLst>
                        <p:par>
                          <p:cTn id="1798" fill="hold">
                            <p:stCondLst>
                              <p:cond delay="0"/>
                            </p:stCondLst>
                            <p:childTnLst>
                              <p:par>
                                <p:cTn id="17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2" fill="hold">
                      <p:stCondLst>
                        <p:cond delay="150"/>
                      </p:stCondLst>
                      <p:childTnLst>
                        <p:par>
                          <p:cTn id="1803" fill="hold">
                            <p:stCondLst>
                              <p:cond delay="0"/>
                            </p:stCondLst>
                            <p:childTnLst>
                              <p:par>
                                <p:cTn id="18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7" fill="hold">
                      <p:stCondLst>
                        <p:cond delay="300"/>
                      </p:stCondLst>
                      <p:childTnLst>
                        <p:par>
                          <p:cTn id="1808" fill="hold">
                            <p:stCondLst>
                              <p:cond delay="0"/>
                            </p:stCondLst>
                            <p:childTnLst>
                              <p:par>
                                <p:cTn id="18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2" fill="hold">
                      <p:stCondLst>
                        <p:cond delay="450"/>
                      </p:stCondLst>
                      <p:childTnLst>
                        <p:par>
                          <p:cTn id="1813" fill="hold">
                            <p:stCondLst>
                              <p:cond delay="0"/>
                            </p:stCondLst>
                            <p:childTnLst>
                              <p:par>
                                <p:cTn id="18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7" fill="hold">
                      <p:stCondLst>
                        <p:cond delay="600"/>
                      </p:stCondLst>
                      <p:childTnLst>
                        <p:par>
                          <p:cTn id="1818" fill="hold">
                            <p:stCondLst>
                              <p:cond delay="0"/>
                            </p:stCondLst>
                            <p:childTnLst>
                              <p:par>
                                <p:cTn id="18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2" fill="hold">
                      <p:stCondLst>
                        <p:cond delay="750"/>
                      </p:stCondLst>
                      <p:childTnLst>
                        <p:par>
                          <p:cTn id="1823" fill="hold">
                            <p:stCondLst>
                              <p:cond delay="0"/>
                            </p:stCondLst>
                            <p:childTnLst>
                              <p:par>
                                <p:cTn id="18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5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7" fill="hold">
                      <p:stCondLst>
                        <p:cond delay="900"/>
                      </p:stCondLst>
                      <p:childTnLst>
                        <p:par>
                          <p:cTn id="1828" fill="hold">
                            <p:stCondLst>
                              <p:cond delay="0"/>
                            </p:stCondLst>
                            <p:childTnLst>
                              <p:par>
                                <p:cTn id="18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2" fill="hold">
                      <p:stCondLst>
                        <p:cond delay="1050"/>
                      </p:stCondLst>
                      <p:childTnLst>
                        <p:par>
                          <p:cTn id="1833" fill="hold">
                            <p:stCondLst>
                              <p:cond delay="0"/>
                            </p:stCondLst>
                            <p:childTnLst>
                              <p:par>
                                <p:cTn id="18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7" fill="hold">
                      <p:stCondLst>
                        <p:cond delay="1200"/>
                      </p:stCondLst>
                      <p:childTnLst>
                        <p:par>
                          <p:cTn id="1838" fill="hold">
                            <p:stCondLst>
                              <p:cond delay="0"/>
                            </p:stCondLst>
                            <p:childTnLst>
                              <p:par>
                                <p:cTn id="18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2" fill="hold">
                      <p:stCondLst>
                        <p:cond delay="1350"/>
                      </p:stCondLst>
                      <p:childTnLst>
                        <p:par>
                          <p:cTn id="1843" fill="hold">
                            <p:stCondLst>
                              <p:cond delay="0"/>
                            </p:stCondLst>
                            <p:childTnLst>
                              <p:par>
                                <p:cTn id="18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7" fill="hold">
                      <p:stCondLst>
                        <p:cond delay="1500"/>
                      </p:stCondLst>
                      <p:childTnLst>
                        <p:par>
                          <p:cTn id="1848" fill="hold">
                            <p:stCondLst>
                              <p:cond delay="0"/>
                            </p:stCondLst>
                            <p:childTnLst>
                              <p:par>
                                <p:cTn id="18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2" fill="hold">
                      <p:stCondLst>
                        <p:cond delay="1650"/>
                      </p:stCondLst>
                      <p:childTnLst>
                        <p:par>
                          <p:cTn id="1853" fill="hold">
                            <p:stCondLst>
                              <p:cond delay="0"/>
                            </p:stCondLst>
                            <p:childTnLst>
                              <p:par>
                                <p:cTn id="18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7" fill="hold">
                      <p:stCondLst>
                        <p:cond delay="1800"/>
                      </p:stCondLst>
                      <p:childTnLst>
                        <p:par>
                          <p:cTn id="1858" fill="hold">
                            <p:stCondLst>
                              <p:cond delay="0"/>
                            </p:stCondLst>
                            <p:childTnLst>
                              <p:par>
                                <p:cTn id="18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2" fill="hold">
                      <p:stCondLst>
                        <p:cond delay="1950"/>
                      </p:stCondLst>
                      <p:childTnLst>
                        <p:par>
                          <p:cTn id="1863" fill="hold">
                            <p:stCondLst>
                              <p:cond delay="0"/>
                            </p:stCondLst>
                            <p:childTnLst>
                              <p:par>
                                <p:cTn id="18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7" fill="hold">
                      <p:stCondLst>
                        <p:cond delay="2100"/>
                      </p:stCondLst>
                      <p:childTnLst>
                        <p:par>
                          <p:cTn id="1868" fill="hold">
                            <p:stCondLst>
                              <p:cond delay="0"/>
                            </p:stCondLst>
                            <p:childTnLst>
                              <p:par>
                                <p:cTn id="18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2" fill="hold">
                      <p:stCondLst>
                        <p:cond delay="2250"/>
                      </p:stCondLst>
                      <p:childTnLst>
                        <p:par>
                          <p:cTn id="1873" fill="hold">
                            <p:stCondLst>
                              <p:cond delay="0"/>
                            </p:stCondLst>
                            <p:childTnLst>
                              <p:par>
                                <p:cTn id="18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7" fill="hold">
                      <p:stCondLst>
                        <p:cond delay="2400"/>
                      </p:stCondLst>
                      <p:childTnLst>
                        <p:par>
                          <p:cTn id="1878" fill="hold">
                            <p:stCondLst>
                              <p:cond delay="0"/>
                            </p:stCondLst>
                            <p:childTnLst>
                              <p:par>
                                <p:cTn id="18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2" fill="hold">
                      <p:stCondLst>
                        <p:cond delay="2550"/>
                      </p:stCondLst>
                      <p:childTnLst>
                        <p:par>
                          <p:cTn id="1883" fill="hold">
                            <p:stCondLst>
                              <p:cond delay="0"/>
                            </p:stCondLst>
                            <p:childTnLst>
                              <p:par>
                                <p:cTn id="18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7" fill="hold">
                      <p:stCondLst>
                        <p:cond delay="2700"/>
                      </p:stCondLst>
                      <p:childTnLst>
                        <p:par>
                          <p:cTn id="1888" fill="hold">
                            <p:stCondLst>
                              <p:cond delay="0"/>
                            </p:stCondLst>
                            <p:childTnLst>
                              <p:par>
                                <p:cTn id="18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2" fill="hold">
                      <p:stCondLst>
                        <p:cond delay="2850"/>
                      </p:stCondLst>
                      <p:childTnLst>
                        <p:par>
                          <p:cTn id="1893" fill="hold">
                            <p:stCondLst>
                              <p:cond delay="0"/>
                            </p:stCondLst>
                            <p:childTnLst>
                              <p:par>
                                <p:cTn id="18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7" fill="hold">
                      <p:stCondLst>
                        <p:cond delay="3000"/>
                      </p:stCondLst>
                      <p:childTnLst>
                        <p:par>
                          <p:cTn id="1898" fill="hold">
                            <p:stCondLst>
                              <p:cond delay="0"/>
                            </p:stCondLst>
                            <p:childTnLst>
                              <p:par>
                                <p:cTn id="18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2" fill="hold">
                      <p:stCondLst>
                        <p:cond delay="3150"/>
                      </p:stCondLst>
                      <p:childTnLst>
                        <p:par>
                          <p:cTn id="1903" fill="hold">
                            <p:stCondLst>
                              <p:cond delay="0"/>
                            </p:stCondLst>
                            <p:childTnLst>
                              <p:par>
                                <p:cTn id="19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7" fill="hold">
                      <p:stCondLst>
                        <p:cond delay="3300"/>
                      </p:stCondLst>
                      <p:childTnLst>
                        <p:par>
                          <p:cTn id="1908" fill="hold">
                            <p:stCondLst>
                              <p:cond delay="0"/>
                            </p:stCondLst>
                            <p:childTnLst>
                              <p:par>
                                <p:cTn id="19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0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2" fill="hold">
                      <p:stCondLst>
                        <p:cond delay="3450"/>
                      </p:stCondLst>
                      <p:childTnLst>
                        <p:par>
                          <p:cTn id="1913" fill="hold">
                            <p:stCondLst>
                              <p:cond delay="0"/>
                            </p:stCondLst>
                            <p:childTnLst>
                              <p:par>
                                <p:cTn id="1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5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7" fill="hold">
                      <p:stCondLst>
                        <p:cond delay="3600"/>
                      </p:stCondLst>
                      <p:childTnLst>
                        <p:par>
                          <p:cTn id="1918" fill="hold">
                            <p:stCondLst>
                              <p:cond delay="0"/>
                            </p:stCondLst>
                            <p:childTnLst>
                              <p:par>
                                <p:cTn id="19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2" fill="hold">
                      <p:stCondLst>
                        <p:cond delay="3750"/>
                      </p:stCondLst>
                      <p:childTnLst>
                        <p:par>
                          <p:cTn id="1923" fill="hold">
                            <p:stCondLst>
                              <p:cond delay="0"/>
                            </p:stCondLst>
                            <p:childTnLst>
                              <p:par>
                                <p:cTn id="19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5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Pipeline CI/CD — GitHub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3566160" cy="41148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05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</a:rPr>
              <a:t>Job 1 :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44168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Déclenché : push + PR
1. Checkout code
2. Setup Python 3.11
   + pip cache
3. pip install -r requirements.txt
4. mkdir data/ model/
   monitoring/
5. pytest tests/ -v
   → 7 tests
Résultat : 7 passed
   3.09s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960120"/>
            <a:ext cx="3566160" cy="41148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005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</a:rPr>
              <a:t>Job 2 :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344168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Déclenché : push seul
Dépend de : test
1. Checkout code
2. Login ghcr.io
   GITHUB_TOKEN auto
   (pas de secret)
3. docker build
   --build-arg
   GIT_COMMIT_ID
   =${{github.sha}}
4. Push :latest + :sha
   → ghcr.io/[owner]/
   temperature-forecast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960120"/>
            <a:ext cx="4114800" cy="41148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005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</a:rPr>
              <a:t>Job 3 : integration-test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344168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Déclenché : push seul
Dépend de : build
1. Pull image GHCR
2. docker run -d
   -p 8000:8000
3. Wait 30s /health=ok
4. Test /health → "ok"
5. Test /version
   → contient SHA
6. Test /predictions
   date=2099 → 404
7. docker stop (always)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5303520"/>
            <a:ext cx="11795760" cy="457200"/>
          </a:xfrm>
          <a:prstGeom prst="rect">
            <a:avLst/>
          </a:prstGeom>
          <a:solidFill>
            <a:srgbClr val="2A5A6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5349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Securite : aucun secret en clair — GITHUB_TOKEN genere automatiquement par GitHub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26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984" dur="indefinite" restart="whenNotActive" nodeType="tmRoot">
          <p:childTnLst>
            <p:seq concurrent="1" nextAc="seek">
              <p:cTn id="1985" dur="indefinite" nodeType="mainSeq">
                <p:childTnLst>
                  <p:par>
                    <p:cTn id="1929" fill="hold">
                      <p:stCondLst>
                        <p:cond delay="0"/>
                      </p:stCondLst>
                      <p:childTnLst>
                        <p:par>
                          <p:cTn id="1930" fill="hold">
                            <p:stCondLst>
                              <p:cond delay="0"/>
                            </p:stCondLst>
                            <p:childTnLst>
                              <p:par>
                                <p:cTn id="19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4" fill="hold">
                      <p:stCondLst>
                        <p:cond delay="200"/>
                      </p:stCondLst>
                      <p:childTnLst>
                        <p:par>
                          <p:cTn id="1935" fill="hold">
                            <p:stCondLst>
                              <p:cond delay="0"/>
                            </p:stCondLst>
                            <p:childTnLst>
                              <p:par>
                                <p:cTn id="19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9" fill="hold">
                      <p:stCondLst>
                        <p:cond delay="400"/>
                      </p:stCondLst>
                      <p:childTnLst>
                        <p:par>
                          <p:cTn id="1940" fill="hold">
                            <p:stCondLst>
                              <p:cond delay="0"/>
                            </p:stCondLst>
                            <p:childTnLst>
                              <p:par>
                                <p:cTn id="19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4" fill="hold">
                      <p:stCondLst>
                        <p:cond delay="600"/>
                      </p:stCondLst>
                      <p:childTnLst>
                        <p:par>
                          <p:cTn id="1945" fill="hold">
                            <p:stCondLst>
                              <p:cond delay="0"/>
                            </p:stCondLst>
                            <p:childTnLst>
                              <p:par>
                                <p:cTn id="19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9" fill="hold">
                      <p:stCondLst>
                        <p:cond delay="800"/>
                      </p:stCondLst>
                      <p:childTnLst>
                        <p:par>
                          <p:cTn id="1950" fill="hold">
                            <p:stCondLst>
                              <p:cond delay="0"/>
                            </p:stCondLst>
                            <p:childTnLst>
                              <p:par>
                                <p:cTn id="19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4" fill="hold">
                      <p:stCondLst>
                        <p:cond delay="1000"/>
                      </p:stCondLst>
                      <p:childTnLst>
                        <p:par>
                          <p:cTn id="1955" fill="hold">
                            <p:stCondLst>
                              <p:cond delay="0"/>
                            </p:stCondLst>
                            <p:childTnLst>
                              <p:par>
                                <p:cTn id="19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9" fill="hold">
                      <p:stCondLst>
                        <p:cond delay="1200"/>
                      </p:stCondLst>
                      <p:childTnLst>
                        <p:par>
                          <p:cTn id="1960" fill="hold">
                            <p:stCondLst>
                              <p:cond delay="0"/>
                            </p:stCondLst>
                            <p:childTnLst>
                              <p:par>
                                <p:cTn id="19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4" fill="hold">
                      <p:stCondLst>
                        <p:cond delay="1400"/>
                      </p:stCondLst>
                      <p:childTnLst>
                        <p:par>
                          <p:cTn id="1965" fill="hold">
                            <p:stCondLst>
                              <p:cond delay="0"/>
                            </p:stCondLst>
                            <p:childTnLst>
                              <p:par>
                                <p:cTn id="19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9" fill="hold">
                      <p:stCondLst>
                        <p:cond delay="1600"/>
                      </p:stCondLst>
                      <p:childTnLst>
                        <p:par>
                          <p:cTn id="1970" fill="hold">
                            <p:stCondLst>
                              <p:cond delay="0"/>
                            </p:stCondLst>
                            <p:childTnLst>
                              <p:par>
                                <p:cTn id="19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4" fill="hold">
                      <p:stCondLst>
                        <p:cond delay="1800"/>
                      </p:stCondLst>
                      <p:childTnLst>
                        <p:par>
                          <p:cTn id="1975" fill="hold">
                            <p:stCondLst>
                              <p:cond delay="0"/>
                            </p:stCondLst>
                            <p:childTnLst>
                              <p:par>
                                <p:cTn id="19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9" fill="hold">
                      <p:stCondLst>
                        <p:cond delay="2000"/>
                      </p:stCondLst>
                      <p:childTnLst>
                        <p:par>
                          <p:cTn id="1980" fill="hold">
                            <p:stCondLst>
                              <p:cond delay="0"/>
                            </p:stCondLst>
                            <p:childTnLst>
                              <p:par>
                                <p:cTn id="19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Docker — Couches optimisées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Base : python:3.11-slim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Image légère — pas d'Ubuntu complet — réduit la taille finale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93976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939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Layer 2 — Dépendances (cachée si requirements.txt inchangé)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96896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1518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COPY requirements.txt 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358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RUN pip install --no-cache-dir -r requirements.txt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Rebuild UNIQUEMENT si requirements.txt change (pas à chaque push de code)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Layer 3 — Code applicatif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44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COPY src/ api/ model/ data/ ./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4690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65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Rebuild du code sans réinstaller les dépendances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Injection de version (CI/CD)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3504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053327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ARG GIT_COMMIT_ID=0.0.0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5566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1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ENV GIT_COMMIT_ID=${GIT_COMMIT_ID}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87628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894575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GET /version retourne le commit SHA exact du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7461504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74615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Démarrage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796442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79827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CMD ["uvicorn", "api.main:app", "--host", "0.0.0.0", "--port", "8000"]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27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2136" dur="indefinite" restart="whenNotActive" nodeType="tmRoot">
          <p:childTnLst>
            <p:seq concurrent="1" nextAc="seek">
              <p:cTn id="2137" dur="indefinite" nodeType="mainSeq">
                <p:childTnLst>
                  <p:par>
                    <p:cTn id="1986" fill="hold">
                      <p:stCondLst>
                        <p:cond delay="0"/>
                      </p:stCondLst>
                      <p:childTnLst>
                        <p:par>
                          <p:cTn id="1987" fill="hold">
                            <p:stCondLst>
                              <p:cond delay="0"/>
                            </p:stCondLst>
                            <p:childTnLst>
                              <p:par>
                                <p:cTn id="19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1" fill="hold">
                      <p:stCondLst>
                        <p:cond delay="150"/>
                      </p:stCondLst>
                      <p:childTnLst>
                        <p:par>
                          <p:cTn id="1992" fill="hold">
                            <p:stCondLst>
                              <p:cond delay="0"/>
                            </p:stCondLst>
                            <p:childTnLst>
                              <p:par>
                                <p:cTn id="19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6" fill="hold">
                      <p:stCondLst>
                        <p:cond delay="300"/>
                      </p:stCondLst>
                      <p:childTnLst>
                        <p:par>
                          <p:cTn id="1997" fill="hold">
                            <p:stCondLst>
                              <p:cond delay="0"/>
                            </p:stCondLst>
                            <p:childTnLst>
                              <p:par>
                                <p:cTn id="19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1" fill="hold">
                      <p:stCondLst>
                        <p:cond delay="450"/>
                      </p:stCondLst>
                      <p:childTnLst>
                        <p:par>
                          <p:cTn id="2002" fill="hold">
                            <p:stCondLst>
                              <p:cond delay="0"/>
                            </p:stCondLst>
                            <p:childTnLst>
                              <p:par>
                                <p:cTn id="20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6" fill="hold">
                      <p:stCondLst>
                        <p:cond delay="600"/>
                      </p:stCondLst>
                      <p:childTnLst>
                        <p:par>
                          <p:cTn id="2007" fill="hold">
                            <p:stCondLst>
                              <p:cond delay="0"/>
                            </p:stCondLst>
                            <p:childTnLst>
                              <p:par>
                                <p:cTn id="20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1" fill="hold">
                      <p:stCondLst>
                        <p:cond delay="750"/>
                      </p:stCondLst>
                      <p:childTnLst>
                        <p:par>
                          <p:cTn id="2012" fill="hold">
                            <p:stCondLst>
                              <p:cond delay="0"/>
                            </p:stCondLst>
                            <p:childTnLst>
                              <p:par>
                                <p:cTn id="20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6" fill="hold">
                      <p:stCondLst>
                        <p:cond delay="900"/>
                      </p:stCondLst>
                      <p:childTnLst>
                        <p:par>
                          <p:cTn id="2017" fill="hold">
                            <p:stCondLst>
                              <p:cond delay="0"/>
                            </p:stCondLst>
                            <p:childTnLst>
                              <p:par>
                                <p:cTn id="20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1" fill="hold">
                      <p:stCondLst>
                        <p:cond delay="1050"/>
                      </p:stCondLst>
                      <p:childTnLst>
                        <p:par>
                          <p:cTn id="2022" fill="hold">
                            <p:stCondLst>
                              <p:cond delay="0"/>
                            </p:stCondLst>
                            <p:childTnLst>
                              <p:par>
                                <p:cTn id="20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6" fill="hold">
                      <p:stCondLst>
                        <p:cond delay="1200"/>
                      </p:stCondLst>
                      <p:childTnLst>
                        <p:par>
                          <p:cTn id="2027" fill="hold">
                            <p:stCondLst>
                              <p:cond delay="0"/>
                            </p:stCondLst>
                            <p:childTnLst>
                              <p:par>
                                <p:cTn id="20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1" fill="hold">
                      <p:stCondLst>
                        <p:cond delay="1350"/>
                      </p:stCondLst>
                      <p:childTnLst>
                        <p:par>
                          <p:cTn id="2032" fill="hold">
                            <p:stCondLst>
                              <p:cond delay="0"/>
                            </p:stCondLst>
                            <p:childTnLst>
                              <p:par>
                                <p:cTn id="20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6" fill="hold">
                      <p:stCondLst>
                        <p:cond delay="1500"/>
                      </p:stCondLst>
                      <p:childTnLst>
                        <p:par>
                          <p:cTn id="2037" fill="hold">
                            <p:stCondLst>
                              <p:cond delay="0"/>
                            </p:stCondLst>
                            <p:childTnLst>
                              <p:par>
                                <p:cTn id="20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1" fill="hold">
                      <p:stCondLst>
                        <p:cond delay="1650"/>
                      </p:stCondLst>
                      <p:childTnLst>
                        <p:par>
                          <p:cTn id="2042" fill="hold">
                            <p:stCondLst>
                              <p:cond delay="0"/>
                            </p:stCondLst>
                            <p:childTnLst>
                              <p:par>
                                <p:cTn id="20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6" fill="hold">
                      <p:stCondLst>
                        <p:cond delay="1800"/>
                      </p:stCondLst>
                      <p:childTnLst>
                        <p:par>
                          <p:cTn id="2047" fill="hold">
                            <p:stCondLst>
                              <p:cond delay="0"/>
                            </p:stCondLst>
                            <p:childTnLst>
                              <p:par>
                                <p:cTn id="20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1" fill="hold">
                      <p:stCondLst>
                        <p:cond delay="1950"/>
                      </p:stCondLst>
                      <p:childTnLst>
                        <p:par>
                          <p:cTn id="2052" fill="hold">
                            <p:stCondLst>
                              <p:cond delay="0"/>
                            </p:stCondLst>
                            <p:childTnLst>
                              <p:par>
                                <p:cTn id="20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4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6" fill="hold">
                      <p:stCondLst>
                        <p:cond delay="2100"/>
                      </p:stCondLst>
                      <p:childTnLst>
                        <p:par>
                          <p:cTn id="2057" fill="hold">
                            <p:stCondLst>
                              <p:cond delay="0"/>
                            </p:stCondLst>
                            <p:childTnLst>
                              <p:par>
                                <p:cTn id="20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1" fill="hold">
                      <p:stCondLst>
                        <p:cond delay="2250"/>
                      </p:stCondLst>
                      <p:childTnLst>
                        <p:par>
                          <p:cTn id="2062" fill="hold">
                            <p:stCondLst>
                              <p:cond delay="0"/>
                            </p:stCondLst>
                            <p:childTnLst>
                              <p:par>
                                <p:cTn id="20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6" fill="hold">
                      <p:stCondLst>
                        <p:cond delay="2400"/>
                      </p:stCondLst>
                      <p:childTnLst>
                        <p:par>
                          <p:cTn id="2067" fill="hold">
                            <p:stCondLst>
                              <p:cond delay="0"/>
                            </p:stCondLst>
                            <p:childTnLst>
                              <p:par>
                                <p:cTn id="20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1" fill="hold">
                      <p:stCondLst>
                        <p:cond delay="2550"/>
                      </p:stCondLst>
                      <p:childTnLst>
                        <p:par>
                          <p:cTn id="2072" fill="hold">
                            <p:stCondLst>
                              <p:cond delay="0"/>
                            </p:stCondLst>
                            <p:childTnLst>
                              <p:par>
                                <p:cTn id="2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6" fill="hold">
                      <p:stCondLst>
                        <p:cond delay="2700"/>
                      </p:stCondLst>
                      <p:childTnLst>
                        <p:par>
                          <p:cTn id="2077" fill="hold">
                            <p:stCondLst>
                              <p:cond delay="0"/>
                            </p:stCondLst>
                            <p:childTnLst>
                              <p:par>
                                <p:cTn id="20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1" fill="hold">
                      <p:stCondLst>
                        <p:cond delay="2850"/>
                      </p:stCondLst>
                      <p:childTnLst>
                        <p:par>
                          <p:cTn id="2082" fill="hold">
                            <p:stCondLst>
                              <p:cond delay="0"/>
                            </p:stCondLst>
                            <p:childTnLst>
                              <p:par>
                                <p:cTn id="20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6" fill="hold">
                      <p:stCondLst>
                        <p:cond delay="3000"/>
                      </p:stCondLst>
                      <p:childTnLst>
                        <p:par>
                          <p:cTn id="2087" fill="hold">
                            <p:stCondLst>
                              <p:cond delay="0"/>
                            </p:stCondLst>
                            <p:childTnLst>
                              <p:par>
                                <p:cTn id="20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9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1" fill="hold">
                      <p:stCondLst>
                        <p:cond delay="3150"/>
                      </p:stCondLst>
                      <p:childTnLst>
                        <p:par>
                          <p:cTn id="2092" fill="hold">
                            <p:stCondLst>
                              <p:cond delay="0"/>
                            </p:stCondLst>
                            <p:childTnLst>
                              <p:par>
                                <p:cTn id="20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6" fill="hold">
                      <p:stCondLst>
                        <p:cond delay="3300"/>
                      </p:stCondLst>
                      <p:childTnLst>
                        <p:par>
                          <p:cTn id="2097" fill="hold">
                            <p:stCondLst>
                              <p:cond delay="0"/>
                            </p:stCondLst>
                            <p:childTnLst>
                              <p:par>
                                <p:cTn id="20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1" fill="hold">
                      <p:stCondLst>
                        <p:cond delay="3450"/>
                      </p:stCondLst>
                      <p:childTnLst>
                        <p:par>
                          <p:cTn id="2102" fill="hold">
                            <p:stCondLst>
                              <p:cond delay="0"/>
                            </p:stCondLst>
                            <p:childTnLst>
                              <p:par>
                                <p:cTn id="2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4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6" fill="hold">
                      <p:stCondLst>
                        <p:cond delay="3600"/>
                      </p:stCondLst>
                      <p:childTnLst>
                        <p:par>
                          <p:cTn id="2107" fill="hold">
                            <p:stCondLst>
                              <p:cond delay="0"/>
                            </p:stCondLst>
                            <p:childTnLst>
                              <p:par>
                                <p:cTn id="2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1" fill="hold">
                      <p:stCondLst>
                        <p:cond delay="3750"/>
                      </p:stCondLst>
                      <p:childTnLst>
                        <p:par>
                          <p:cTn id="2112" fill="hold">
                            <p:stCondLst>
                              <p:cond delay="0"/>
                            </p:stCondLst>
                            <p:childTnLst>
                              <p:par>
                                <p:cTn id="2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5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6" fill="hold">
                      <p:stCondLst>
                        <p:cond delay="3900"/>
                      </p:stCondLst>
                      <p:childTnLst>
                        <p:par>
                          <p:cTn id="2117" fill="hold">
                            <p:stCondLst>
                              <p:cond delay="0"/>
                            </p:stCondLst>
                            <p:childTnLst>
                              <p:par>
                                <p:cTn id="2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0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1" fill="hold">
                      <p:stCondLst>
                        <p:cond delay="4050"/>
                      </p:stCondLst>
                      <p:childTnLst>
                        <p:par>
                          <p:cTn id="2122" fill="hold">
                            <p:stCondLst>
                              <p:cond delay="0"/>
                            </p:stCondLst>
                            <p:childTnLst>
                              <p:par>
                                <p:cTn id="2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4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6" fill="hold">
                      <p:stCondLst>
                        <p:cond delay="4200"/>
                      </p:stCondLst>
                      <p:childTnLst>
                        <p:par>
                          <p:cTn id="2127" fill="hold">
                            <p:stCondLst>
                              <p:cond delay="0"/>
                            </p:stCondLst>
                            <p:childTnLst>
                              <p:par>
                                <p:cTn id="2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1" fill="hold">
                      <p:stCondLst>
                        <p:cond delay="4350"/>
                      </p:stCondLst>
                      <p:childTnLst>
                        <p:par>
                          <p:cTn id="2132" fill="hold">
                            <p:stCondLst>
                              <p:cond delay="0"/>
                            </p:stCondLst>
                            <p:childTnLst>
                              <p:par>
                                <p:cTn id="2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  <p:bldP spid="33" grpId="26"/>
      <p:bldP spid="34" grpId="27"/>
      <p:bldP spid="35" grpId="28"/>
      <p:bldP spid="36" grpId="29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Tests — 7 tests (tous passes)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Isolation : DB SQLite temporaire (tempfile.mkdtemp())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Patch cfg.DB_PATH avant import de l'app — aucun impact sur la prod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93976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939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Tests unitaires (3)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96896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1518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test_health — GET /health → 200, status=ok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358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test_version_structure — software_version + model_version présents et de type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test_predictions_date_format — date invalide → 404 ou 422 (pas de crash)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Tests d'intégration (4)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44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test_predictions_not_found — date inconnue → 404 avec détail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4690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65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test_predictions_ok — insertion DB → GET /predictions → 200, 24 steps, structure correcte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6752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3858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test_combined_not_found — période vide → 404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88152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806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test_combined_ok — prédictions + réel insérés → summary.mae calculé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373368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3733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Résultat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876288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894575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7 passed in 3.09s — Lancé en CI/CD avant chaque build Docker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7296912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7315199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Commande : pytest tests/ -v --tb=short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28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2278" dur="indefinite" restart="whenNotActive" nodeType="tmRoot">
          <p:childTnLst>
            <p:seq concurrent="1" nextAc="seek">
              <p:cTn id="2279" dur="indefinite" nodeType="mainSeq">
                <p:childTnLst>
                  <p:par>
                    <p:cTn id="2138" fill="hold">
                      <p:stCondLst>
                        <p:cond delay="0"/>
                      </p:stCondLst>
                      <p:childTnLst>
                        <p:par>
                          <p:cTn id="2139" fill="hold">
                            <p:stCondLst>
                              <p:cond delay="0"/>
                            </p:stCondLst>
                            <p:childTnLst>
                              <p:par>
                                <p:cTn id="2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3" fill="hold">
                      <p:stCondLst>
                        <p:cond delay="150"/>
                      </p:stCondLst>
                      <p:childTnLst>
                        <p:par>
                          <p:cTn id="2144" fill="hold">
                            <p:stCondLst>
                              <p:cond delay="0"/>
                            </p:stCondLst>
                            <p:childTnLst>
                              <p:par>
                                <p:cTn id="2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8" fill="hold">
                      <p:stCondLst>
                        <p:cond delay="300"/>
                      </p:stCondLst>
                      <p:childTnLst>
                        <p:par>
                          <p:cTn id="2149" fill="hold">
                            <p:stCondLst>
                              <p:cond delay="0"/>
                            </p:stCondLst>
                            <p:childTnLst>
                              <p:par>
                                <p:cTn id="2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3" fill="hold">
                      <p:stCondLst>
                        <p:cond delay="450"/>
                      </p:stCondLst>
                      <p:childTnLst>
                        <p:par>
                          <p:cTn id="2154" fill="hold">
                            <p:stCondLst>
                              <p:cond delay="0"/>
                            </p:stCondLst>
                            <p:childTnLst>
                              <p:par>
                                <p:cTn id="2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8" fill="hold">
                      <p:stCondLst>
                        <p:cond delay="600"/>
                      </p:stCondLst>
                      <p:childTnLst>
                        <p:par>
                          <p:cTn id="2159" fill="hold">
                            <p:stCondLst>
                              <p:cond delay="0"/>
                            </p:stCondLst>
                            <p:childTnLst>
                              <p:par>
                                <p:cTn id="2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3" fill="hold">
                      <p:stCondLst>
                        <p:cond delay="750"/>
                      </p:stCondLst>
                      <p:childTnLst>
                        <p:par>
                          <p:cTn id="2164" fill="hold">
                            <p:stCondLst>
                              <p:cond delay="0"/>
                            </p:stCondLst>
                            <p:childTnLst>
                              <p:par>
                                <p:cTn id="2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8" fill="hold">
                      <p:stCondLst>
                        <p:cond delay="900"/>
                      </p:stCondLst>
                      <p:childTnLst>
                        <p:par>
                          <p:cTn id="2169" fill="hold">
                            <p:stCondLst>
                              <p:cond delay="0"/>
                            </p:stCondLst>
                            <p:childTnLst>
                              <p:par>
                                <p:cTn id="2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3" fill="hold">
                      <p:stCondLst>
                        <p:cond delay="1050"/>
                      </p:stCondLst>
                      <p:childTnLst>
                        <p:par>
                          <p:cTn id="2174" fill="hold">
                            <p:stCondLst>
                              <p:cond delay="0"/>
                            </p:stCondLst>
                            <p:childTnLst>
                              <p:par>
                                <p:cTn id="2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8" fill="hold">
                      <p:stCondLst>
                        <p:cond delay="1200"/>
                      </p:stCondLst>
                      <p:childTnLst>
                        <p:par>
                          <p:cTn id="2179" fill="hold">
                            <p:stCondLst>
                              <p:cond delay="0"/>
                            </p:stCondLst>
                            <p:childTnLst>
                              <p:par>
                                <p:cTn id="2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3" fill="hold">
                      <p:stCondLst>
                        <p:cond delay="1350"/>
                      </p:stCondLst>
                      <p:childTnLst>
                        <p:par>
                          <p:cTn id="2184" fill="hold">
                            <p:stCondLst>
                              <p:cond delay="0"/>
                            </p:stCondLst>
                            <p:childTnLst>
                              <p:par>
                                <p:cTn id="2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8" fill="hold">
                      <p:stCondLst>
                        <p:cond delay="1500"/>
                      </p:stCondLst>
                      <p:childTnLst>
                        <p:par>
                          <p:cTn id="2189" fill="hold">
                            <p:stCondLst>
                              <p:cond delay="0"/>
                            </p:stCondLst>
                            <p:childTnLst>
                              <p:par>
                                <p:cTn id="2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3" fill="hold">
                      <p:stCondLst>
                        <p:cond delay="1650"/>
                      </p:stCondLst>
                      <p:childTnLst>
                        <p:par>
                          <p:cTn id="2194" fill="hold">
                            <p:stCondLst>
                              <p:cond delay="0"/>
                            </p:stCondLst>
                            <p:childTnLst>
                              <p:par>
                                <p:cTn id="2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8" fill="hold">
                      <p:stCondLst>
                        <p:cond delay="1800"/>
                      </p:stCondLst>
                      <p:childTnLst>
                        <p:par>
                          <p:cTn id="2199" fill="hold">
                            <p:stCondLst>
                              <p:cond delay="0"/>
                            </p:stCondLst>
                            <p:childTnLst>
                              <p:par>
                                <p:cTn id="2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3" fill="hold">
                      <p:stCondLst>
                        <p:cond delay="1950"/>
                      </p:stCondLst>
                      <p:childTnLst>
                        <p:par>
                          <p:cTn id="2204" fill="hold">
                            <p:stCondLst>
                              <p:cond delay="0"/>
                            </p:stCondLst>
                            <p:childTnLst>
                              <p:par>
                                <p:cTn id="2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8" fill="hold">
                      <p:stCondLst>
                        <p:cond delay="2100"/>
                      </p:stCondLst>
                      <p:childTnLst>
                        <p:par>
                          <p:cTn id="2209" fill="hold">
                            <p:stCondLst>
                              <p:cond delay="0"/>
                            </p:stCondLst>
                            <p:childTnLst>
                              <p:par>
                                <p:cTn id="2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3" fill="hold">
                      <p:stCondLst>
                        <p:cond delay="2250"/>
                      </p:stCondLst>
                      <p:childTnLst>
                        <p:par>
                          <p:cTn id="2214" fill="hold">
                            <p:stCondLst>
                              <p:cond delay="0"/>
                            </p:stCondLst>
                            <p:childTnLst>
                              <p:par>
                                <p:cTn id="2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8" fill="hold">
                      <p:stCondLst>
                        <p:cond delay="2400"/>
                      </p:stCondLst>
                      <p:childTnLst>
                        <p:par>
                          <p:cTn id="2219" fill="hold">
                            <p:stCondLst>
                              <p:cond delay="0"/>
                            </p:stCondLst>
                            <p:childTnLst>
                              <p:par>
                                <p:cTn id="2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3" fill="hold">
                      <p:stCondLst>
                        <p:cond delay="2550"/>
                      </p:stCondLst>
                      <p:childTnLst>
                        <p:par>
                          <p:cTn id="2224" fill="hold">
                            <p:stCondLst>
                              <p:cond delay="0"/>
                            </p:stCondLst>
                            <p:childTnLst>
                              <p:par>
                                <p:cTn id="2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8" fill="hold">
                      <p:stCondLst>
                        <p:cond delay="2700"/>
                      </p:stCondLst>
                      <p:childTnLst>
                        <p:par>
                          <p:cTn id="2229" fill="hold">
                            <p:stCondLst>
                              <p:cond delay="0"/>
                            </p:stCondLst>
                            <p:childTnLst>
                              <p:par>
                                <p:cTn id="2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3" fill="hold">
                      <p:stCondLst>
                        <p:cond delay="2850"/>
                      </p:stCondLst>
                      <p:childTnLst>
                        <p:par>
                          <p:cTn id="2234" fill="hold">
                            <p:stCondLst>
                              <p:cond delay="0"/>
                            </p:stCondLst>
                            <p:childTnLst>
                              <p:par>
                                <p:cTn id="2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8" fill="hold">
                      <p:stCondLst>
                        <p:cond delay="3000"/>
                      </p:stCondLst>
                      <p:childTnLst>
                        <p:par>
                          <p:cTn id="2239" fill="hold">
                            <p:stCondLst>
                              <p:cond delay="0"/>
                            </p:stCondLst>
                            <p:childTnLst>
                              <p:par>
                                <p:cTn id="2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3" fill="hold">
                      <p:stCondLst>
                        <p:cond delay="3150"/>
                      </p:stCondLst>
                      <p:childTnLst>
                        <p:par>
                          <p:cTn id="2244" fill="hold">
                            <p:stCondLst>
                              <p:cond delay="0"/>
                            </p:stCondLst>
                            <p:childTnLst>
                              <p:par>
                                <p:cTn id="2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8" fill="hold">
                      <p:stCondLst>
                        <p:cond delay="3300"/>
                      </p:stCondLst>
                      <p:childTnLst>
                        <p:par>
                          <p:cTn id="2249" fill="hold">
                            <p:stCondLst>
                              <p:cond delay="0"/>
                            </p:stCondLst>
                            <p:childTnLst>
                              <p:par>
                                <p:cTn id="2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3" fill="hold">
                      <p:stCondLst>
                        <p:cond delay="3450"/>
                      </p:stCondLst>
                      <p:childTnLst>
                        <p:par>
                          <p:cTn id="2254" fill="hold">
                            <p:stCondLst>
                              <p:cond delay="0"/>
                            </p:stCondLst>
                            <p:childTnLst>
                              <p:par>
                                <p:cTn id="2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8" fill="hold">
                      <p:stCondLst>
                        <p:cond delay="3600"/>
                      </p:stCondLst>
                      <p:childTnLst>
                        <p:par>
                          <p:cTn id="2259" fill="hold">
                            <p:stCondLst>
                              <p:cond delay="0"/>
                            </p:stCondLst>
                            <p:childTnLst>
                              <p:par>
                                <p:cTn id="2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3" fill="hold">
                      <p:stCondLst>
                        <p:cond delay="3750"/>
                      </p:stCondLst>
                      <p:childTnLst>
                        <p:par>
                          <p:cTn id="2264" fill="hold">
                            <p:stCondLst>
                              <p:cond delay="0"/>
                            </p:stCondLst>
                            <p:childTnLst>
                              <p:par>
                                <p:cTn id="2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8" fill="hold">
                      <p:stCondLst>
                        <p:cond delay="3900"/>
                      </p:stCondLst>
                      <p:childTnLst>
                        <p:par>
                          <p:cTn id="2269" fill="hold">
                            <p:stCondLst>
                              <p:cond delay="0"/>
                            </p:stCondLst>
                            <p:childTnLst>
                              <p:par>
                                <p:cTn id="2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3" fill="hold">
                      <p:stCondLst>
                        <p:cond delay="4050"/>
                      </p:stCondLst>
                      <p:childTnLst>
                        <p:par>
                          <p:cTn id="2274" fill="hold">
                            <p:stCondLst>
                              <p:cond delay="0"/>
                            </p:stCondLst>
                            <p:childTnLst>
                              <p:par>
                                <p:cTn id="2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  <p:bldP spid="33" grpId="26"/>
      <p:bldP spid="34" grpId="27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solidFill>
            <a:srgbClr val="2A5A6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3716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4C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Résultats &amp;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6180" y="3858768"/>
            <a:ext cx="47091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>
    <p:fade/>
  </p:transition>
  <p:timing>
    <p:tnLst>
      <p:par>
        <p:cTn id="2290" dur="indefinite" restart="whenNotActive" nodeType="tmRoot">
          <p:childTnLst>
            <p:seq concurrent="1" nextAc="seek">
              <p:cTn id="2291" dur="indefinite" nodeType="mainSeq">
                <p:childTnLst>
                  <p:par>
                    <p:cTn id="2280" fill="hold">
                      <p:stCondLst>
                        <p:cond delay="0"/>
                      </p:stCondLst>
                      <p:childTnLst>
                        <p:par>
                          <p:cTn id="2281" fill="hold">
                            <p:stCondLst>
                              <p:cond delay="0"/>
                            </p:stCondLst>
                            <p:childTnLst>
                              <p:par>
                                <p:cTn id="2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5" fill="hold">
                      <p:stCondLst>
                        <p:cond delay="200"/>
                      </p:stCondLst>
                      <p:childTnLst>
                        <p:par>
                          <p:cTn id="2286" fill="hold">
                            <p:stCondLst>
                              <p:cond delay="0"/>
                            </p:stCondLst>
                            <p:childTnLst>
                              <p:par>
                                <p:cTn id="2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8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4" grpId="0"/>
      <p:bldP spid="5" grpId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Récapitulatif — Classification Multimodale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6012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Sous-tâche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Modèle retenu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F1 micro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F1 macro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Gain vs baseline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Images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EfficientNetB0 FT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0.6665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0.5553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+37.9 pts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Textes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Bi-LSTM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~0.66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~0.59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+21 pts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9A84C"/>
                          </a:solidFill>
                        </a:rPr>
                        <a:t>Fusion ★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Early Fusion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0.7383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0.6665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+46 pts images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063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9A84C"/>
                </a:solidFill>
              </a:rPr>
              <a:t>★ Early Fusion = meilleure architecture — +13.1% vs image seule — Joint Fusion souffre d'attention collapse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Récapitulatif — Série Temporelle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6012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MAE global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RMSE global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C9A84C"/>
                          </a:solidFill>
                        </a:rPr>
                        <a:t>Avantage</a:t>
                      </a:r>
                    </a:p>
                  </a:txBody>
                  <a:tcPr>
                    <a:solidFill>
                      <a:srgbClr val="2A5A6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1.4107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1.8695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Statistique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Rapide, baseline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9A84C"/>
                          </a:solidFill>
                        </a:rPr>
                        <a:t>LSTM ★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0.0652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Deep Learning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Précision x27</a:t>
                      </a:r>
                    </a:p>
                  </a:txBody>
                  <a:tcPr>
                    <a:solidFill>
                      <a:srgbClr val="3E7A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TFT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1.5763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1.8644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Intervalles conf.</a:t>
                      </a:r>
                    </a:p>
                  </a:txBody>
                  <a:tcPr>
                    <a:solidFill>
                      <a:srgbClr val="5E9EA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063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9A84C"/>
                </a:solidFill>
              </a:rPr>
              <a:t>★ LSTM déployé en production — Feature engineering = clé (49 variables vs features brutes TFT)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Points Durs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7539" y="749808"/>
            <a:ext cx="58064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DLL PyTorch/TensorFlow sur Windows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27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torch 2.11.0 nightly + TF nécessitent CUDA → OSError c10.dll / pywrap_tensorflow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938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Solution : pip install torch==2.3.0+cpu --index-url pytorch.org/whl/cpu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MLflow URI invalide sur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358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C:\... non reconnu comme scheme → UnsupportedModelRegistryStoreURIException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3814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Solution : MLFLOW_DIR.as_uri() génère file:///C:/... reconnu par MLflow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023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pytorch-forecasting API changée v1.0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44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predict() retourne un namedtuple 5 champs (pas un dict) → ValueError unpack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4690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65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Solution : raw_preds.output['prediction'] au lieu de raw_preds['prediction']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532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CSV mal formé (captions avec virgules)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3504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053327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ParserError: Expected 3 fields, saw 4 → toutes les lignes avec virgule échouent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5566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1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Solution : pd.read_csv(csv, on_bad_lines='skip')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7040879"/>
            <a:ext cx="11430000" cy="4572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04087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numpy 2.4.3 incompatible torch 2.3.0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7543800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7562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RuntimeError: Numpy is not available → .detach().cpu().numpy() échoue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7964424"/>
            <a:ext cx="11430000" cy="393192"/>
          </a:xfrm>
          <a:prstGeom prst="rect">
            <a:avLst/>
          </a:prstGeom>
          <a:solidFill>
            <a:srgbClr val="5E9E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79827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Solution : pip install numpy==1.26.4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0" y="6309360"/>
            <a:ext cx="75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32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2442" dur="indefinite" restart="whenNotActive" nodeType="tmRoot">
          <p:childTnLst>
            <p:seq concurrent="1" nextAc="seek">
              <p:cTn id="2443" dur="indefinite" nodeType="mainSeq">
                <p:childTnLst>
                  <p:par>
                    <p:cTn id="2292" fill="hold">
                      <p:stCondLst>
                        <p:cond delay="0"/>
                      </p:stCondLst>
                      <p:childTnLst>
                        <p:par>
                          <p:cTn id="2293" fill="hold">
                            <p:stCondLst>
                              <p:cond delay="0"/>
                            </p:stCondLst>
                            <p:childTnLst>
                              <p:par>
                                <p:cTn id="2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7" fill="hold">
                      <p:stCondLst>
                        <p:cond delay="150"/>
                      </p:stCondLst>
                      <p:childTnLst>
                        <p:par>
                          <p:cTn id="2298" fill="hold">
                            <p:stCondLst>
                              <p:cond delay="0"/>
                            </p:stCondLst>
                            <p:childTnLst>
                              <p:par>
                                <p:cTn id="2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2" fill="hold">
                      <p:stCondLst>
                        <p:cond delay="300"/>
                      </p:stCondLst>
                      <p:childTnLst>
                        <p:par>
                          <p:cTn id="2303" fill="hold">
                            <p:stCondLst>
                              <p:cond delay="0"/>
                            </p:stCondLst>
                            <p:childTnLst>
                              <p:par>
                                <p:cTn id="2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7" fill="hold">
                      <p:stCondLst>
                        <p:cond delay="450"/>
                      </p:stCondLst>
                      <p:childTnLst>
                        <p:par>
                          <p:cTn id="2308" fill="hold">
                            <p:stCondLst>
                              <p:cond delay="0"/>
                            </p:stCondLst>
                            <p:childTnLst>
                              <p:par>
                                <p:cTn id="2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2" fill="hold">
                      <p:stCondLst>
                        <p:cond delay="600"/>
                      </p:stCondLst>
                      <p:childTnLst>
                        <p:par>
                          <p:cTn id="2313" fill="hold">
                            <p:stCondLst>
                              <p:cond delay="0"/>
                            </p:stCondLst>
                            <p:childTnLst>
                              <p:par>
                                <p:cTn id="2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7" fill="hold">
                      <p:stCondLst>
                        <p:cond delay="750"/>
                      </p:stCondLst>
                      <p:childTnLst>
                        <p:par>
                          <p:cTn id="2318" fill="hold">
                            <p:stCondLst>
                              <p:cond delay="0"/>
                            </p:stCondLst>
                            <p:childTnLst>
                              <p:par>
                                <p:cTn id="2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2" fill="hold">
                      <p:stCondLst>
                        <p:cond delay="900"/>
                      </p:stCondLst>
                      <p:childTnLst>
                        <p:par>
                          <p:cTn id="2323" fill="hold">
                            <p:stCondLst>
                              <p:cond delay="0"/>
                            </p:stCondLst>
                            <p:childTnLst>
                              <p:par>
                                <p:cTn id="2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7" fill="hold">
                      <p:stCondLst>
                        <p:cond delay="1050"/>
                      </p:stCondLst>
                      <p:childTnLst>
                        <p:par>
                          <p:cTn id="2328" fill="hold">
                            <p:stCondLst>
                              <p:cond delay="0"/>
                            </p:stCondLst>
                            <p:childTnLst>
                              <p:par>
                                <p:cTn id="2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2" fill="hold">
                      <p:stCondLst>
                        <p:cond delay="1200"/>
                      </p:stCondLst>
                      <p:childTnLst>
                        <p:par>
                          <p:cTn id="2333" fill="hold">
                            <p:stCondLst>
                              <p:cond delay="0"/>
                            </p:stCondLst>
                            <p:childTnLst>
                              <p:par>
                                <p:cTn id="2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7" fill="hold">
                      <p:stCondLst>
                        <p:cond delay="1350"/>
                      </p:stCondLst>
                      <p:childTnLst>
                        <p:par>
                          <p:cTn id="2338" fill="hold">
                            <p:stCondLst>
                              <p:cond delay="0"/>
                            </p:stCondLst>
                            <p:childTnLst>
                              <p:par>
                                <p:cTn id="2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2" fill="hold">
                      <p:stCondLst>
                        <p:cond delay="1500"/>
                      </p:stCondLst>
                      <p:childTnLst>
                        <p:par>
                          <p:cTn id="2343" fill="hold">
                            <p:stCondLst>
                              <p:cond delay="0"/>
                            </p:stCondLst>
                            <p:childTnLst>
                              <p:par>
                                <p:cTn id="2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7" fill="hold">
                      <p:stCondLst>
                        <p:cond delay="1650"/>
                      </p:stCondLst>
                      <p:childTnLst>
                        <p:par>
                          <p:cTn id="2348" fill="hold">
                            <p:stCondLst>
                              <p:cond delay="0"/>
                            </p:stCondLst>
                            <p:childTnLst>
                              <p:par>
                                <p:cTn id="2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2" fill="hold">
                      <p:stCondLst>
                        <p:cond delay="1800"/>
                      </p:stCondLst>
                      <p:childTnLst>
                        <p:par>
                          <p:cTn id="2353" fill="hold">
                            <p:stCondLst>
                              <p:cond delay="0"/>
                            </p:stCondLst>
                            <p:childTnLst>
                              <p:par>
                                <p:cTn id="2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7" fill="hold">
                      <p:stCondLst>
                        <p:cond delay="1950"/>
                      </p:stCondLst>
                      <p:childTnLst>
                        <p:par>
                          <p:cTn id="2358" fill="hold">
                            <p:stCondLst>
                              <p:cond delay="0"/>
                            </p:stCondLst>
                            <p:childTnLst>
                              <p:par>
                                <p:cTn id="2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2" fill="hold">
                      <p:stCondLst>
                        <p:cond delay="2100"/>
                      </p:stCondLst>
                      <p:childTnLst>
                        <p:par>
                          <p:cTn id="2363" fill="hold">
                            <p:stCondLst>
                              <p:cond delay="0"/>
                            </p:stCondLst>
                            <p:childTnLst>
                              <p:par>
                                <p:cTn id="23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5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7" fill="hold">
                      <p:stCondLst>
                        <p:cond delay="2250"/>
                      </p:stCondLst>
                      <p:childTnLst>
                        <p:par>
                          <p:cTn id="2368" fill="hold">
                            <p:stCondLst>
                              <p:cond delay="0"/>
                            </p:stCondLst>
                            <p:childTnLst>
                              <p:par>
                                <p:cTn id="23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2" fill="hold">
                      <p:stCondLst>
                        <p:cond delay="2400"/>
                      </p:stCondLst>
                      <p:childTnLst>
                        <p:par>
                          <p:cTn id="2373" fill="hold">
                            <p:stCondLst>
                              <p:cond delay="0"/>
                            </p:stCondLst>
                            <p:childTnLst>
                              <p:par>
                                <p:cTn id="2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7" fill="hold">
                      <p:stCondLst>
                        <p:cond delay="2550"/>
                      </p:stCondLst>
                      <p:childTnLst>
                        <p:par>
                          <p:cTn id="2378" fill="hold">
                            <p:stCondLst>
                              <p:cond delay="0"/>
                            </p:stCondLst>
                            <p:childTnLst>
                              <p:par>
                                <p:cTn id="23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2" fill="hold">
                      <p:stCondLst>
                        <p:cond delay="2700"/>
                      </p:stCondLst>
                      <p:childTnLst>
                        <p:par>
                          <p:cTn id="2383" fill="hold">
                            <p:stCondLst>
                              <p:cond delay="0"/>
                            </p:stCondLst>
                            <p:childTnLst>
                              <p:par>
                                <p:cTn id="23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7" fill="hold">
                      <p:stCondLst>
                        <p:cond delay="2850"/>
                      </p:stCondLst>
                      <p:childTnLst>
                        <p:par>
                          <p:cTn id="2388" fill="hold">
                            <p:stCondLst>
                              <p:cond delay="0"/>
                            </p:stCondLst>
                            <p:childTnLst>
                              <p:par>
                                <p:cTn id="2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2" fill="hold">
                      <p:stCondLst>
                        <p:cond delay="3000"/>
                      </p:stCondLst>
                      <p:childTnLst>
                        <p:par>
                          <p:cTn id="2393" fill="hold">
                            <p:stCondLst>
                              <p:cond delay="0"/>
                            </p:stCondLst>
                            <p:childTnLst>
                              <p:par>
                                <p:cTn id="23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7" fill="hold">
                      <p:stCondLst>
                        <p:cond delay="3150"/>
                      </p:stCondLst>
                      <p:childTnLst>
                        <p:par>
                          <p:cTn id="2398" fill="hold">
                            <p:stCondLst>
                              <p:cond delay="0"/>
                            </p:stCondLst>
                            <p:childTnLst>
                              <p:par>
                                <p:cTn id="2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2" fill="hold">
                      <p:stCondLst>
                        <p:cond delay="3300"/>
                      </p:stCondLst>
                      <p:childTnLst>
                        <p:par>
                          <p:cTn id="2403" fill="hold">
                            <p:stCondLst>
                              <p:cond delay="0"/>
                            </p:stCondLst>
                            <p:childTnLst>
                              <p:par>
                                <p:cTn id="24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5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7" fill="hold">
                      <p:stCondLst>
                        <p:cond delay="3450"/>
                      </p:stCondLst>
                      <p:childTnLst>
                        <p:par>
                          <p:cTn id="2408" fill="hold">
                            <p:stCondLst>
                              <p:cond delay="0"/>
                            </p:stCondLst>
                            <p:childTnLst>
                              <p:par>
                                <p:cTn id="24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2" fill="hold">
                      <p:stCondLst>
                        <p:cond delay="3600"/>
                      </p:stCondLst>
                      <p:childTnLst>
                        <p:par>
                          <p:cTn id="2413" fill="hold">
                            <p:stCondLst>
                              <p:cond delay="0"/>
                            </p:stCondLst>
                            <p:childTnLst>
                              <p:par>
                                <p:cTn id="24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7" fill="hold">
                      <p:stCondLst>
                        <p:cond delay="3750"/>
                      </p:stCondLst>
                      <p:childTnLst>
                        <p:par>
                          <p:cTn id="2418" fill="hold">
                            <p:stCondLst>
                              <p:cond delay="0"/>
                            </p:stCondLst>
                            <p:childTnLst>
                              <p:par>
                                <p:cTn id="2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2" fill="hold">
                      <p:stCondLst>
                        <p:cond delay="3900"/>
                      </p:stCondLst>
                      <p:childTnLst>
                        <p:par>
                          <p:cTn id="2423" fill="hold">
                            <p:stCondLst>
                              <p:cond delay="0"/>
                            </p:stCondLst>
                            <p:childTnLst>
                              <p:par>
                                <p:cTn id="24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7" fill="hold">
                      <p:stCondLst>
                        <p:cond delay="4050"/>
                      </p:stCondLst>
                      <p:childTnLst>
                        <p:par>
                          <p:cTn id="2428" fill="hold">
                            <p:stCondLst>
                              <p:cond delay="0"/>
                            </p:stCondLst>
                            <p:childTnLst>
                              <p:par>
                                <p:cTn id="24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0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1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2" fill="hold">
                      <p:stCondLst>
                        <p:cond delay="4200"/>
                      </p:stCondLst>
                      <p:childTnLst>
                        <p:par>
                          <p:cTn id="2433" fill="hold">
                            <p:stCondLst>
                              <p:cond delay="0"/>
                            </p:stCondLst>
                            <p:childTnLst>
                              <p:par>
                                <p:cTn id="24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6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7" fill="hold">
                      <p:stCondLst>
                        <p:cond delay="4350"/>
                      </p:stCondLst>
                      <p:childTnLst>
                        <p:par>
                          <p:cTn id="2438" fill="hold">
                            <p:stCondLst>
                              <p:cond delay="0"/>
                            </p:stCondLst>
                            <p:childTnLst>
                              <p:par>
                                <p:cTn id="24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0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1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/>
      <p:bldP spid="8" grpId="1"/>
      <p:bldP spid="9" grpId="2"/>
      <p:bldP spid="10" grpId="3"/>
      <p:bldP spid="11" grpId="4"/>
      <p:bldP spid="12" grpId="5"/>
      <p:bldP spid="13" grpId="6"/>
      <p:bldP spid="14" grpId="7"/>
      <p:bldP spid="15" grpId="8"/>
      <p:bldP spid="16" grpId="9"/>
      <p:bldP spid="17" grpId="10"/>
      <p:bldP spid="18" grpId="11"/>
      <p:bldP spid="19" grpId="12"/>
      <p:bldP spid="20" grpId="13"/>
      <p:bldP spid="21" grpId="14"/>
      <p:bldP spid="22" grpId="15"/>
      <p:bldP spid="23" grpId="16"/>
      <p:bldP spid="24" grpId="17"/>
      <p:bldP spid="25" grpId="18"/>
      <p:bldP spid="26" grpId="19"/>
      <p:bldP spid="27" grpId="20"/>
      <p:bldP spid="28" grpId="21"/>
      <p:bldP spid="29" grpId="22"/>
      <p:bldP spid="30" grpId="23"/>
      <p:bldP spid="31" grpId="24"/>
      <p:bldP spid="32" grpId="25"/>
      <p:bldP spid="33" grpId="26"/>
      <p:bldP spid="34" grpId="27"/>
      <p:bldP spid="35" grpId="28"/>
      <p:bldP spid="36" grpId="29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D8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2A5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Merci de votre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240280"/>
            <a:ext cx="5788152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5603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4C"/>
                </a:solidFill>
              </a:rPr>
              <a:t>Demonstration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474720"/>
            <a:ext cx="9445752" cy="594360"/>
          </a:xfrm>
          <a:prstGeom prst="rect">
            <a:avLst/>
          </a:prstGeom>
          <a:solidFill>
            <a:srgbClr val="2A5A6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502152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Démarrer l'API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502152"/>
            <a:ext cx="6766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CF0"/>
                </a:solidFill>
              </a:rPr>
              <a:t>uvicorn api.main:app --host 0.0.0.0 --port 8000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87952"/>
            <a:ext cx="9445752" cy="594360"/>
          </a:xfrm>
          <a:prstGeom prst="rect">
            <a:avLst/>
          </a:prstGeom>
          <a:solidFill>
            <a:srgbClr val="2A5A6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215384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Documentation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215384"/>
            <a:ext cx="6766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CF0"/>
                </a:solidFill>
              </a:rPr>
              <a:t>http://localhost:8000/docs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901183"/>
            <a:ext cx="9445752" cy="594360"/>
          </a:xfrm>
          <a:prstGeom prst="rect">
            <a:avLst/>
          </a:prstGeom>
          <a:solidFill>
            <a:srgbClr val="2A5A6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928616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Générer prédictions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928616"/>
            <a:ext cx="6766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CF0"/>
                </a:solidFill>
              </a:rPr>
              <a:t>python -m src.inference.predict --date 2026-04-01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CF0"/>
                </a:solidFill>
              </a:rPr>
              <a:t>TOURE Abdoul Aziz  —  MSc BIHAR 2025-2026  —  ESTIA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2509" dur="indefinite" restart="whenNotActive" nodeType="tmRoot">
          <p:childTnLst>
            <p:seq concurrent="1" nextAc="seek">
              <p:cTn id="2510" dur="indefinite" nodeType="mainSeq">
                <p:childTnLst>
                  <p:par>
                    <p:cTn id="2444" fill="hold">
                      <p:stCondLst>
                        <p:cond delay="0"/>
                      </p:stCondLst>
                      <p:childTnLst>
                        <p:par>
                          <p:cTn id="2445" fill="hold">
                            <p:stCondLst>
                              <p:cond delay="0"/>
                            </p:stCondLst>
                            <p:childTnLst>
                              <p:par>
                                <p:cTn id="2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9" fill="hold">
                      <p:stCondLst>
                        <p:cond delay="200"/>
                      </p:stCondLst>
                      <p:childTnLst>
                        <p:par>
                          <p:cTn id="2450" fill="hold">
                            <p:stCondLst>
                              <p:cond delay="0"/>
                            </p:stCondLst>
                            <p:childTnLst>
                              <p:par>
                                <p:cTn id="24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4" fill="hold">
                      <p:stCondLst>
                        <p:cond delay="400"/>
                      </p:stCondLst>
                      <p:childTnLst>
                        <p:par>
                          <p:cTn id="2455" fill="hold">
                            <p:stCondLst>
                              <p:cond delay="0"/>
                            </p:stCondLst>
                            <p:childTnLst>
                              <p:par>
                                <p:cTn id="24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9" fill="hold">
                      <p:stCondLst>
                        <p:cond delay="600"/>
                      </p:stCondLst>
                      <p:childTnLst>
                        <p:par>
                          <p:cTn id="2460" fill="hold">
                            <p:stCondLst>
                              <p:cond delay="0"/>
                            </p:stCondLst>
                            <p:childTnLst>
                              <p:par>
                                <p:cTn id="2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4" fill="hold">
                      <p:stCondLst>
                        <p:cond delay="800"/>
                      </p:stCondLst>
                      <p:childTnLst>
                        <p:par>
                          <p:cTn id="2465" fill="hold">
                            <p:stCondLst>
                              <p:cond delay="0"/>
                            </p:stCondLst>
                            <p:childTnLst>
                              <p:par>
                                <p:cTn id="24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9" fill="hold">
                      <p:stCondLst>
                        <p:cond delay="1000"/>
                      </p:stCondLst>
                      <p:childTnLst>
                        <p:par>
                          <p:cTn id="2470" fill="hold">
                            <p:stCondLst>
                              <p:cond delay="0"/>
                            </p:stCondLst>
                            <p:childTnLst>
                              <p:par>
                                <p:cTn id="24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4" fill="hold">
                      <p:stCondLst>
                        <p:cond delay="1200"/>
                      </p:stCondLst>
                      <p:childTnLst>
                        <p:par>
                          <p:cTn id="2475" fill="hold">
                            <p:stCondLst>
                              <p:cond delay="0"/>
                            </p:stCondLst>
                            <p:childTnLst>
                              <p:par>
                                <p:cTn id="24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9" fill="hold">
                      <p:stCondLst>
                        <p:cond delay="1400"/>
                      </p:stCondLst>
                      <p:childTnLst>
                        <p:par>
                          <p:cTn id="2480" fill="hold">
                            <p:stCondLst>
                              <p:cond delay="0"/>
                            </p:stCondLst>
                            <p:childTnLst>
                              <p:par>
                                <p:cTn id="24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4" fill="hold">
                      <p:stCondLst>
                        <p:cond delay="1600"/>
                      </p:stCondLst>
                      <p:childTnLst>
                        <p:par>
                          <p:cTn id="2485" fill="hold">
                            <p:stCondLst>
                              <p:cond delay="0"/>
                            </p:stCondLst>
                            <p:childTnLst>
                              <p:par>
                                <p:cTn id="24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9" fill="hold">
                      <p:stCondLst>
                        <p:cond delay="1800"/>
                      </p:stCondLst>
                      <p:childTnLst>
                        <p:par>
                          <p:cTn id="2490" fill="hold">
                            <p:stCondLst>
                              <p:cond delay="0"/>
                            </p:stCondLst>
                            <p:childTnLst>
                              <p:par>
                                <p:cTn id="2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4" fill="hold">
                      <p:stCondLst>
                        <p:cond delay="2000"/>
                      </p:stCondLst>
                      <p:childTnLst>
                        <p:par>
                          <p:cTn id="2495" fill="hold">
                            <p:stCondLst>
                              <p:cond delay="0"/>
                            </p:stCondLst>
                            <p:childTnLst>
                              <p:par>
                                <p:cTn id="24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9" fill="hold">
                      <p:stCondLst>
                        <p:cond delay="2200"/>
                      </p:stCondLst>
                      <p:childTnLst>
                        <p:par>
                          <p:cTn id="2500" fill="hold">
                            <p:stCondLst>
                              <p:cond delay="0"/>
                            </p:stCondLst>
                            <p:childTnLst>
                              <p:par>
                                <p:cTn id="25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4" fill="hold">
                      <p:stCondLst>
                        <p:cond delay="2400"/>
                      </p:stCondLst>
                      <p:childTnLst>
                        <p:par>
                          <p:cTn id="2505" fill="hold">
                            <p:stCondLst>
                              <p:cond delay="0"/>
                            </p:stCondLst>
                            <p:childTnLst>
                              <p:par>
                                <p:cTn id="2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5" grpId="0"/>
      <p:bldP spid="6" grpId="1"/>
      <p:bldP spid="7" grpId="2"/>
      <p:bldP spid="8" grpId="3"/>
      <p:bldP spid="9" grpId="4"/>
      <p:bldP spid="10" grpId="5"/>
      <p:bldP spid="11" grpId="6"/>
      <p:bldP spid="12" grpId="7"/>
      <p:bldP spid="13" grpId="8"/>
      <p:bldP spid="14" grpId="9"/>
      <p:bldP spid="15" grpId="10"/>
      <p:bldP spid="16" grpId="11"/>
      <p:bldP spid="17" grpId="12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