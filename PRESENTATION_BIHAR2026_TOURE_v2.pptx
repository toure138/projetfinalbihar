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88952" cy="2011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37160"/>
            <a:ext cx="12188952" cy="470916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48640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PROJET FINAL MLOps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600200"/>
            <a:ext cx="5788152" cy="640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9A84C"/>
                </a:solidFill>
              </a:rPr>
              <a:t>Prévision de Série Temporelle  •  Classification Multimodale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560320"/>
            <a:ext cx="9445752" cy="594360"/>
          </a:xfrm>
          <a:prstGeom prst="rect">
            <a:avLst/>
          </a:prstGeom>
          <a:solidFill>
            <a:srgbClr val="2A5A68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587752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</a:rPr>
              <a:t>Etudiant 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587752"/>
            <a:ext cx="7132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TOURE Abdoul Aziz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3310127"/>
            <a:ext cx="9445752" cy="594360"/>
          </a:xfrm>
          <a:prstGeom prst="rect">
            <a:avLst/>
          </a:prstGeom>
          <a:solidFill>
            <a:srgbClr val="2A5A68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337560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</a:rPr>
              <a:t>Programme 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337560"/>
            <a:ext cx="7132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MSc BIHAR 2025-2026 — ESTIA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4059935"/>
            <a:ext cx="9445752" cy="594360"/>
          </a:xfrm>
          <a:prstGeom prst="rect">
            <a:avLst/>
          </a:prstGeom>
          <a:solidFill>
            <a:srgbClr val="2A5A68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4087368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</a:rPr>
              <a:t>Modules 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087368"/>
            <a:ext cx="7132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M32 Machine Learning II  •  M33 Deep Learning II  •  M27 DevOps</a:t>
            </a:r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91440"/>
            <a:ext cx="12188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Sommaire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7238" y="841248"/>
            <a:ext cx="6094476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5486400" cy="1463040"/>
          </a:xfrm>
          <a:prstGeom prst="rect">
            <a:avLst/>
          </a:prstGeom>
          <a:solidFill>
            <a:srgbClr val="5E9EAB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914400" cy="146304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05840"/>
            <a:ext cx="914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28016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Introduction &amp; Contexte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05840"/>
            <a:ext cx="5486400" cy="1463040"/>
          </a:xfrm>
          <a:prstGeom prst="rect">
            <a:avLst/>
          </a:prstGeom>
          <a:solidFill>
            <a:srgbClr val="5E9EAB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005840"/>
            <a:ext cx="914400" cy="146304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005840"/>
            <a:ext cx="914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28016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Données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43200"/>
            <a:ext cx="5486400" cy="1463040"/>
          </a:xfrm>
          <a:prstGeom prst="rect">
            <a:avLst/>
          </a:prstGeom>
          <a:solidFill>
            <a:srgbClr val="5E9EAB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43200"/>
            <a:ext cx="914400" cy="146304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743200"/>
            <a:ext cx="914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01752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Classification
Multimodale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743200"/>
            <a:ext cx="5486400" cy="1463040"/>
          </a:xfrm>
          <a:prstGeom prst="rect">
            <a:avLst/>
          </a:prstGeom>
          <a:solidFill>
            <a:srgbClr val="5E9EAB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743200"/>
            <a:ext cx="914400" cy="146304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743200"/>
            <a:ext cx="914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01752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Prévision
Série Temporelle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480560"/>
            <a:ext cx="5486400" cy="1463040"/>
          </a:xfrm>
          <a:prstGeom prst="rect">
            <a:avLst/>
          </a:prstGeom>
          <a:solidFill>
            <a:srgbClr val="5E9EAB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480560"/>
            <a:ext cx="914400" cy="146304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480560"/>
            <a:ext cx="914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75488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MLOps / DevOps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480560"/>
            <a:ext cx="5486400" cy="1463040"/>
          </a:xfrm>
          <a:prstGeom prst="rect">
            <a:avLst/>
          </a:prstGeom>
          <a:solidFill>
            <a:srgbClr val="5E9EAB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4480560"/>
            <a:ext cx="914400" cy="146304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4480560"/>
            <a:ext cx="914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75488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Résultats &amp;
Conclusion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212080" y="1371600"/>
            <a:ext cx="1737360" cy="1371600"/>
          </a:xfrm>
          <a:prstGeom prst="rect">
            <a:avLst/>
          </a:prstGeom>
          <a:solidFill>
            <a:srgbClr val="2A5A68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1208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C9A84C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017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Introduction &amp; Contexte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26180" y="3858768"/>
            <a:ext cx="47091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Contexte du Projet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Objectif Global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270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Construire un pipeline MLOps complet de bout en bout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92938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94767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Deux sous-projets indépendants : Multimodal + Série Temporelle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514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Sous-projet 1 — Classification Multimodale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1752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03580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Prédire plusieurs labels sur des images + descriptions textuelles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43814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45643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Dataset : Kaggle Multi-label Classification Competition 2023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02336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40233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Sous-projet 2 — Prévision de Série Temporelle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2628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5445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Prédire la température sur 3 jours (horizon 72h = 24 pas x 3h)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4690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496519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Données : Open-Meteo, Côte d'Ivoire, 2023-2025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53212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5532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Partie MLOps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03504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053327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Pipeline entraînement → inférence → API REST → CI/CD → monitoring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Pourquoi ces choix technologiques ?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PyTorch — Framework Deep Learning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270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Flexibilité maximale pour les architectures custom (LSTM, BiLSTM, EfficientNet)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92938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94767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Debuggage facile (eager mode) — meilleur contrôle que TensorFlow sur Windows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514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FastAPI — API REST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1752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03580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Performances élevées (ASGI async) — typage automatique — docs Swagger auto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43814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45643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Natif pour les projets Python ML vs Flask (plus moderne, plus rapide)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02336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40233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MLflow — Tracking &amp; Registry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2628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5445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Standard industrie — log params/métriques/artefacts/datasets en 3 lignes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4690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496519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Model Registry intégré — versionning automatique des modèles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53212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5532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SQLite — Base de données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03504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053327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Zero-configuration — portable — parfait pour un projet local/batch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645566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1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Performant pour les volumes de données météo (~10k lignes)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7040879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040879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GitHub Actions — CI/CD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754380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7562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Natif GitHub — gratuit — GITHUB_TOKEN auto (pas de secrets)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212080" y="1371600"/>
            <a:ext cx="1737360" cy="1371600"/>
          </a:xfrm>
          <a:prstGeom prst="rect">
            <a:avLst/>
          </a:prstGeom>
          <a:solidFill>
            <a:srgbClr val="2A5A68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1208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C9A84C"/>
                </a:solidFill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017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Données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726180" y="3858768"/>
            <a:ext cx="47091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Dataset Multimodal — Kaggle 2023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Structure du dataset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270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~10 000 images (.jpg) + train.csv (ImageID, Labels, Caption)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92938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94767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18 classes de labels (labels 1-19, label 12 absent)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350008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36829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Chaque image peut avoir PLUSIEURS labels simultanément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935224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935224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Défi principal : déséquilibre des classes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43814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45643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Classes fréquentes (label 1, 3, 8) : &gt; 2000 occurrences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858768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387705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Classes rares (label 15, 2, 14) : &lt; 500 occurrences — ratio max/min ≈ 10:1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279392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2976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Solution : pos_weight = N_neg/N_pos dans BCEWithLogitsLoss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864608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86460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Problème CSV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367528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538581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Captions contiennent des virgules → lignes mal formées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788152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5806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Solution : pd.read_csv(TRAIN_CSV, on_bad_lines='skip')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6373368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3733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Split : 70% train / 15% val / 15%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monitoring/output/eda_label_distribution.png</a:t>
            </a:r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EDA Multimodal — Texte &amp; Co-occurrences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da_word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486400" cy="4846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5852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ECF0"/>
                </a:solidFill>
              </a:rPr>
              <a:t>Mots les plus fréquents dans les captions</a:t>
            </a:r>
          </a:p>
        </p:txBody>
      </p:sp>
      <p:pic>
        <p:nvPicPr>
          <p:cNvPr id="9" name="Picture 8" descr="eda_cooccur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914400"/>
            <a:ext cx="5486400" cy="484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5852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ECF0"/>
                </a:solidFill>
              </a:rPr>
              <a:t>Labels qui co-apparaissent souvent (heatmap)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Dataset Météo — Série Temporelle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Source : API Open-Meteo (gratuite, no auth)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270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Variable : temperature_2m — Localisation : Côte d'Ivoire (6.82°N, 5.28°W)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92938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94767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Période : 2023-01-01 → 2025-12-31 | ~9 500 observations à 3h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514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Agrégation 3 heures (requis par le sujet)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1752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03580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Valeur à 00h = moyenne(00h, 01h, 02h)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43814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45643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Valeur à 03h = moyenne(03h, 04h, 05h) … etc.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858768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387705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Implémentation : df.resample('3h', label='left').mean()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443984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443984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Patterns identifiés par l'EDA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4690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496519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Saisonnalité journalière forte : pic 14h–15h, minimum 06h (amplitude ≈ 8°C)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367528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538581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Saisonnalité annuelle : saison sèche (DJF) vs saison humide (MAM/SON)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788152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5806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Autocorrélation : ρ≈0.97 à lag 1, pic à lag 8 (24h) et lag 56 (7 jours)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6208776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2270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Légère tendance haussière : +0.2°C/an sur 2023–2025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793992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679399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Split temporel : 70% / 15% / 15% (chronologique)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7296912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7315199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Fit StandardScaler sur train uniquement — pas de fuite de données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212080" y="1371600"/>
            <a:ext cx="1737360" cy="1371600"/>
          </a:xfrm>
          <a:prstGeom prst="rect">
            <a:avLst/>
          </a:prstGeom>
          <a:solidFill>
            <a:srgbClr val="2A5A68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1208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C9A84C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017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Classification Multimodale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26180" y="3858768"/>
            <a:ext cx="47091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1148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D6ECF0"/>
                </a:solidFill>
              </a:rPr>
              <a:t>Images • Textes • Fusion</a:t>
            </a:r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Architecture — 3 Modèles Images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05840"/>
            <a:ext cx="3566160" cy="1188720"/>
          </a:xfrm>
          <a:prstGeom prst="rect">
            <a:avLst/>
          </a:prstGeom>
          <a:solidFill>
            <a:srgbClr val="3A708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105156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</a:rPr>
              <a:t>Baseline CNN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38988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Conv(32)→BN→Pool
Conv(64)→BN→Pool
Conv(128)→BN→Pool
GAP→Dense(256)→Dense(18)
622 866 params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005840"/>
            <a:ext cx="3566160" cy="1188720"/>
          </a:xfrm>
          <a:prstGeom prst="rect">
            <a:avLst/>
          </a:prstGeom>
          <a:solidFill>
            <a:srgbClr val="3A708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05156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</a:rPr>
              <a:t>EfficientNetB0 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38988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EfficientNetB0 GELÉ
(4M params figés)
+ tête entraînable
Dense(512)→Dense(18)
23 058 params entr.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1005840"/>
            <a:ext cx="3566160" cy="1188720"/>
          </a:xfrm>
          <a:prstGeom prst="rect">
            <a:avLst/>
          </a:prstGeom>
          <a:solidFill>
            <a:srgbClr val="1A506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05156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7AE60"/>
                </a:solidFill>
              </a:rPr>
              <a:t>EfficientNetB0 FT 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138988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3 derniers blocs dégelés
+ nouvelle tête
3.18M / 4.03M params
→ adaptation au domaine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2468880"/>
            <a:ext cx="11795760" cy="45720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2514600"/>
            <a:ext cx="1179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Paramètres communs : Adam lr=1e-3  |  BCEWithLogitsLoss + pos_weight  |  batch=32  |  20 epochs  |  EarlyStopping patience=5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3108960"/>
            <a:ext cx="3566160" cy="256032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" y="3154679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Résultats 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" y="3493008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F1 micro : 0.2873
F1 macro : 0.2072
Précision : 0.1770
Rappel : 0.7621
Sous-ajustement
features CNN limitées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3108960"/>
            <a:ext cx="3566160" cy="256032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3154679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Résultats FE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3493008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F1 micro : 0.4544
F1 macro : 0.3484
Précision : 0.3177
Rappel : 0.7974
+18pts vs baseline
Features ImageNet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0" y="3108960"/>
            <a:ext cx="3566160" cy="2560320"/>
          </a:xfrm>
          <a:prstGeom prst="rect">
            <a:avLst/>
          </a:prstGeom>
          <a:solidFill>
            <a:srgbClr val="1A506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3154679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7AE60"/>
                </a:solidFill>
              </a:rPr>
              <a:t>Résultats FT 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493008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F1 micro : 0.6665
F1 macro : 0.5553
Précision : 0.5748
Rappel : 0.7930
+38pts vs baseline
MEILLEUR MODELE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11</a:t>
            </a:r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Courbes &amp; Grad-CAM — Classification Images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g_EfficientNetB0_Fine-tu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486400" cy="4846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5852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ECF0"/>
                </a:solidFill>
              </a:rPr>
              <a:t>EfficientNetB0 Fine-tuning — courbes d'entraînement</a:t>
            </a:r>
          </a:p>
        </p:txBody>
      </p:sp>
      <p:pic>
        <p:nvPicPr>
          <p:cNvPr id="9" name="Picture 8" descr="img_gradc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914400"/>
            <a:ext cx="5486400" cy="484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5852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ECF0"/>
                </a:solidFill>
              </a:rPr>
              <a:t>Grad-CAM — zones activées pour chaque prédiction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Architecture — 3 Modèles Textes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05840"/>
            <a:ext cx="3749039" cy="1280160"/>
          </a:xfrm>
          <a:prstGeom prst="rect">
            <a:avLst/>
          </a:prstGeom>
          <a:solidFill>
            <a:srgbClr val="3A708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105156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TF-IDF + LogReg (baseline)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389888"/>
            <a:ext cx="3657599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TfidfVectorizer(10 000 features, ngram(1,2))
OneVsRestClassifier(LogisticRegression)
Rapide, interprétable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005840"/>
            <a:ext cx="3749039" cy="1280160"/>
          </a:xfrm>
          <a:prstGeom prst="rect">
            <a:avLst/>
          </a:prstGeom>
          <a:solidFill>
            <a:srgbClr val="3A708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105156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TF-IDF + MLP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59" y="1389888"/>
            <a:ext cx="3657599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Input(10000)→Dense(512,relu)
→Dropout→Dense(256)→Dense(18)
Capture non-linéarités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005840"/>
            <a:ext cx="3749039" cy="1280160"/>
          </a:xfrm>
          <a:prstGeom prst="rect">
            <a:avLst/>
          </a:prstGeom>
          <a:solidFill>
            <a:srgbClr val="1A506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05156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7AE60"/>
                </a:solidFill>
              </a:rPr>
              <a:t>Bi-LSTM 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1389888"/>
            <a:ext cx="3657599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Embedding(5000, 128)
→BiLSTM(128)→BiLSTM(64)
→Dense(128)→Dense(18)
2.3M params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2514600"/>
            <a:ext cx="3749039" cy="228600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256032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Résultats 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2898648"/>
            <a:ext cx="365759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F1 micro : ~0.45
Pas de représentation
de l'ordre des mots
Baseline solide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2514600"/>
            <a:ext cx="3749039" cy="228600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256032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Résultats MLP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59" y="2898648"/>
            <a:ext cx="365759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F1 micro : ~0.55
Capture relations
non-linéaires
entre mots TF-IDF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2514600"/>
            <a:ext cx="3749039" cy="2286000"/>
          </a:xfrm>
          <a:prstGeom prst="rect">
            <a:avLst/>
          </a:prstGeom>
          <a:solidFill>
            <a:srgbClr val="1A506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256032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7AE60"/>
                </a:solidFill>
              </a:rPr>
              <a:t>Résultats Bi-LSTM 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898648"/>
            <a:ext cx="365759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F1 micro : ~0.66
Contexte bidirectionnel
Capture séquences
MEILLEUR MODELE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" y="5029200"/>
            <a:ext cx="11795760" cy="54864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5074920"/>
            <a:ext cx="1179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Interprétabilité : LIME — mots les plus influents par prédiction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LIME &amp; Courbes — Classification Textes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xt_bilstm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486400" cy="4846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5852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ECF0"/>
                </a:solidFill>
              </a:rPr>
              <a:t>Bi-LSTM — courbes d'entraînement (train / val)</a:t>
            </a:r>
          </a:p>
        </p:txBody>
      </p:sp>
      <p:pic>
        <p:nvPicPr>
          <p:cNvPr id="9" name="Picture 8" descr="text_lime_explan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914400"/>
            <a:ext cx="5486400" cy="484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5852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ECF0"/>
                </a:solidFill>
              </a:rPr>
              <a:t>LIME — mots les plus influents pour chaque label prédit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14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Architecture — Fusion Multimodale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05840"/>
            <a:ext cx="3657600" cy="1188720"/>
          </a:xfrm>
          <a:prstGeom prst="rect">
            <a:avLst/>
          </a:prstGeom>
          <a:solidFill>
            <a:srgbClr val="3A708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105156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EfficientNetB0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389888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Images 224×224
→ vecteur 1280-dim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3474720"/>
            <a:ext cx="3657600" cy="1188720"/>
          </a:xfrm>
          <a:prstGeom prst="rect">
            <a:avLst/>
          </a:prstGeom>
          <a:solidFill>
            <a:srgbClr val="3A708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3520439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Bi-LSTM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" y="3858768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Captions tokenisées
→ vecteur 256-dim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960120"/>
            <a:ext cx="3657600" cy="1920240"/>
          </a:xfrm>
          <a:prstGeom prst="rect">
            <a:avLst/>
          </a:prstGeom>
          <a:solidFill>
            <a:srgbClr val="1A506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100584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7AE60"/>
                </a:solidFill>
              </a:rPr>
              <a:t>Early Fusion (★)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59" y="1344168"/>
            <a:ext cx="3566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Extracteurs GELÉS
Concat(1536-dim)
→ Dense(512)
→ Dense(18)
5.96M params entr.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3108960"/>
            <a:ext cx="3657600" cy="192024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3154679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</a:rPr>
              <a:t>Joint Fusion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59" y="3493008"/>
            <a:ext cx="3566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Extracteurs dégelés
Gate attention:
w=softmax(Linear(1536,2))
fused=w0*img+w1*txt
→ Dense(18)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960120"/>
            <a:ext cx="3749039" cy="914400"/>
          </a:xfrm>
          <a:prstGeom prst="rect">
            <a:avLst/>
          </a:prstGeom>
          <a:solidFill>
            <a:srgbClr val="1A506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00584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7AE60"/>
                </a:solidFill>
              </a:rPr>
              <a:t>Early Fusion 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344168"/>
            <a:ext cx="36575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F1 micro : 0.7383  |  F1 macro : 0.6665
+13.1% vs image  /  +12.3% vs texte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2103120"/>
            <a:ext cx="3749039" cy="68580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2148839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Joint Fusion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487168"/>
            <a:ext cx="36575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F1 micro : 0.6761  |  Attention collapse !
image=1.00 / texte=0.00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108960"/>
            <a:ext cx="3749039" cy="68580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154679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Image seule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493008"/>
            <a:ext cx="36575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F1 micro : 0.6531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4023360"/>
            <a:ext cx="3749039" cy="68580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406908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Texte seul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407408"/>
            <a:ext cx="36575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F1 micro : 0.6575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5029200"/>
            <a:ext cx="11795760" cy="54864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2880" y="5074920"/>
            <a:ext cx="1179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392B"/>
                </a:solidFill>
              </a:rPr>
              <a:t>Observation : Joint Fusion souffre d'un attention collapse — image poids=1.0, texte=0.0 → Early Fusion GAGNE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15</a:t>
            </a:r>
          </a:p>
        </p:txBody>
      </p:sp>
    </p:spTree>
  </p:cSld>
  <p:clrMapOvr>
    <a:masterClrMapping/>
  </p:clrMapOvr>
  <p:transition spd="fast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Résultats Fusion — Comparaison &amp;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usion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486400" cy="4846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5852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ECF0"/>
                </a:solidFill>
              </a:rPr>
              <a:t>Comparaison F1 micro des 4 configurations</a:t>
            </a:r>
          </a:p>
        </p:txBody>
      </p:sp>
      <p:pic>
        <p:nvPicPr>
          <p:cNvPr id="9" name="Picture 8" descr="fusion_attention_weigh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914400"/>
            <a:ext cx="5486400" cy="484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5852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ECF0"/>
                </a:solidFill>
              </a:rPr>
              <a:t>Poids d'attention Joint Fusion — collapse sur modalité image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16</a:t>
            </a:r>
          </a:p>
        </p:txBody>
      </p:sp>
    </p:spTree>
  </p:cSld>
  <p:clrMapOvr>
    <a:masterClrMapping/>
  </p:clrMapOvr>
  <p:transition spd="fast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212080" y="1371600"/>
            <a:ext cx="1737360" cy="1371600"/>
          </a:xfrm>
          <a:prstGeom prst="rect">
            <a:avLst/>
          </a:prstGeom>
          <a:solidFill>
            <a:srgbClr val="2A5A68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1208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C9A84C"/>
                </a:solidFill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017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Prévision de Série Temporelle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26180" y="3858768"/>
            <a:ext cx="47091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1148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D6ECF0"/>
                </a:solidFill>
              </a:rPr>
              <a:t>LSTM • Prophet • TFT</a:t>
            </a:r>
          </a:p>
        </p:txBody>
      </p:sp>
    </p:spTree>
  </p:cSld>
  <p:clrMapOvr>
    <a:masterClrMapping/>
  </p:clrMapOvr>
  <p:transition spd="fast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Feature Engineering — 49 Variables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Pourquoi autant de features pour le LSTM 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270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Le LSTM apprend des patterns séquentiels MAIS ne calcule pas de lags explicitement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92938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94767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Fournir les lags et statistiques roulantes donne un avantage décisif (facteur x27 vs TFT)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514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Features cycliques (6) — encodage sin/cos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1752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03580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hour_sin/cos, day_sin/cos, month_sin/cos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43814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45643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Sin/cos évite la discontinuité : heure 23 et 00h sont proches dans l'espace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02336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40233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Lag features (26) — autocorrélation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2628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5445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Lags 1→24 (72h), lag 36 (108h), lag 48 (6 jours)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4690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496519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Capturent directement la forte autocorrélation ρ≈0.97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53212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5532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Rolling statistics (10) — tendance locale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03504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053327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Moyenne + écart-type sur fenêtres 3h, 6h, 8h (24h), 12h, 24h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6620255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620255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Différences (3) — taux de variation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7123175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7141463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diff_1, diff_2, diff_8 — variation relative entre pas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18</a:t>
            </a:r>
          </a:p>
        </p:txBody>
      </p:sp>
    </p:spTree>
  </p:cSld>
  <p:clrMapOvr>
    <a:masterClrMapping/>
  </p:clrMapOvr>
  <p:transition spd="fast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Architecture LSTM Multi-step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2286000" cy="502920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5156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ENTRÉE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89888"/>
            <a:ext cx="2194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Séquence
24 pas × 49 features
(72h historique)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1005840"/>
            <a:ext cx="1737360" cy="109728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40" y="105156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</a:rPr>
              <a:t>LSTM(128)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389888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Dropout(0.2)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2286000"/>
            <a:ext cx="1737360" cy="109728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34640" y="233172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</a:rPr>
              <a:t>LSTM(64)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670048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Dropout(0.2)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4640" y="3566160"/>
            <a:ext cx="1737360" cy="109728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3611879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</a:rPr>
              <a:t>LSTM(32)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950208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Dropout(0.2)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1005840"/>
            <a:ext cx="1737360" cy="109728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105156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6ECF0"/>
                </a:solidFill>
              </a:rPr>
              <a:t>Dense(64)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1389888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ReLU  Dropout(0.2)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286000"/>
            <a:ext cx="1737360" cy="109728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233172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6ECF0"/>
                </a:solidFill>
              </a:rPr>
              <a:t>Dense(32)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670048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ReLU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1737360"/>
            <a:ext cx="1737360" cy="1371600"/>
          </a:xfrm>
          <a:prstGeom prst="rect">
            <a:avLst/>
          </a:prstGeom>
          <a:solidFill>
            <a:srgbClr val="1A504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783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7AE60"/>
                </a:solidFill>
              </a:rPr>
              <a:t>Dense(24)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2121408"/>
            <a:ext cx="16459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Sortie linéaire
24 pas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1005840"/>
            <a:ext cx="3108960" cy="502920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1051560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PARAMÈTRES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1389888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Optimizer : Adam
lr = 1e-3
Loss : MSELoss
Batch : 32
Max epochs : 100
EarlyStopping : 10
ReduceLROnPlateau :
  factor=0.5, patience=5
Device : CPU/CUDA auto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126480"/>
            <a:ext cx="11887200" cy="45720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6172200"/>
            <a:ext cx="1188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</a:rPr>
              <a:t>Standardscaler fit uniquement sur train — séquences : fenêtre glissante 24 pas → prédit 24 pas suivants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19</a:t>
            </a:r>
          </a:p>
        </p:txBody>
      </p:sp>
    </p:spTree>
  </p:cSld>
  <p:clrMapOvr>
    <a:masterClrMapping/>
  </p:clrMapOvr>
  <p:transition spd="fast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Résultats — MAE par horizon (jeu de test)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96012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C9A84C"/>
                          </a:solidFill>
                        </a:rPr>
                        <a:t>Horizon</a:t>
                      </a:r>
                    </a:p>
                  </a:txBody>
                  <a:tcPr>
                    <a:solidFill>
                      <a:srgbClr val="2A5A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C9A84C"/>
                          </a:solidFill>
                        </a:rPr>
                        <a:t>Prophet</a:t>
                      </a:r>
                    </a:p>
                    <a:p>
                      <a:r>
                        <a:t>(baseline stat.)</a:t>
                      </a:r>
                    </a:p>
                  </a:txBody>
                  <a:tcPr>
                    <a:solidFill>
                      <a:srgbClr val="2A5A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C9A84C"/>
                          </a:solidFill>
                        </a:rPr>
                        <a:t>LSTM ★</a:t>
                      </a:r>
                    </a:p>
                    <a:p>
                      <a:r>
                        <a:t>(modèle prod.)</a:t>
                      </a:r>
                    </a:p>
                  </a:txBody>
                  <a:tcPr>
                    <a:solidFill>
                      <a:srgbClr val="2A5A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C9A84C"/>
                          </a:solidFill>
                        </a:rPr>
                        <a:t>TFT</a:t>
                      </a:r>
                    </a:p>
                    <a:p>
                      <a:r>
                        <a:t>(exploratoire q50)</a:t>
                      </a:r>
                    </a:p>
                  </a:txBody>
                  <a:tcPr>
                    <a:solidFill>
                      <a:srgbClr val="2A5A6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+3h  (pas 1)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1.3770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0.0434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1.9465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+24h (J+1)</a:t>
                      </a:r>
                    </a:p>
                  </a:txBody>
                  <a:tcPr>
                    <a:solidFill>
                      <a:srgbClr val="3E7A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1.4100</a:t>
                      </a:r>
                    </a:p>
                  </a:txBody>
                  <a:tcPr>
                    <a:solidFill>
                      <a:srgbClr val="3E7A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0.0506</a:t>
                      </a:r>
                    </a:p>
                  </a:txBody>
                  <a:tcPr>
                    <a:solidFill>
                      <a:srgbClr val="3E7A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3.4261</a:t>
                      </a:r>
                    </a:p>
                  </a:txBody>
                  <a:tcPr>
                    <a:solidFill>
                      <a:srgbClr val="3E7A8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+48h (J+2)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1.4137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0.0537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0.4167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+72h (J+3)</a:t>
                      </a:r>
                    </a:p>
                  </a:txBody>
                  <a:tcPr>
                    <a:solidFill>
                      <a:srgbClr val="3E7A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1.4200</a:t>
                      </a:r>
                    </a:p>
                  </a:txBody>
                  <a:tcPr>
                    <a:solidFill>
                      <a:srgbClr val="3E7A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0.0503</a:t>
                      </a:r>
                    </a:p>
                  </a:txBody>
                  <a:tcPr>
                    <a:solidFill>
                      <a:srgbClr val="3E7A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1.0303</a:t>
                      </a:r>
                    </a:p>
                  </a:txBody>
                  <a:tcPr>
                    <a:solidFill>
                      <a:srgbClr val="3E7A8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9A84C"/>
                          </a:solidFill>
                        </a:rPr>
                        <a:t>Moyenne ★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1.4107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0.0516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1.5763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0690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C9A84C"/>
                </a:solidFill>
              </a:rPr>
              <a:t>★ LSTM : MAE ~27× inférieur à Prophet et TFT — Feature engineering = clé du succès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20</a:t>
            </a:r>
          </a:p>
        </p:txBody>
      </p:sp>
    </p:spTree>
  </p:cSld>
  <p:clrMapOvr>
    <a:masterClrMapping/>
  </p:clrMapOvr>
  <p:transition spd="fast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Pourquoi LSTM &gt; TFT ici ?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LSTM avec 49 features ingéniérées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270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Lags explicites + rolling stats → l'information est DIRECTEMENT accessible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92938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94767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Moins de capacité requise pour découvrir les patterns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350008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36829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Entraînement 4 min (CPU) — convergence rapide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935224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935224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TFT — Temporal Fusion Transformer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43814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45643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Conçu pour découvrir les patterns AUTOMATIQUEMENT (lags, saisonnalité)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858768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387705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Nécessite plus de données et d'epochs pour rivaliser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279392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2976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Avantages uniques : intervalles de confiance q10-q90 + interprétabilité (VSN)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864608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86460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Avantage unique du TFT en production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367528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538581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Variable Selection Networks : quelles features comptent le plus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788152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5806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Attention temporelle : quels instants passés influencent la prévision 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6208776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2270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→ Utilisé pour l'analyse et l'interprétabilité, LSTM pour la précision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793992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679399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Prophet — Rôle de baseline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7296912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7315199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Rapide à entraîner (30s), aucun GPU requis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7717536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7735823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Donne une borne inférieure de performance mesurable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21</a:t>
            </a:r>
          </a:p>
        </p:txBody>
      </p:sp>
    </p:spTree>
  </p:cSld>
  <p:clrMapOvr>
    <a:masterClrMapping/>
  </p:clrMapOvr>
  <p:transition spd="fast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Monitoring — Prédictions LSTM vs Réel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port_2026-03-25_2026-03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ECF0"/>
                </a:solidFill>
              </a:rPr>
              <a:t>Comparaison automatique prédictions vs températures observées — MAE calculé par src/monitoring/report.py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22</a:t>
            </a:r>
          </a:p>
        </p:txBody>
      </p:sp>
    </p:spTree>
  </p:cSld>
  <p:clrMapOvr>
    <a:masterClrMapping/>
  </p:clrMapOvr>
  <p:transition spd="fast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212080" y="1371600"/>
            <a:ext cx="1737360" cy="1371600"/>
          </a:xfrm>
          <a:prstGeom prst="rect">
            <a:avLst/>
          </a:prstGeom>
          <a:solidFill>
            <a:srgbClr val="2A5A68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1208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C9A84C"/>
                </a:solidFill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017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MLOps / DevOps</a:t>
            </a:r>
          </a:p>
        </p:txBody>
      </p:sp>
      <p:sp>
        <p:nvSpPr>
          <p:cNvPr id="7" name="Rectangle 6"/>
          <p:cNvSpPr/>
          <p:nvPr/>
        </p:nvSpPr>
        <p:spPr>
          <a:xfrm>
            <a:off x="3726180" y="3858768"/>
            <a:ext cx="47091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1148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D6ECF0"/>
                </a:solidFill>
              </a:rPr>
              <a:t>Architecture • API • CI/CD • Docker • Tests</a:t>
            </a:r>
          </a:p>
        </p:txBody>
      </p:sp>
    </p:spTree>
  </p:cSld>
  <p:clrMapOvr>
    <a:masterClrMapping/>
  </p:clrMapOvr>
  <p:transition spd="fast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Architecture de l'Application — Flux de Données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960120"/>
            <a:ext cx="2560320" cy="109728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10058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Open-Meteo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344168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Température 2m
Côte d'Ivoire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960120"/>
            <a:ext cx="2560320" cy="109728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10058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fetch_data.py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39" y="1344168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Agrégation 3h
resample().mean()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960120"/>
            <a:ext cx="2560320" cy="109728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0058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weather.db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1344168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SQLite
weather_data table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2331720"/>
            <a:ext cx="2560320" cy="109728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2377439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train.py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2715768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LSTM PyTorch
49 features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0" y="2331720"/>
            <a:ext cx="2560320" cy="109728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2377439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MLflow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2715768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params + métriques
+ artefacts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0" y="960120"/>
            <a:ext cx="2560320" cy="109728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10058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model/registry/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1344168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lstm_model.pth
scaler.pkl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17520" y="2331720"/>
            <a:ext cx="2560320" cy="109728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17520" y="2377439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predict.py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39" y="2715768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Batch inference
24 pas (72h)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" y="2331720"/>
            <a:ext cx="2560320" cy="109728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" y="2377439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predictions table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" y="2715768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model_id, date
horizon, predicted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3703320"/>
            <a:ext cx="5303520" cy="1097280"/>
          </a:xfrm>
          <a:prstGeom prst="rect">
            <a:avLst/>
          </a:prstGeom>
          <a:solidFill>
            <a:srgbClr val="1A506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2880" y="37490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FastAPI — api/main.py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" y="4087368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GET /predictions  |  GET /predictions/combined
GET /version  |  GET /health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2160" y="3703320"/>
            <a:ext cx="2560320" cy="109728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0" y="3749039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report.py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97880" y="4087368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MAE prédictions
vs réel → PNG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0" y="3703320"/>
            <a:ext cx="2560320" cy="109728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49039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monitoring/output/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32520" y="4087368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Graphiques
de suivi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24</a:t>
            </a:r>
          </a:p>
        </p:txBody>
      </p:sp>
    </p:spTree>
  </p:cSld>
  <p:clrMapOvr>
    <a:masterClrMapping/>
  </p:clrMapOvr>
  <p:transition spd="fast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API REST FastAPI — 4 Endpoints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GET /predictions?date=YYYY-MM-DD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270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Retourne les 24 prédictions (72h) générées pour une date donnée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92938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94767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Réponse : {date, model_id, n_steps:24, predictions:[{horizon_step, target_time, predicted}]}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514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GET /predictions/combined?start=...&amp;end=...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1752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03580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Joint prédictions + températures réelles (monitoring post-hoc)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43814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45643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Calcule et retourne : MAE, biais, erreur par point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02336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40233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GET /version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2628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5445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software_version : 0.0.0 en local — commit SHA injecté en CI/CD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4690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496519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model_version : MLflow run_id du dernier modèle entraîné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53212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5532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GET /health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03504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053327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Retourne {status: ok} — utilisé par Docker et CI/CD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6620255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620255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Logging automatique sur chaque endpoint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7123175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7141463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Format : timestamp | level | GET /path → status (latence ms)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25</a:t>
            </a:r>
          </a:p>
        </p:txBody>
      </p:sp>
    </p:spTree>
  </p:cSld>
  <p:clrMapOvr>
    <a:masterClrMapping/>
  </p:clrMapOvr>
  <p:transition spd="fast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Pipeline CI/CD — GitHub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960120"/>
            <a:ext cx="3566160" cy="411480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100584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Job 1 :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344168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Déclenché : push + PR
1. Checkout code
2. Setup Python 3.11
   + pip cache
3. pip install -r requirements.txt
4. mkdir data/ model/
   monitoring/
5. pytest tests/ -v
   → 7 tests
Résultat : 7 passed
   3.09s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960120"/>
            <a:ext cx="3566160" cy="411480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100584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Job 2 :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1344168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Déclenché : push seul
Dépend de : test
1. Checkout code
2. Login ghcr.io
   GITHUB_TOKEN auto
   (pas de secret)
3. docker build
   --build-arg
   GIT_COMMIT_ID
   =${{github.sha}}
4. Push :latest + :sha
   → ghcr.io/[owner]/
   temperature-forecast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960120"/>
            <a:ext cx="4114800" cy="411480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100584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Job 3 : integration-test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1344168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Déclenché : push seul
Dépend de : build
1. Pull image GHCR
2. docker run -d
   -p 8000:8000
3. Wait 30s /health=ok
4. Test /health → "ok"
5. Test /version
   → contient SHA
6. Test /predictions
   date=2099 → 404
7. docker stop (always)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5303520"/>
            <a:ext cx="11795760" cy="457200"/>
          </a:xfrm>
          <a:prstGeom prst="rect">
            <a:avLst/>
          </a:prstGeom>
          <a:solidFill>
            <a:srgbClr val="2A5A6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5349240"/>
            <a:ext cx="1179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Securite : aucun secret en clair — GITHUB_TOKEN genere automatiquement par GitHub Actions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26</a:t>
            </a:r>
          </a:p>
        </p:txBody>
      </p:sp>
    </p:spTree>
  </p:cSld>
  <p:clrMapOvr>
    <a:masterClrMapping/>
  </p:clrMapOvr>
  <p:transition spd="fast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Docker — Couches optimisées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Base : python:3.11-slim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270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Image légère — pas d'Ubuntu complet — réduit la taille finale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093976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2093976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Layer 2 — Dépendances (cachée si requirements.txt inchangé)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596896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61518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COPY requirements.txt 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1752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03580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RUN pip install --no-cache-dir -r requirements.txt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43814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45643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→ Rebuild UNIQUEMENT si requirements.txt change (pas à chaque push de code)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02336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40233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Layer 3 — Code applicatif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2628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5445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COPY src/ api/ model/ data/ ./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4690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496519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→ Rebuild du code sans réinstaller les dépendances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53212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5532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Injection de version (CI/CD)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03504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053327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ARG GIT_COMMIT_ID=0.0.0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645566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1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ENV GIT_COMMIT_ID=${GIT_COMMIT_ID}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876288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6894575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→ GET /version retourne le commit SHA exact du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7461504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7461504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Démarrage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796442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798271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CMD ["uvicorn", "api.main:app", "--host", "0.0.0.0", "--port", "8000"]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27</a:t>
            </a:r>
          </a:p>
        </p:txBody>
      </p:sp>
    </p:spTree>
  </p:cSld>
  <p:clrMapOvr>
    <a:masterClrMapping/>
  </p:clrMapOvr>
  <p:transition spd="fast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Tests — 7 tests (tous passes)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Isolation : DB SQLite temporaire (tempfile.mkdtemp())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270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Patch cfg.DB_PATH avant import de l'app — aucun impact sur la prod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093976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2093976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Tests unitaires (3)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596896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61518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test_health — GET /health → 200, status=ok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1752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03580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test_version_structure — software_version + model_version présents et de type 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43814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45643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test_predictions_date_format — date invalide → 404 ou 422 (pas de crash)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02336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40233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Tests d'intégration (4)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2628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5445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test_predictions_not_found — date inconnue → 404 avec détail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4690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496519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test_predictions_ok — insertion DB → GET /predictions → 200, 24 steps, structure correcte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367528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538581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test_combined_not_found — période vide → 404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788152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5806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test_combined_ok — prédictions + réel insérés → summary.mae calculé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6373368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3733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Résultat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876288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6894575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7 passed in 3.09s — Lancé en CI/CD avant chaque build Docker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7296912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7315199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Commande : pytest tests/ -v --tb=short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28</a:t>
            </a:r>
          </a:p>
        </p:txBody>
      </p:sp>
    </p:spTree>
  </p:cSld>
  <p:clrMapOvr>
    <a:masterClrMapping/>
  </p:clrMapOvr>
  <p:transition spd="fast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212080" y="1371600"/>
            <a:ext cx="1737360" cy="1371600"/>
          </a:xfrm>
          <a:prstGeom prst="rect">
            <a:avLst/>
          </a:prstGeom>
          <a:solidFill>
            <a:srgbClr val="2A5A68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1208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C9A84C"/>
                </a:solidFill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017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Résultats &amp; 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726180" y="3858768"/>
            <a:ext cx="470916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fast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Récapitulatif — Classification Multimodale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960120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C9A84C"/>
                          </a:solidFill>
                        </a:rPr>
                        <a:t>Sous-tâche</a:t>
                      </a:r>
                    </a:p>
                  </a:txBody>
                  <a:tcPr>
                    <a:solidFill>
                      <a:srgbClr val="2A5A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C9A84C"/>
                          </a:solidFill>
                        </a:rPr>
                        <a:t>Modèle retenu</a:t>
                      </a:r>
                    </a:p>
                  </a:txBody>
                  <a:tcPr>
                    <a:solidFill>
                      <a:srgbClr val="2A5A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C9A84C"/>
                          </a:solidFill>
                        </a:rPr>
                        <a:t>F1 micro</a:t>
                      </a:r>
                    </a:p>
                  </a:txBody>
                  <a:tcPr>
                    <a:solidFill>
                      <a:srgbClr val="2A5A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C9A84C"/>
                          </a:solidFill>
                        </a:rPr>
                        <a:t>F1 macro</a:t>
                      </a:r>
                    </a:p>
                  </a:txBody>
                  <a:tcPr>
                    <a:solidFill>
                      <a:srgbClr val="2A5A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C9A84C"/>
                          </a:solidFill>
                        </a:rPr>
                        <a:t>Gain vs baseline</a:t>
                      </a:r>
                    </a:p>
                  </a:txBody>
                  <a:tcPr>
                    <a:solidFill>
                      <a:srgbClr val="2A5A6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Images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EfficientNetB0 FT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0.6665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0.5553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+37.9 pts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Textes</a:t>
                      </a:r>
                    </a:p>
                  </a:txBody>
                  <a:tcPr>
                    <a:solidFill>
                      <a:srgbClr val="3E7A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Bi-LSTM</a:t>
                      </a:r>
                    </a:p>
                  </a:txBody>
                  <a:tcPr>
                    <a:solidFill>
                      <a:srgbClr val="3E7A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~0.66</a:t>
                      </a:r>
                    </a:p>
                  </a:txBody>
                  <a:tcPr>
                    <a:solidFill>
                      <a:srgbClr val="3E7A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~0.59</a:t>
                      </a:r>
                    </a:p>
                  </a:txBody>
                  <a:tcPr>
                    <a:solidFill>
                      <a:srgbClr val="3E7A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+21 pts</a:t>
                      </a:r>
                    </a:p>
                  </a:txBody>
                  <a:tcPr>
                    <a:solidFill>
                      <a:srgbClr val="3E7A8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9A84C"/>
                          </a:solidFill>
                        </a:rPr>
                        <a:t>Fusion ★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Early Fusion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0.7383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0.6665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+46 pts images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063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C9A84C"/>
                </a:solidFill>
              </a:rPr>
              <a:t>★ Early Fusion = meilleure architecture — +13.1% vs image seule — Joint Fusion souffre d'attention collapse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30</a:t>
            </a:r>
          </a:p>
        </p:txBody>
      </p:sp>
    </p:spTree>
  </p:cSld>
  <p:clrMapOvr>
    <a:masterClrMapping/>
  </p:clrMapOvr>
  <p:transition spd="fast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Récapitulatif — Série Temporelle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960120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C9A84C"/>
                          </a:solidFill>
                        </a:rPr>
                        <a:t>Modèle</a:t>
                      </a:r>
                    </a:p>
                  </a:txBody>
                  <a:tcPr>
                    <a:solidFill>
                      <a:srgbClr val="2A5A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C9A84C"/>
                          </a:solidFill>
                        </a:rPr>
                        <a:t>MAE global</a:t>
                      </a:r>
                    </a:p>
                  </a:txBody>
                  <a:tcPr>
                    <a:solidFill>
                      <a:srgbClr val="2A5A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C9A84C"/>
                          </a:solidFill>
                        </a:rPr>
                        <a:t>RMSE global</a:t>
                      </a:r>
                    </a:p>
                  </a:txBody>
                  <a:tcPr>
                    <a:solidFill>
                      <a:srgbClr val="2A5A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C9A84C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2A5A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C9A84C"/>
                          </a:solidFill>
                        </a:rPr>
                        <a:t>Avantage</a:t>
                      </a:r>
                    </a:p>
                  </a:txBody>
                  <a:tcPr>
                    <a:solidFill>
                      <a:srgbClr val="2A5A6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Prophet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1.4107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1.8695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Statistique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Rapide, baseline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9A84C"/>
                          </a:solidFill>
                        </a:rPr>
                        <a:t>LSTM ★</a:t>
                      </a:r>
                    </a:p>
                  </a:txBody>
                  <a:tcPr>
                    <a:solidFill>
                      <a:srgbClr val="3E7A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0.0516</a:t>
                      </a:r>
                    </a:p>
                  </a:txBody>
                  <a:tcPr>
                    <a:solidFill>
                      <a:srgbClr val="3E7A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0.0652</a:t>
                      </a:r>
                    </a:p>
                  </a:txBody>
                  <a:tcPr>
                    <a:solidFill>
                      <a:srgbClr val="3E7A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Deep Learning</a:t>
                      </a:r>
                    </a:p>
                  </a:txBody>
                  <a:tcPr>
                    <a:solidFill>
                      <a:srgbClr val="3E7A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Précision x27</a:t>
                      </a:r>
                    </a:p>
                  </a:txBody>
                  <a:tcPr>
                    <a:solidFill>
                      <a:srgbClr val="3E7A8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TFT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1.5763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1.8644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Transformer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</a:rPr>
                        <a:t>Intervalles conf.</a:t>
                      </a:r>
                    </a:p>
                  </a:txBody>
                  <a:tcPr>
                    <a:solidFill>
                      <a:srgbClr val="5E9EA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063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C9A84C"/>
                </a:solidFill>
              </a:rPr>
              <a:t>★ LSTM déployé en production — Feature engineering = clé (49 variables vs features brutes TFT)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31</a:t>
            </a:r>
          </a:p>
        </p:txBody>
      </p:sp>
    </p:spTree>
  </p:cSld>
  <p:clrMapOvr>
    <a:masterClrMapping/>
  </p:clrMapOvr>
  <p:transition spd="fast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5720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Points Durs &amp; Solutions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177539" y="749808"/>
            <a:ext cx="5806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05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DLL PyTorch/TensorFlow sur Windows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0876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2704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torch 2.11.0 nightly + TF nécessitent CUDA → OSError c10.dll / pywrap_tensorflow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92938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94767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Solution : pip install torch==2.3.0+cpu --index-url pytorch.org/whl/cpu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51460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514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MLflow URI invalide sur Windows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1752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03580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C:\... non reconnu comme scheme → UnsupportedModelRegistryStoreURIException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43814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45643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Solution : MLFLOW_DIR.as_uri() génère file:///C:/... reconnu par MLflow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02336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40233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pytorch-forecasting API changée v1.0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2628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5445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predict() retourne un namedtuple 5 champs (pas un dict) → ValueError unpack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4690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496519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Solution : raw_preds.output['prediction'] au lieu de raw_preds['prediction']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532120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5532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CSV mal formé (captions avec virgules)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03504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053327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ParserError: Expected 3 fields, saw 4 → toutes les lignes avec virgule échouent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645566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1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Solution : pd.read_csv(csv, on_bad_lines='skip')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7040879"/>
            <a:ext cx="11430000" cy="4572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040879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numpy 2.4.3 incompatible torch 2.3.0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7543800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7562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RuntimeError: Numpy is not available → .detach().cpu().numpy() échoue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7964424"/>
            <a:ext cx="11430000" cy="393192"/>
          </a:xfrm>
          <a:prstGeom prst="rect">
            <a:avLst/>
          </a:prstGeom>
          <a:solidFill>
            <a:srgbClr val="5E9E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798271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Solution : pip install numpy==1.26.4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0" y="6309360"/>
            <a:ext cx="75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32</a:t>
            </a:r>
          </a:p>
        </p:txBody>
      </p:sp>
    </p:spTree>
  </p:cSld>
  <p:clrMapOvr>
    <a:masterClrMapping/>
  </p:clrMapOvr>
  <p:transition spd="fast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D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88952" cy="2286000"/>
          </a:xfrm>
          <a:prstGeom prst="rect">
            <a:avLst/>
          </a:prstGeom>
          <a:solidFill>
            <a:srgbClr val="2A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0"/>
            <a:ext cx="12188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Merci de votre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240280"/>
            <a:ext cx="5788152" cy="640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560320"/>
            <a:ext cx="121889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9A84C"/>
                </a:solidFill>
              </a:rPr>
              <a:t>Demonstration API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474720"/>
            <a:ext cx="9445752" cy="594360"/>
          </a:xfrm>
          <a:prstGeom prst="rect">
            <a:avLst/>
          </a:prstGeom>
          <a:solidFill>
            <a:srgbClr val="2A5A68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3502152"/>
            <a:ext cx="2286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</a:rPr>
              <a:t>Démarrer l'API 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3502152"/>
            <a:ext cx="6766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D6ECF0"/>
                </a:solidFill>
              </a:rPr>
              <a:t>uvicorn api.main:app --host 0.0.0.0 --port 8000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4187952"/>
            <a:ext cx="9445752" cy="594360"/>
          </a:xfrm>
          <a:prstGeom prst="rect">
            <a:avLst/>
          </a:prstGeom>
          <a:solidFill>
            <a:srgbClr val="2A5A68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4215384"/>
            <a:ext cx="2286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</a:rPr>
              <a:t>Documentation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215384"/>
            <a:ext cx="6766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D6ECF0"/>
                </a:solidFill>
              </a:rPr>
              <a:t>http://localhost:8000/docs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01183"/>
            <a:ext cx="9445752" cy="594360"/>
          </a:xfrm>
          <a:prstGeom prst="rect">
            <a:avLst/>
          </a:prstGeom>
          <a:solidFill>
            <a:srgbClr val="2A5A68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4928616"/>
            <a:ext cx="2286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</a:rPr>
              <a:t>Générer prédictions 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928616"/>
            <a:ext cx="6766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D6ECF0"/>
                </a:solidFill>
              </a:rPr>
              <a:t>python -m src.inference.predict --date 2026-04-01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630936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6ECF0"/>
                </a:solidFill>
              </a:rPr>
              <a:t>TOURE Abdoul Aziz  —  MSc BIHAR 2025-2026  —  ESTIA</a:t>
            </a:r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