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Projet Final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E86D4"/>
                </a:solidFill>
              </a:rPr>
              <a:t>Prévision de Série Temporelle  •  Classification Multimodale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MSc BIHAR 2025-2026  —  ESTIA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TOURE Abdoul Aziz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0F4F8"/>
                </a:solidFill>
              </a:rPr>
              <a:t>M32 Machine Learning II  •  M33 Deep Learning II  •  M27 DevOps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Plan de la présentation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Sous-projet 1 — Classification Multimodale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EDA, prétraitement, modèles images, textes,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8424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Sous-projet 2 — Prévision de Série Temporelle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414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Données météo Côte d'Ivoire, LSTM vs Prophet vs TFT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6265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Partie MLOps / DevOps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1985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Architecture, API FastAPI, CI/CD GitHub Actions, Docker,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4106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Démonstration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0E8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PARTIE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E86D4"/>
                </a:solidFill>
              </a:rPr>
              <a:t>Classification Multimodale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Spécifications &amp; Objectifs —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Dataset : Kaggle Multi-label Classification Competition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Images + descriptions textuelles (captions)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470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18 classes (labels 1–19, label 12 absent)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3113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Tâche : prédire PLUSIEURS labels par image (multi-label)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5234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Métriques d'évaluation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095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F1 micro — métrique principale (pondère les classes fréquentes)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93591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F1 macro — sensible aux classes rares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977639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Précision &amp; Rappel — analyse du compromis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3616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Seuil de décision : sigmoid(logits) &gt; 0.5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8289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Split : 70% train / 15% val / 15% 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EDA — Distribution des labels</a:t>
            </a:r>
          </a:p>
        </p:txBody>
      </p:sp>
      <p:pic>
        <p:nvPicPr>
          <p:cNvPr id="5" name="Picture 4" descr="eda_labe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172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E86D4"/>
                </a:solidFill>
              </a:rPr>
              <a:t>Déséquilibre marqué : classes fréquentes &gt; 2000 occ., classes rares &lt; 500 → pos_weight dans BCELoss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EDA — Exemples d'images par label</a:t>
            </a:r>
          </a:p>
        </p:txBody>
      </p:sp>
      <p:pic>
        <p:nvPicPr>
          <p:cNvPr id="5" name="Picture 4" descr="eda_label_5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172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E86D4"/>
                </a:solidFill>
              </a:rPr>
              <a:t>Visualisation de 5 exemples par label pour comprendre la sémantique des classes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EDA — Texte &amp; Co-occurrences</a:t>
            </a:r>
          </a:p>
        </p:txBody>
      </p:sp>
      <p:pic>
        <p:nvPicPr>
          <p:cNvPr id="5" name="Picture 4" descr="eda_word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577840" cy="4846320"/>
          </a:xfrm>
          <a:prstGeom prst="rect">
            <a:avLst/>
          </a:prstGeom>
        </p:spPr>
      </p:pic>
      <p:pic>
        <p:nvPicPr>
          <p:cNvPr id="6" name="Picture 5" descr="eda_cooccur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914400"/>
            <a:ext cx="557784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8521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E86D4"/>
                </a:solidFill>
              </a:rPr>
              <a:t>Mots fréquents dans les captions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521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E86D4"/>
                </a:solidFill>
              </a:rPr>
              <a:t>Labels qui co-apparaissent souvent ensemble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Prétraitement — Images &amp; Textes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Resize 224×224 — taille standard EfficientNet/ImageNet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470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Normalisation : mean=[0.485,0.456,0.406], std=[0.229,0.224,0.225]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3113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Augmentation (train) : RandomHFlip, RandomCrop, ColorJitter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1518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Val/Test : CenterCrop uniquement (évaluation reproductible)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36391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Textes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93591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Nettoyage : minuscules, suppression ponctuation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977639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TF-IDF : max_features=10 000, n-gram (1,2) — pour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3616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Tokenisation vocabulaire top-5000 — pour Bi-LSTM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74573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Padding longueur fixe 64 tokens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26694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Labels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724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MultiLabelBinarizer → vecteur binaire taille 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1081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pos_weight = N_neg / N_pos par classe — corrige déséquilibre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Modèles Images — 3 architectures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1. Baseline CNN  (622 866 params)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Conv(32)→BN→Pool → Conv(64)→BN→Pool → Conv(128)→BN→Pool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470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→ GAP → Dense(256) → Dropout(0.5) → Dense(18, sigmoid)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6829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2. EfficientNetB0 Feature Extractor  (23 058 params entraînables)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2549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EfficientNetB0 pré-entraîné ImageNet GELÉ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095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Nouvelle tête : Dense(512) → Dropout(0.3) → Dense(18)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73075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3. EfficientNetB0 Fine-tuning  (3 178 798 / 4 030 606 params)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18795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3 derniers blocs dégelés — adaptation au domaine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5720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Même tête que 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0932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86D4"/>
                </a:solidFill>
              </a:rPr>
              <a:t>Paramètres communs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5046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Adam lr=1e-3 | BCEWithLogitsLoss + pos_weight | batch=32 | epochs=20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Résultats — Classification Images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1440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Modèle</a:t>
                      </a:r>
                    </a:p>
                  </a:txBody>
                  <a:tcPr>
                    <a:solidFill>
                      <a:srgbClr val="0F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F1 micro</a:t>
                      </a:r>
                    </a:p>
                  </a:txBody>
                  <a:tcPr>
                    <a:solidFill>
                      <a:srgbClr val="0F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F1 macro</a:t>
                      </a:r>
                    </a:p>
                  </a:txBody>
                  <a:tcPr>
                    <a:solidFill>
                      <a:srgbClr val="0F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Précision</a:t>
                      </a:r>
                    </a:p>
                  </a:txBody>
                  <a:tcPr>
                    <a:solidFill>
                      <a:srgbClr val="0F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Rappel</a:t>
                      </a:r>
                    </a:p>
                  </a:txBody>
                  <a:tcPr>
                    <a:solidFill>
                      <a:srgbClr val="0F3C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Baseline CNN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0.2873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0.2072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0.1770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0.7621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EfficientNetB0 FE</a:t>
                      </a:r>
                    </a:p>
                  </a:txBody>
                  <a:tcPr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0.4544</a:t>
                      </a:r>
                    </a:p>
                  </a:txBody>
                  <a:tcPr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0.3484</a:t>
                      </a:r>
                    </a:p>
                  </a:txBody>
                  <a:tcPr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0.3177</a:t>
                      </a:r>
                    </a:p>
                  </a:txBody>
                  <a:tcPr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0.7974</a:t>
                      </a:r>
                    </a:p>
                  </a:txBody>
                  <a:tcPr>
                    <a:solidFill>
                      <a:srgbClr val="1621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EfficientNetB0 FT ★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0.6665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0.5553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0.5748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0.7930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834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E86D4"/>
                </a:solidFill>
              </a:rPr>
              <a:t>★ Modèle retenu — Gain +37.9 pts F1 micro vs baseline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Courbes d'entraînement — Images</a:t>
            </a:r>
          </a:p>
        </p:txBody>
      </p:sp>
      <p:pic>
        <p:nvPicPr>
          <p:cNvPr id="5" name="Picture 4" descr="img_Baseline_CNN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577840" cy="4846320"/>
          </a:xfrm>
          <a:prstGeom prst="rect">
            <a:avLst/>
          </a:prstGeom>
        </p:spPr>
      </p:pic>
      <p:pic>
        <p:nvPicPr>
          <p:cNvPr id="6" name="Picture 5" descr="img_EfficientNetB0_Fine-tu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914400"/>
            <a:ext cx="557784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8521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E86D4"/>
                </a:solidFill>
              </a:rPr>
              <a:t>Baseline CNN — convergence lente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521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E86D4"/>
                </a:solidFill>
              </a:rPr>
              <a:t>EfficientNetB0 Fine-tuning — meilleure convergence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Comparaison &amp; Grad-CAM</a:t>
            </a:r>
          </a:p>
        </p:txBody>
      </p:sp>
      <p:pic>
        <p:nvPicPr>
          <p:cNvPr id="5" name="Picture 4" descr="img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172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E86D4"/>
                </a:solidFill>
              </a:rPr>
              <a:t>Comparaison F1 micro des 3 modèles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Interprétabilité — Grad-CAM</a:t>
            </a:r>
          </a:p>
        </p:txBody>
      </p:sp>
      <p:pic>
        <p:nvPicPr>
          <p:cNvPr id="5" name="Picture 4" descr="img_grad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172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E86D4"/>
                </a:solidFill>
              </a:rPr>
              <a:t>Zones activées par le modèle pour chaque prédiction — visualise ce que le modèle 'regarde'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Modèles Textes — 3 architectures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1. TF-IDF + LogReg (baseline)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TfidfVectorizer(max_features=10 000, ngram=(1,2))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470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OneVsRestClassifier(LogisticRegression(C=1.0))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6829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2. TF-IDF + MLP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2549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Input(10 000) → Dense(512,relu) → Dropout → Dense(256) → Dense(18)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46703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3. Bi-LSTM  (modèle retenu)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0390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Embedding(5000, 128)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18795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→ BiLSTM(128, bidirectionnel) → BiLSTM(64)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5720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→ Dense(128, relu) → Dropout(0.3) → Dense(18, sigmoid)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9560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~2.3M paramètres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47725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Interprétabilité : LIME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93445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Mots les plus influents pour chaque prédiction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Courbes &amp; LIME — Textes</a:t>
            </a:r>
          </a:p>
        </p:txBody>
      </p:sp>
      <p:pic>
        <p:nvPicPr>
          <p:cNvPr id="5" name="Picture 4" descr="text_bilstm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577840" cy="4846320"/>
          </a:xfrm>
          <a:prstGeom prst="rect">
            <a:avLst/>
          </a:prstGeom>
        </p:spPr>
      </p:pic>
      <p:pic>
        <p:nvPicPr>
          <p:cNvPr id="6" name="Picture 5" descr="text_lime_explan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914400"/>
            <a:ext cx="557784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8521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E86D4"/>
                </a:solidFill>
              </a:rPr>
              <a:t>Bi-LSTM — courbes d'entraînement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521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E86D4"/>
                </a:solidFill>
              </a:rPr>
              <a:t>LIME — mots les plus influents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0E8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Fusion Multimodale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E86D4"/>
                </a:solidFill>
              </a:rPr>
              <a:t>Early Fusion vs Joint Fusion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Architectures de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Early Fusion (concaténation)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Image → EfficientNetB0 gelé → 1280-dim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470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Texte  → Bi-LSTM gelé       → 256-dim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3113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Concat(1536) → Dense(512) → Dropout → Dense(18)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1518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5 962 510 params entraînables (tête seulement)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36391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Joint Fusion (end-to-end + gate attention)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93591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Image → EfficientNetB0 partiellement dégelé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977639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Texte → Bi-LSTM partiellement dégelé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3616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gate = softmax(Linear(1536, 2))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74573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fused = gate[0]×img + gate[1]×text → Dense(18)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129783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5 012 016 / 5 863 824 params entraînables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Résultats — Fusion Multimodale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14400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Modèle</a:t>
                      </a:r>
                    </a:p>
                  </a:txBody>
                  <a:tcPr>
                    <a:solidFill>
                      <a:srgbClr val="0F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F1 micro</a:t>
                      </a:r>
                    </a:p>
                  </a:txBody>
                  <a:tcPr>
                    <a:solidFill>
                      <a:srgbClr val="0F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F1 macro</a:t>
                      </a:r>
                    </a:p>
                  </a:txBody>
                  <a:tcPr>
                    <a:solidFill>
                      <a:srgbClr val="0F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Gain vs image</a:t>
                      </a:r>
                    </a:p>
                  </a:txBody>
                  <a:tcPr>
                    <a:solidFill>
                      <a:srgbClr val="0F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Gain vs texte</a:t>
                      </a:r>
                    </a:p>
                  </a:txBody>
                  <a:tcPr>
                    <a:solidFill>
                      <a:srgbClr val="0F3C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Image seule (EfficientNetB0 FT)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0.6531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0.5461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Texte seul (Bi-LSTM)</a:t>
                      </a:r>
                    </a:p>
                  </a:txBody>
                  <a:tcPr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0.6575</a:t>
                      </a:r>
                    </a:p>
                  </a:txBody>
                  <a:tcPr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0.5926</a:t>
                      </a:r>
                    </a:p>
                  </a:txBody>
                  <a:tcPr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621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Early Fusion ★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0.7383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0.6665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+13.1%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+12.3%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Joint Fusion</a:t>
                      </a:r>
                    </a:p>
                  </a:txBody>
                  <a:tcPr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0.6761</a:t>
                      </a:r>
                    </a:p>
                  </a:txBody>
                  <a:tcPr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0.5760</a:t>
                      </a:r>
                    </a:p>
                  </a:txBody>
                  <a:tcPr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+3.5%</a:t>
                      </a:r>
                    </a:p>
                  </a:txBody>
                  <a:tcPr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+2.8%</a:t>
                      </a:r>
                    </a:p>
                  </a:txBody>
                  <a:tcPr>
                    <a:solidFill>
                      <a:srgbClr val="16212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291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E86D4"/>
                </a:solidFill>
              </a:rPr>
              <a:t>★ Modèle retenu — Early Fusion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Analyse Fusion</a:t>
            </a:r>
          </a:p>
        </p:txBody>
      </p:sp>
      <p:pic>
        <p:nvPicPr>
          <p:cNvPr id="5" name="Picture 4" descr="fusion_fina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577840" cy="4846320"/>
          </a:xfrm>
          <a:prstGeom prst="rect">
            <a:avLst/>
          </a:prstGeom>
        </p:spPr>
      </p:pic>
      <p:pic>
        <p:nvPicPr>
          <p:cNvPr id="6" name="Picture 5" descr="fusion_attention_weigh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914400"/>
            <a:ext cx="557784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8521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E86D4"/>
                </a:solidFill>
              </a:rPr>
              <a:t>Comparaison F1 micro des modèles de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8521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E86D4"/>
                </a:solidFill>
              </a:rPr>
              <a:t>Poids d'attention Joint Fusion — image=1.00, texte=0.00 (collapse)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Exemples de prédictions — Fusion</a:t>
            </a:r>
          </a:p>
        </p:txBody>
      </p:sp>
      <p:pic>
        <p:nvPicPr>
          <p:cNvPr id="5" name="Picture 4" descr="fusion_predictions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172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E86D4"/>
                </a:solidFill>
              </a:rPr>
              <a:t>Exemples de prédictions multi-label sur des images du jeu de test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0E8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PARTIE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E86D4"/>
                </a:solidFill>
              </a:rPr>
              <a:t>Prévision de Série Temporelle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Spécifications &amp; Objectifs — Série Temporelle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Température à 2m, Côte d'Ivoire (6.82°N, 5.28°W)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470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Source : API Open-Meteo | Période : 2023-01-01 → 2025-12-31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3113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~9 500 observations | Fréquence : 3h (agrégation de 3 valeurs horaires)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5234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Objectif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095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Prévision multi-step : 24 pas × 3h = 3 jours en avance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73075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Métriques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18795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MAE (Mean Absolute Error) — métrique principale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5720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RMSE (Root Mean Squared Error)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9560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Évaluation aux 4 horizons : +3h, +24h, +48h, +72h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47725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Split : 70% train / 15% val / 15% test (chronologique)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93445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Aucune fuite de données — fit StandardScaler sur train uniquement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Feature Engineering — 49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Features cycliques (6) — connues dans le futur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hour_sin/cos, day_sin/cos, month_sin/cos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470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Encodage sinusoïdal pour capturer la périodicité sans discontinuité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6829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Features temporelles brutes (4)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2549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hour, dayofweek, month, is_weekend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46703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Lag features (26)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0390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Lags 1 à 24 (72h), lag 36 (108h), lag 48 (144h)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18795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Capturent l'autocorrélation forte aux pas récents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709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Rolling statistics (10)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663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Moyenne et écart-type sur fenêtres 3, 6, 8, 12, 24 pas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68756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Différences (3)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1447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diff_1, diff_2, diff_8 — taux de variation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Architecture LSTM (modèle principal)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Input : (batch, 24 pas, 49 features)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470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→ LSTM(128) → Dropout(0.2)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3113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→ LSTM(64)  → Dropout(0.2)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1518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→ LSTM(32)  → Dropout(0.2)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99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→ Dense(64, ReLU) → Dropout(0.2)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83279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→ Dense(32, ReLU)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6732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→ Dense(24)  ← 24 pas de prévision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28853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Entraînement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74573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Optimiseur : Adam (lr=1e-3)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12978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Loss : MSELoss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5138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Batch=32 | max_epochs=100 | EarlyStopping(patience=10)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89788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ReduceLROnPlateau : factor=0.5, patience=5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1908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Baseline : Prophet (additif : tendance + saisonnalité)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87628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Exploratoire : TFT (quantiles 10–90%, attention, VSN)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Résultats — MAE par horizon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1440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Horizon</a:t>
                      </a:r>
                    </a:p>
                  </a:txBody>
                  <a:tcPr>
                    <a:solidFill>
                      <a:srgbClr val="0F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Prophet</a:t>
                      </a:r>
                    </a:p>
                  </a:txBody>
                  <a:tcPr>
                    <a:solidFill>
                      <a:srgbClr val="0F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LSTM ★</a:t>
                      </a:r>
                    </a:p>
                  </a:txBody>
                  <a:tcPr>
                    <a:solidFill>
                      <a:srgbClr val="0F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TFT (q50)</a:t>
                      </a:r>
                    </a:p>
                  </a:txBody>
                  <a:tcPr>
                    <a:solidFill>
                      <a:srgbClr val="0F3C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+3h  (pas 1)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1.3770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0.0434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1.9465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+24h (J+1)</a:t>
                      </a:r>
                    </a:p>
                  </a:txBody>
                  <a:tcPr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1.4100</a:t>
                      </a:r>
                    </a:p>
                  </a:txBody>
                  <a:tcPr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0.0506</a:t>
                      </a:r>
                    </a:p>
                  </a:txBody>
                  <a:tcPr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3.4261</a:t>
                      </a:r>
                    </a:p>
                  </a:txBody>
                  <a:tcPr>
                    <a:solidFill>
                      <a:srgbClr val="1621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+48h (J+2)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1.4137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0.0537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0.4167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+72h (J+3)</a:t>
                      </a:r>
                    </a:p>
                  </a:txBody>
                  <a:tcPr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1.4200</a:t>
                      </a:r>
                    </a:p>
                  </a:txBody>
                  <a:tcPr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0.0503</a:t>
                      </a:r>
                    </a:p>
                  </a:txBody>
                  <a:tcPr>
                    <a:solidFill>
                      <a:srgbClr val="1621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1.0303</a:t>
                      </a:r>
                    </a:p>
                  </a:txBody>
                  <a:tcPr>
                    <a:solidFill>
                      <a:srgbClr val="1621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Moyenne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1.4107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0.0516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</a:rPr>
                        <a:t>1.5763</a:t>
                      </a:r>
                    </a:p>
                  </a:txBody>
                  <a:tcPr>
                    <a:solidFill>
                      <a:srgbClr val="1E2A3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749039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E86D4"/>
                </a:solidFill>
              </a:rPr>
              <a:t>★ LSTM meilleur modèle — MAE 27× inférieur à Prophet et TFT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Monitoring — Prédictions vs Réel</a:t>
            </a:r>
          </a:p>
        </p:txBody>
      </p:sp>
      <p:pic>
        <p:nvPicPr>
          <p:cNvPr id="5" name="Picture 4" descr="report_2026-03-25_2026-03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172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E86D4"/>
                </a:solidFill>
              </a:rPr>
              <a:t>Comparaison prédictions LSTM vs températures réelles observées — MAE calculé automatiquement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0E8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PARTIE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E86D4"/>
                </a:solidFill>
              </a:rPr>
              <a:t>Architecture MLOps &amp; DevOps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Architecture de l'Application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Flux de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1. fetch_data.py  → Open-Meteo API → agrégation 3h → weather.db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470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2. train.py       → LSTM PyTorch → model/registry/ + MLflow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3113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3. predict.py     → batch inference → predictions table (SQLite)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1518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4. api/main.py    → FastAPI → expose les prédictions via 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99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5. report.py      → monitoring prédictions vs réel → 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20439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Base de données SQLite (weather.db)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977639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Table weather_data  : timestamp, temperature_2m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3616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Table predictions   : model_id, generated_at, horizon_step, target_time, predicted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8289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MLflow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34009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Tracking URI : mlruns/ (local)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724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Log params, métriques, artefacts, datasets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1081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Registered model : lstm_temperature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API REST — FastAPI (4 endpoints)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GET /predictions?date=YYYY-MM-DD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Retourne les 24 prédictions (72h) pour une 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470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Réponse : {date, model_id, n_steps, predictions[{horizon_step, target_time, predicted}]}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6829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GET /predictions/combined?start=...&amp;end=...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2549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Prédictions + observations réelles (monitoring)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095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Calcule MAE et biais sur la période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73075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GET /version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18795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software_version : '0.0.0' local | commit SHA en CI/CD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5720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model_version : MLflow run_id du dernier modèle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09320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GET /health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5504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Retourne {status: ok} — health check Docker/CI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07161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86D4"/>
                </a:solidFill>
              </a:rPr>
              <a:t>Logging automatique : méthode + path + status + latence (ms)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Pipeline CI/CD — GitHub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Job 1 : test (déclenché sur push + PR)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Setup Python 3.11 + pip cache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470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pip install -r requirements.txt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3113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pytest tests/ -v --tb=short  → 7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5234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Job 2 : build  (push uniquement, dépend de test)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095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Login ghcr.io avec GITHUB_TOKEN (pas de secret)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93591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docker build --build-arg GIT_COMMIT_ID=${{ github.sha 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977639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Push :latest + :sha → ghcr.io/[owner]/temperature-forecast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9884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Job 3 : integration-test  (dépend de build)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9560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Pull image + docker run -p 8000:8000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34009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Wait 30s jusqu'à /health=ok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724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Test /health, /version (vérifie SHA), /predictions (→ 404)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1081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docker stop (always — cleanup garanti)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Docker — Couches optimisées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Base : python:3.11-slim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Layer 2 — Dépendances (cachée si requirements.txt inchangé)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574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COPY requirements.txt 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414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RUN pip install --no-cache-dir -r requirements.txt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2549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→ Rebuilt UNIQUEMENT si requirements.txt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46703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Layer 3 — Code (rebuild rapide)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0390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COPY src/ api/ model/ data/ ./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18795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→ Rebuild code sans réinstaller les dépendances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709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Runtime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663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ARG GIT_COMMIT_ID=0.0.0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5504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ENV GIT_COMMIT_ID=${GIT_COMMIT_ID}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93445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EXPOSE 8000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31850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CMD ["uvicorn", "api.main:app", "--host", "0.0.0.0", "--port", "8000"]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Tests — 7 tests (tous ✅)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Tests unitaires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test_health              — GET /health → 200, status=ok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470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test_version_structure   — champs software_version + model_version présents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3113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test_predictions_date_format — date invalide → 404 ou 422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5234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Tests d'intégration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095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test_predictions_not_found  — date inconnue → 404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93591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test_predictions_ok         — insert DB → GET → 200 + 24 steps corrects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977639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test_combined_not_found     — période vide → 404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3616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test_combined_ok            — prédictions + réel → MAE calculé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828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86D4"/>
                </a:solidFill>
              </a:rPr>
              <a:t>Isolation : DB SQLite temporaire (tempfile.mkdtemp())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29437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86D4"/>
                </a:solidFill>
              </a:rPr>
              <a:t>Résultat : 7 passed in 3.09s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84301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Lancer les tests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3002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pytest tests/ -v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Points Durs Rencontrés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DLL PyTorch/TensorFlow sur Windows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torch 2.11.0 nightly + TensorFlow nécessitent CUDA/MSVC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470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→ Réinstallation torch 2.3.0+cpu | Migration LSTM → PyTorch pur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6829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MLflow URI invalide sur Windows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2549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C:\... non reconnu comme scheme valide par MLflow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095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→ MLFLOW_DIR.as_uri() génère file:///C:/...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73075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pytorch-forecasting API changée 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18795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predict() retourne un namedtuple à 5 champs (pas un dict)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5720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→ Accès via .output['prediction']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09320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CSV mal formé (captions avec virgules)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5504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ParserError: Expected 3 fields, saw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93445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→ on_bad_lines='skip' sur tous les pd.read_csv()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5566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numpy 2.4.3 incompatible torch 2.3.0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91286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RuntimeError: Numpy is not 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729691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→ Downgrade numpy==1.26.4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0E8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Merci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E86D4"/>
                </a:solidFill>
              </a:rPr>
              <a:t>Démonstration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0F4F8"/>
                </a:solidFill>
              </a:rPr>
              <a:t>uvicorn api.main:app  —  http://localhost:8000/docs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9436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F4F8"/>
                </a:solidFill>
              </a:rPr>
              <a:t>TOURE Abdoul Aziz  —  MSc BIHAR 2025-2026  —  ESTIA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