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7" r:id="rId27"/>
    <p:sldId id="281" r:id="rId28"/>
    <p:sldId id="282" r:id="rId29"/>
    <p:sldId id="283" r:id="rId30"/>
    <p:sldId id="286" r:id="rId31"/>
    <p:sldId id="284" r:id="rId32"/>
    <p:sldId id="285" r:id="rId33"/>
    <p:sldId id="288" r:id="rId34"/>
    <p:sldId id="290" r:id="rId35"/>
    <p:sldId id="291" r:id="rId36"/>
    <p:sldId id="292" r:id="rId37"/>
    <p:sldId id="293" r:id="rId38"/>
    <p:sldId id="294" r:id="rId39"/>
    <p:sldId id="296" r:id="rId40"/>
    <p:sldId id="297" r:id="rId41"/>
    <p:sldId id="295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286" autoAdjust="0"/>
  </p:normalViewPr>
  <p:slideViewPr>
    <p:cSldViewPr snapToGrid="0" snapToObjects="1">
      <p:cViewPr varScale="1">
        <p:scale>
          <a:sx n="54" d="100"/>
          <a:sy n="54" d="100"/>
        </p:scale>
        <p:origin x="135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2B360-8EE1-4672-A7D0-606B8729FFFF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466F28-5C51-46CC-9960-C4F9A9347E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933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── EfficientNetB0 —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Feature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extractor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(toutes couches gelées) ────────────────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Justification :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EfficientNet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est pré-entraîné sur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ImageNet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(1.2M images, 1000 classes)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→ les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apprises sont générales et riches.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En gelant les couches, on évite le surapprentissage sur notre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dataset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limité.</a:t>
            </a:r>
          </a:p>
          <a:p>
            <a:endParaRPr lang="fr-FR" b="0" dirty="0">
              <a:solidFill>
                <a:srgbClr val="4F833A"/>
              </a:solidFill>
              <a:effectLst/>
              <a:latin typeface="Consolas" panose="020B0609020204030204" pitchFamily="49" charset="0"/>
            </a:endParaRPr>
          </a:p>
          <a:p>
            <a:endParaRPr lang="fr-FR" b="0" dirty="0">
              <a:solidFill>
                <a:srgbClr val="4F833A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── EfficientNetB0 — Fine-tuning des 3 derniers blocs ─────────────────────────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Justification : on libère les dernières couches du backbone pour adapter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les représentations à notre domaine spécifique. LR plus faible pour les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couches pré-entraînées (éviter de détruire les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ImageNet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).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466F28-5C51-46CC-9960-C4F9A9347ED7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629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── Pipeline de prétraitement ─────────────────────────────────────────────────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Justification des étapes :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1. Minuscules → réduire le vocabulaire ("Dog" = "dog")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2. Ponctuation → non informative pour la classification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3.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Stopwords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→ mots très fréquents sans valeur discriminante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4. Lemmatisation : optionnelle ici (captions courtes, peu de variabilité)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── TF-IDF +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LogisticRegression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(One-vs-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Rest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) ─────────────────────────────────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Justification :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- TF-IDF capture l'importance relative des mots dans les captions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-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LogisticRegression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OvR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) est simple, rapide et interprétable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#   - Constitue une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baseline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solide pour valider l'encodage TF-IDF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Bi-LSTM pour classification multi-label de textes.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Architecture :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Embedding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(appris) : représentation dense des mots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  - Bi-LSTM 2 couches : capture les dépendances dans les deux sens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Pooling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moyen sur la séquence (plus robuste que dernier état)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  - Tête de classification Dense → sortie multi-label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b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Justification du Bi-LSTM vs LSTM :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  Le contexte gauche ET droit est utile pour interpréter une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caption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.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      Ex : "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airplane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sitting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 on 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runway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" → "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airplane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" influencé par "</a:t>
            </a:r>
            <a:r>
              <a:rPr lang="fr-FR" b="0" dirty="0" err="1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runway</a:t>
            </a:r>
            <a:r>
              <a:rPr lang="fr-FR" b="0" dirty="0">
                <a:solidFill>
                  <a:srgbClr val="4F833A"/>
                </a:solidFill>
                <a:effectLst/>
                <a:latin typeface="Consolas" panose="020B0609020204030204" pitchFamily="49" charset="0"/>
              </a:rPr>
              <a:t>" (contexte droit)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466F28-5C51-46CC-9960-C4F9A9347ED7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03054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1371600"/>
          </a:xfrm>
          <a:prstGeom prst="rect">
            <a:avLst/>
          </a:prstGeom>
          <a:solidFill>
            <a:srgbClr val="0D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-1" y="4114800"/>
            <a:ext cx="12191695" cy="1371600"/>
          </a:xfrm>
          <a:prstGeom prst="rect">
            <a:avLst/>
          </a:prstGeom>
          <a:solidFill>
            <a:srgbClr val="123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A4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18" y="365760"/>
            <a:ext cx="2286001" cy="548640"/>
          </a:xfrm>
          <a:prstGeom prst="rect">
            <a:avLst/>
          </a:prstGeom>
          <a:solidFill>
            <a:srgbClr val="1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0" y="182880"/>
            <a:ext cx="2286000" cy="548640"/>
          </a:xfrm>
          <a:prstGeom prst="rect">
            <a:avLst/>
          </a:prstGeom>
          <a:solidFill>
            <a:srgbClr val="1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326879" y="345186"/>
            <a:ext cx="2186787" cy="548640"/>
          </a:xfrm>
          <a:prstGeom prst="rect">
            <a:avLst/>
          </a:prstGeom>
          <a:solidFill>
            <a:srgbClr val="1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3017520"/>
            <a:ext cx="12191695" cy="73152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8048" y="9601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 dirty="0">
                <a:solidFill>
                  <a:srgbClr val="F9C724"/>
                </a:solidFill>
              </a:rPr>
              <a:t>BIHAR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11064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C2DBF0"/>
                </a:solidFill>
              </a:rPr>
              <a:t>Systeme de </a:t>
            </a:r>
            <a:r>
              <a:rPr lang="en-US" sz="2000" b="0" i="0" dirty="0" err="1">
                <a:solidFill>
                  <a:srgbClr val="C2DBF0"/>
                </a:solidFill>
              </a:rPr>
              <a:t>Prévision</a:t>
            </a:r>
            <a:r>
              <a:rPr sz="2000" b="0" i="0" dirty="0">
                <a:solidFill>
                  <a:srgbClr val="C2DBF0"/>
                </a:solidFill>
              </a:rPr>
              <a:t> </a:t>
            </a:r>
            <a:r>
              <a:rPr lang="en-US" sz="2000" b="0" i="0" dirty="0" err="1">
                <a:solidFill>
                  <a:srgbClr val="C2DBF0"/>
                </a:solidFill>
              </a:rPr>
              <a:t>Météorologique</a:t>
            </a:r>
            <a:r>
              <a:rPr sz="2000" b="0" i="0" dirty="0">
                <a:solidFill>
                  <a:srgbClr val="C2DBF0"/>
                </a:solidFill>
              </a:rPr>
              <a:t> &amp; Classification </a:t>
            </a:r>
            <a:r>
              <a:rPr lang="en-US" sz="2000" b="0" i="0" dirty="0" err="1">
                <a:solidFill>
                  <a:srgbClr val="C2DBF0"/>
                </a:solidFill>
              </a:rPr>
              <a:t>Multimodales</a:t>
            </a:r>
            <a:r>
              <a:rPr lang="en-US" sz="2000" b="0" i="0" dirty="0">
                <a:solidFill>
                  <a:srgbClr val="C2DBF0"/>
                </a:solidFill>
              </a:rPr>
              <a:t> </a:t>
            </a:r>
            <a:endParaRPr sz="2000" b="0" i="0" dirty="0">
              <a:solidFill>
                <a:srgbClr val="C2DBF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14800" y="3384304"/>
            <a:ext cx="3931920" cy="502920"/>
          </a:xfrm>
          <a:prstGeom prst="rect">
            <a:avLst/>
          </a:prstGeom>
          <a:solidFill>
            <a:srgbClr val="14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29887" y="346141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solidFill>
                  <a:srgbClr val="C2DBF0"/>
                </a:solidFill>
              </a:rPr>
              <a:t>Yamoussoukro, Cote d'Ivoire  |  6.82 N, 5.28 O  |  Tropical subequatorial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9727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FFFFFF"/>
                </a:solidFill>
              </a:rPr>
              <a:t>TOURE Abdoul Aziz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872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C2DBF0"/>
                </a:solidFill>
              </a:rPr>
              <a:t>Master MLOps — ESTIA  |  Avril 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5943600"/>
            <a:ext cx="1188720" cy="731520"/>
          </a:xfrm>
          <a:prstGeom prst="rect">
            <a:avLst/>
          </a:prstGeom>
          <a:solidFill>
            <a:srgbClr val="14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81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62910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2DBF0"/>
                </a:solidFill>
              </a:rPr>
              <a:t>BIHAR 2026  |  Master MLOps ESTIA  |  Prevision temperature 72h  |  Fusion Multimodale image+texte</a:t>
            </a:r>
          </a:p>
        </p:txBody>
      </p:sp>
    </p:spTree>
  </p:cSld>
  <p:clrMapOvr>
    <a:masterClrMapping/>
  </p:clrMapOvr>
  <p:transition>
    <p:zoom dir="in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Plan de la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0B1F47"/>
                </a:solidFill>
              </a:rPr>
              <a:t>Plan de la </a:t>
            </a:r>
            <a:r>
              <a:rPr lang="en-US" sz="2100" b="1" i="0" dirty="0" err="1">
                <a:solidFill>
                  <a:srgbClr val="0B1F47"/>
                </a:solidFill>
              </a:rPr>
              <a:t>Présentation</a:t>
            </a:r>
            <a:r>
              <a:rPr lang="en-US" sz="2100" b="1" i="0" dirty="0">
                <a:solidFill>
                  <a:srgbClr val="0B1F47"/>
                </a:solidFill>
              </a:rPr>
              <a:t> </a:t>
            </a:r>
            <a:endParaRPr sz="2100" b="1" i="0" dirty="0">
              <a:solidFill>
                <a:srgbClr val="0B1F47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11247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9C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57200" cy="91440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143000"/>
            <a:ext cx="1097280" cy="914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114300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C724"/>
                </a:solidFill>
              </a:rPr>
              <a:t>METEO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1234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F47"/>
                </a:solidFill>
              </a:rPr>
              <a:t>Donnees &amp; 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618488"/>
            <a:ext cx="88696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 err="1">
                <a:solidFill>
                  <a:srgbClr val="556573"/>
                </a:solidFill>
              </a:rPr>
              <a:t>C</a:t>
            </a:r>
            <a:r>
              <a:rPr sz="1100" b="0" i="0" dirty="0" err="1">
                <a:solidFill>
                  <a:srgbClr val="556573"/>
                </a:solidFill>
              </a:rPr>
              <a:t>ollecte</a:t>
            </a:r>
            <a:r>
              <a:rPr sz="1100" b="0" i="0" dirty="0">
                <a:solidFill>
                  <a:srgbClr val="556573"/>
                </a:solidFill>
              </a:rPr>
              <a:t> - </a:t>
            </a:r>
            <a:r>
              <a:rPr sz="1100" b="0" i="0" dirty="0" err="1">
                <a:solidFill>
                  <a:srgbClr val="556573"/>
                </a:solidFill>
              </a:rPr>
              <a:t>analyse</a:t>
            </a:r>
            <a:r>
              <a:rPr sz="1100" b="0" i="0" dirty="0">
                <a:solidFill>
                  <a:srgbClr val="556573"/>
                </a:solidFill>
              </a:rPr>
              <a:t> </a:t>
            </a:r>
            <a:r>
              <a:rPr sz="1100" b="0" i="0" dirty="0" err="1">
                <a:solidFill>
                  <a:srgbClr val="556573"/>
                </a:solidFill>
              </a:rPr>
              <a:t>exploratoire</a:t>
            </a:r>
            <a:r>
              <a:rPr sz="1100" b="0" i="0" dirty="0">
                <a:solidFill>
                  <a:srgbClr val="556573"/>
                </a:solidFill>
              </a:rPr>
              <a:t> - feature engineering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76271"/>
            <a:ext cx="11247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176271"/>
            <a:ext cx="457200" cy="9144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176271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176271"/>
            <a:ext cx="1097280" cy="914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2176271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8B57"/>
                </a:solidFill>
              </a:rPr>
              <a:t>MODELE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267711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F47"/>
                </a:solidFill>
              </a:rPr>
              <a:t>Modelisation Meteo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2651759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3"/>
                </a:solidFill>
              </a:rPr>
              <a:t>Prophet vs TFT vs LSTM — architectures detaillees — prevision 72h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09542"/>
            <a:ext cx="11247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3209542"/>
            <a:ext cx="457200" cy="91440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209542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209542"/>
            <a:ext cx="1097280" cy="914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3209542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A0DAD"/>
                </a:solidFill>
              </a:rPr>
              <a:t>MULTI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30098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F47"/>
                </a:solidFill>
              </a:rPr>
              <a:t>Classification Multimodale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3685030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3"/>
                </a:solidFill>
              </a:rPr>
              <a:t>CNN / EfficientNet — MLP / BiLSTM — Fusion early+joint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42813"/>
            <a:ext cx="11247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4242813"/>
            <a:ext cx="457200" cy="91440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242813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4242813"/>
            <a:ext cx="1097280" cy="914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4242813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7300"/>
                </a:solidFill>
              </a:rPr>
              <a:t>MLOPS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334253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F47"/>
                </a:solidFill>
              </a:rPr>
              <a:t>MLOps / DevOps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4718301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3"/>
                </a:solidFill>
              </a:rPr>
              <a:t>Docker — Airflow — CI/CD GitHub Actions — FastAPI — Monitoring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276084"/>
            <a:ext cx="11247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" y="5276084"/>
            <a:ext cx="457200" cy="91440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5276084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276084"/>
            <a:ext cx="1097280" cy="914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5276084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BB8D4"/>
                </a:solidFill>
              </a:rPr>
              <a:t>DEMO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48840" y="536752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F47"/>
                </a:solidFill>
              </a:rPr>
              <a:t>Demonstration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575157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3"/>
                </a:solidFill>
              </a:rPr>
              <a:t>Interface web — Dashboard Grafana — Tests automatises (16 tests)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Architecture Globale du Systeme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3/3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Architecture Globale — Vue d'ensemble du 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15568"/>
            <a:ext cx="2651760" cy="475488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11556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91056"/>
            <a:ext cx="2651760" cy="4462272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68249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1682496"/>
            <a:ext cx="109728" cy="118872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17739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Open-Meteo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2311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temp 3h / 72h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09981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099816"/>
            <a:ext cx="109728" cy="118872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1912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B1F47"/>
                </a:solidFill>
              </a:rPr>
              <a:t>Dataset COCO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6484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images multi-label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51713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4517136"/>
            <a:ext cx="109728" cy="118872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6085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Dataset SNLI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0657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captions texte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72968" y="1115568"/>
            <a:ext cx="2651760" cy="47548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72968" y="111556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STOCKAGE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2968" y="1591056"/>
            <a:ext cx="2651760" cy="4462272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264408" y="168249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64408" y="1682496"/>
            <a:ext cx="109728" cy="11887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47288" y="17739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SQLite weather.db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7288" y="22311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predictions + meteo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64408" y="309981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64408" y="3099816"/>
            <a:ext cx="109728" cy="11887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47288" y="31912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MLflow Registry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47288" y="36484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modeles + metriques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64408" y="451713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264408" y="4517136"/>
            <a:ext cx="109728" cy="1188720"/>
          </a:xfrm>
          <a:prstGeom prst="rect">
            <a:avLst/>
          </a:prstGeom>
          <a:solidFill>
            <a:srgbClr val="55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47288" y="46085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Volume Docker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7288" y="50657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persistence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25896" y="1115568"/>
            <a:ext cx="2651760" cy="475488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25896" y="111556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TRAITEMENT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25896" y="1591056"/>
            <a:ext cx="2651760" cy="4462272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17336" y="168249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17336" y="1682496"/>
            <a:ext cx="109728" cy="118872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0216" y="17739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LSTM PyTorch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22311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prevision 72h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17336" y="309981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117336" y="3099816"/>
            <a:ext cx="109728" cy="118872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00216" y="31912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EfficientNetB0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36484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classif image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17336" y="451713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117336" y="4517136"/>
            <a:ext cx="109728" cy="118872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00216" y="46085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BiLSTM + MLP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0216" y="50657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classif texte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78824" y="1115568"/>
            <a:ext cx="2651760" cy="475488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878824" y="1115568"/>
            <a:ext cx="2651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EXPOSITION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78824" y="1591056"/>
            <a:ext cx="2651760" cy="4462272"/>
          </a:xfrm>
          <a:prstGeom prst="rect">
            <a:avLst/>
          </a:prstGeom>
          <a:solidFill>
            <a:srgbClr val="FFFFFF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970264" y="168249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970264" y="1682496"/>
            <a:ext cx="109728" cy="11887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153144" y="17739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FastAPI :8000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53144" y="22311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REST endpoints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70264" y="309981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970264" y="3099816"/>
            <a:ext cx="109728" cy="118872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153144" y="31912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Flask Web :5000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53144" y="364845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interface utilisateur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970264" y="4517136"/>
            <a:ext cx="2468880" cy="118872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970264" y="4517136"/>
            <a:ext cx="109728" cy="118872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53144" y="46085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Grafana :3000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53144" y="50657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dashboards meteo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53512" y="3493008"/>
            <a:ext cx="237744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806440" y="3493008"/>
            <a:ext cx="237744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8659368" y="3493008"/>
            <a:ext cx="237744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D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0" y="2194560"/>
            <a:ext cx="804672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800" b="1" dirty="0" err="1">
                <a:solidFill>
                  <a:srgbClr val="FFFFFF"/>
                </a:solidFill>
              </a:rPr>
              <a:t>Données</a:t>
            </a:r>
            <a:r>
              <a:rPr sz="3800" b="1" i="0" dirty="0">
                <a:solidFill>
                  <a:srgbClr val="FFFFFF"/>
                </a:solidFill>
              </a:rPr>
              <a:t> &amp; </a:t>
            </a:r>
            <a:r>
              <a:rPr sz="3800" b="1" i="0" dirty="0" err="1">
                <a:solidFill>
                  <a:srgbClr val="FFFFFF"/>
                </a:solidFill>
              </a:rPr>
              <a:t>Analyse</a:t>
            </a:r>
            <a:r>
              <a:rPr sz="3800" b="1" i="0" dirty="0">
                <a:solidFill>
                  <a:srgbClr val="FFFFFF"/>
                </a:solidFill>
              </a:rPr>
              <a:t> </a:t>
            </a:r>
            <a:r>
              <a:rPr sz="3800" b="1" i="0" dirty="0" err="1">
                <a:solidFill>
                  <a:srgbClr val="FFFFFF"/>
                </a:solidFill>
              </a:rPr>
              <a:t>Exploratoire</a:t>
            </a:r>
            <a:endParaRPr sz="3800" b="1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0" y="3291840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2DBF0"/>
                </a:solidFill>
              </a:rPr>
              <a:t>Yamoussoukro · Open-</a:t>
            </a:r>
            <a:r>
              <a:rPr lang="en-US" sz="1600" b="0" i="0" dirty="0" err="1">
                <a:solidFill>
                  <a:srgbClr val="C2DBF0"/>
                </a:solidFill>
              </a:rPr>
              <a:t>Météo</a:t>
            </a:r>
            <a:r>
              <a:rPr sz="1600" b="0" i="0" dirty="0">
                <a:solidFill>
                  <a:srgbClr val="C2DBF0"/>
                </a:solidFill>
              </a:rPr>
              <a:t> API · Feature Engineering 49 vars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4178808"/>
            <a:ext cx="5486400" cy="54864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Section 1 — Donnees &amp; EDA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4/3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</p:spTree>
  </p:cSld>
  <p:clrMapOvr>
    <a:masterClrMapping/>
  </p:clrMapOvr>
  <p:transition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Contexte Geographique — Yamoussoukro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5/3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Yamoussoukro — Capitale Politique de la Cote d'Ivoire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53035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5303520" cy="475488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09728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Localisation &amp; Climat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73352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673352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Pays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673352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42032" y="1673352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Cote d'Ivoire (Afrique de l'Ouest)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67128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2167128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Coordonnees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167128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42032" y="2167128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6.816667 N  |  -5.283333 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" y="2660904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Altitude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660904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42032" y="2660904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213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54680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3154680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Climat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3154680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542032" y="315468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Tropical subequatorial (Aw)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648456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" y="3648456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Temp. moy. annuelle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648456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42032" y="3648456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26.5 degres 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42232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5488" y="4142232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Pluviometrie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142232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542032" y="4142232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1 200 mm/an (2 saisons)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636008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" y="4636008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Saison seche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636008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542032" y="4636008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Novembre → Mars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129784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75488" y="5129784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Saison pluies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5129784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542032" y="5129784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Avril → Octobre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623560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75488" y="5623560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Caracteristique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5623560"/>
            <a:ext cx="30632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542032" y="5623560"/>
            <a:ext cx="3017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Tres peu de variation saisonniere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1097280"/>
            <a:ext cx="594360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943600" y="1097280"/>
            <a:ext cx="5943600" cy="47548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0" y="1097280"/>
            <a:ext cx="5943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Donnees Open-Meteo API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1673352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3328" y="1673352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Variable cible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1673352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19872" y="16733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temperature_2m (degres C)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2167128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053328" y="2167128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Frequence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92440" y="2167128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119872" y="21671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Toutes les 3 heures (8 pts/jour)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2660904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053328" y="2660904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Periode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92440" y="2660904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119872" y="2660904"/>
            <a:ext cx="35661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56573"/>
                </a:solidFill>
              </a:rPr>
              <a:t>2023-01-01 → 2025-0</a:t>
            </a:r>
            <a:r>
              <a:rPr lang="en-US" sz="1000" b="0" i="0" dirty="0">
                <a:solidFill>
                  <a:srgbClr val="556573"/>
                </a:solidFill>
              </a:rPr>
              <a:t>1</a:t>
            </a:r>
            <a:r>
              <a:rPr sz="1000" b="0" i="0" dirty="0">
                <a:solidFill>
                  <a:srgbClr val="556573"/>
                </a:solidFill>
              </a:rPr>
              <a:t>-31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0" y="3154680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053328" y="3154680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Nb points total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92440" y="3154680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119872" y="3154680"/>
            <a:ext cx="35661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56573"/>
                </a:solidFill>
              </a:rPr>
              <a:t>~</a:t>
            </a:r>
            <a:r>
              <a:rPr lang="en-US" sz="1000" b="0" i="0" dirty="0">
                <a:solidFill>
                  <a:srgbClr val="556573"/>
                </a:solidFill>
              </a:rPr>
              <a:t>18</a:t>
            </a:r>
            <a:r>
              <a:rPr sz="1000" b="0" i="0" dirty="0">
                <a:solidFill>
                  <a:srgbClr val="556573"/>
                </a:solidFill>
              </a:rPr>
              <a:t> </a:t>
            </a:r>
            <a:r>
              <a:rPr lang="en-US" sz="1000" dirty="0">
                <a:solidFill>
                  <a:srgbClr val="556573"/>
                </a:solidFill>
              </a:rPr>
              <a:t>288</a:t>
            </a:r>
            <a:r>
              <a:rPr sz="1000" b="0" i="0" dirty="0">
                <a:solidFill>
                  <a:srgbClr val="556573"/>
                </a:solidFill>
              </a:rPr>
              <a:t> observations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35040" y="3648456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053328" y="3648456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Split train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92440" y="3648456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119872" y="364845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70% (2023-01 → 2024-07)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35040" y="4142232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053328" y="4142232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Split validation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92440" y="4142232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119872" y="414223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15% (2024-08 → 2024-11)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35040" y="4636008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053328" y="4636008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Split test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92440" y="4636008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119872" y="463600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15% (2024-12 → 2025-03)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0" y="5129784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053328" y="5129784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Horizon prevu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92440" y="5129784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119872" y="512978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24 pas x 3h = 72h (3 jours)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35040" y="5623560"/>
            <a:ext cx="2011680" cy="40233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053328" y="5623560"/>
            <a:ext cx="1965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Historique modele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92440" y="5623560"/>
            <a:ext cx="3611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119872" y="562356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24 pas = 3 jours d'historique</a:t>
            </a:r>
          </a:p>
        </p:txBody>
      </p:sp>
    </p:spTree>
  </p:cSld>
  <p:clrMapOvr>
    <a:masterClrMapping/>
  </p:clrMapOvr>
  <p:transition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EDA — Serie Temporelle Meteorologique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6/3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 err="1">
                <a:solidFill>
                  <a:srgbClr val="0B1F47"/>
                </a:solidFill>
              </a:rPr>
              <a:t>Analyse</a:t>
            </a:r>
            <a:r>
              <a:rPr sz="2100" b="1" i="0" dirty="0">
                <a:solidFill>
                  <a:srgbClr val="0B1F47"/>
                </a:solidFill>
              </a:rPr>
              <a:t> </a:t>
            </a:r>
            <a:r>
              <a:rPr sz="2100" b="1" i="0" dirty="0" err="1">
                <a:solidFill>
                  <a:srgbClr val="0B1F47"/>
                </a:solidFill>
              </a:rPr>
              <a:t>Exploratoire</a:t>
            </a:r>
            <a:endParaRPr sz="2100" b="1" i="0" dirty="0">
              <a:solidFill>
                <a:srgbClr val="0B1F47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74320" y="6556248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3"/>
                </a:solidFill>
              </a:rPr>
              <a:t>Rapport monitoring automatique : monitoring/output/report_2026-03-25_2026-03-31.png  |  Genere par : src/monitoring/report.py</a:t>
            </a:r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437E5F87-B734-499B-AE0D-622FD58C5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1" y="918972"/>
            <a:ext cx="7376160" cy="5495544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5087B4B9-8998-43F9-B420-B8FC6E34A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441" y="936982"/>
            <a:ext cx="4480559" cy="5619266"/>
          </a:xfrm>
          <a:prstGeom prst="rect">
            <a:avLst/>
          </a:prstGeom>
        </p:spPr>
      </p:pic>
    </p:spTree>
  </p:cSld>
  <p:clrMapOvr>
    <a:masterClrMapping/>
  </p:clrMapOvr>
  <p:transition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Feature Engineering — 49 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7/3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Feature Engineering — 49 Features Temporelles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2103120" cy="59436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CYCLIQUES
(calendrier)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64792"/>
            <a:ext cx="2103120" cy="365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7647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1F47"/>
                </a:solidFill>
              </a:rPr>
              <a:t>sin/cos(2pi x t/T)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30552"/>
            <a:ext cx="2103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221992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3134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hour_sin / hour_cos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1181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day_sin / day_cos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31336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92277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month_sin / month_cos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636008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72744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hour, dayofweek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40680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532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month, is_weekend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70632" y="1170432"/>
            <a:ext cx="2103120" cy="59436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70632" y="11704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LAG FEATURES
(valeurs passees)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1764792"/>
            <a:ext cx="2103120" cy="365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70632" y="17647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1F47"/>
                </a:solidFill>
              </a:rPr>
              <a:t>temp(t - k*3h)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70632" y="2130552"/>
            <a:ext cx="2103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862072" y="2221992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907792" y="23134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lag_1 … lag_24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62072" y="3026664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07792" y="31181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lag_36, lag_48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62072" y="3831336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07792" y="392277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= temp. t-1h, t-3h ...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62072" y="4636008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07792" y="472744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t-8h, t-24h, t-48h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84064" y="1170432"/>
            <a:ext cx="2103120" cy="594360"/>
          </a:xfrm>
          <a:prstGeom prst="rect">
            <a:avLst/>
          </a:prstGeom>
          <a:solidFill>
            <a:srgbClr val="C0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84064" y="11704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ROLLING STATS
(fenetres glissantes)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84064" y="1764792"/>
            <a:ext cx="2103120" cy="365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84064" y="17647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1F47"/>
                </a:solidFill>
              </a:rPr>
              <a:t>mean(temp[t-w:t])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84064" y="2130552"/>
            <a:ext cx="2103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175504" y="2221992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221224" y="23134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rolling_mean 3,6,8,12,24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75504" y="3026664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221224" y="31181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rolling_std 3,6,8,12,24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75504" y="3831336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221224" y="392277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= tendance locale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75504" y="4636008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21224" y="472744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= volatilite locale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97496" y="1170432"/>
            <a:ext cx="2103120" cy="59436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397496" y="11704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DIFFERENCES
(variations)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97496" y="1764792"/>
            <a:ext cx="2103120" cy="365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97496" y="17647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1F47"/>
                </a:solidFill>
              </a:rPr>
              <a:t>temp(t) - temp(t-k)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97496" y="2130552"/>
            <a:ext cx="2103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488936" y="2221992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34656" y="23134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diff_1 = temp(t) - temp(t-1)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88936" y="3026664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534656" y="31181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diff_2 = temp(t) - temp(t-2)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88936" y="3831336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534656" y="392277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diff_8 = ecart 24h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88936" y="4636008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534656" y="472744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= tendance instantanee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710928" y="1170432"/>
            <a:ext cx="2103120" cy="59436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10928" y="117043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SEQUENCEMENT
(entree LSTM)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710928" y="1764792"/>
            <a:ext cx="2103120" cy="3657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710928" y="176479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1F47"/>
                </a:solidFill>
              </a:rPr>
              <a:t>(batch, 24, 49)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710928" y="2130552"/>
            <a:ext cx="21031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9802368" y="2221992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848088" y="231343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Fenetre : 24 pas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02368" y="3026664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848088" y="3118104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= 3 jours d'historique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802368" y="3831336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848088" y="3922776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Shape : (24, N_feat)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02368" y="4636008"/>
            <a:ext cx="1920240" cy="6858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48088" y="472744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N_feat = 49 features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5760720"/>
            <a:ext cx="11247120" cy="56692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48640" y="577900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TOTAL : 49 features  |  Entree LSTM : shape (batch, 24, 49)  |  Normalisation Z-score sur features ET cible  |  StandardScaler.fit() sur train uniquement</a:t>
            </a:r>
          </a:p>
        </p:txBody>
      </p:sp>
    </p:spTree>
  </p:cSld>
  <p:clrMapOvr>
    <a:masterClrMapping/>
  </p:clrMapOvr>
  <p:transition>
    <p:wipe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D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0" y="2194560"/>
            <a:ext cx="804672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Modelisation </a:t>
            </a:r>
            <a:r>
              <a:rPr lang="en-US" sz="3800" b="1" i="0" dirty="0" err="1">
                <a:solidFill>
                  <a:srgbClr val="FFFFFF"/>
                </a:solidFill>
              </a:rPr>
              <a:t>Météorologique</a:t>
            </a:r>
            <a:r>
              <a:rPr lang="en-US" sz="3800" b="1" i="0" dirty="0">
                <a:solidFill>
                  <a:srgbClr val="FFFFFF"/>
                </a:solidFill>
              </a:rPr>
              <a:t> </a:t>
            </a:r>
            <a:endParaRPr sz="3800" b="1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40480" y="32918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2DBF0"/>
                </a:solidFill>
              </a:rPr>
              <a:t>Prophet  ·  TFT (Temporal Fusion Transformer)  ·  LSTM 3 couches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4160520"/>
            <a:ext cx="5486400" cy="54864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Section 2 — Modelisation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8/3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</p:spTree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Comparaison des 3 Approches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9/3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Trois Approches de Prevision — Comparaison Architecturale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15568"/>
            <a:ext cx="2194560" cy="41148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11155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Critere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1115568"/>
            <a:ext cx="274320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155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Prophet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115568"/>
            <a:ext cx="3200400" cy="4114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11155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1115568"/>
            <a:ext cx="3291840" cy="4114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11556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LSTM (prod)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527048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1600200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68880" y="1527048"/>
            <a:ext cx="27432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42032" y="1600200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Statistique additif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1527048"/>
            <a:ext cx="32004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85232" y="1600200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Transformer hybride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1527048"/>
            <a:ext cx="329184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1600200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Deep Learning seq.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002536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7472" y="2075688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Multi-step natif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00253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542032" y="2075688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Oui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2002536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285232" y="2075688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Oui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0" y="2002536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85632" y="2075688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Adapte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478024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7472" y="2551176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Features ext.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8880" y="2478024"/>
            <a:ext cx="27432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42032" y="2551176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Limitees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12080" y="2478024"/>
            <a:ext cx="32004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285232" y="2551176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Oui (VSN)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2478024"/>
            <a:ext cx="329184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85632" y="2551176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Oui (49 features)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953512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7472" y="3026664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Attention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68880" y="295351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42032" y="3026664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Non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2953512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285232" y="3026664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Multi-head (4 tetes)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12480" y="2953512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85632" y="3026664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Non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429000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7472" y="3502152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Intervalles conf.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80" y="3429000"/>
            <a:ext cx="27432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542032" y="3502152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Oui (incertitude)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2080" y="3429000"/>
            <a:ext cx="32004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285232" y="3502152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Oui (quantiles)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12480" y="3429000"/>
            <a:ext cx="329184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485632" y="3502152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Non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3904488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7472" y="3977640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Parametres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8880" y="390448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542032" y="3977640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~Quelques params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12080" y="3904488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85232" y="3977640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~100K params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12480" y="3904488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485632" y="3977640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~50K params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4379976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47472" y="4453128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MAE test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68880" y="4379976"/>
            <a:ext cx="27432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542032" y="4453128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~1.5 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4379976"/>
            <a:ext cx="320040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285232" y="4453128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~1.58 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12480" y="4379976"/>
            <a:ext cx="3291840" cy="47548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485632" y="4453128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0.052 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855464"/>
            <a:ext cx="2194560" cy="475488"/>
          </a:xfrm>
          <a:prstGeom prst="rect">
            <a:avLst/>
          </a:prstGeom>
          <a:solidFill>
            <a:srgbClr val="E8ECF2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47472" y="4928616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MAE production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68880" y="4855464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542032" y="4928616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Non deploye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12080" y="4855464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285232" y="4928616"/>
            <a:ext cx="30540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Non deploye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12480" y="4855464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485632" y="4928616"/>
            <a:ext cx="3145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0.807 C (56pts)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74320" y="5330952"/>
            <a:ext cx="2194560" cy="475488"/>
          </a:xfrm>
          <a:prstGeom prst="rect">
            <a:avLst/>
          </a:prstGeom>
          <a:solidFill>
            <a:srgbClr val="FFF0E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47472" y="5404104"/>
            <a:ext cx="20482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STATUT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468880" y="5330952"/>
            <a:ext cx="2743200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2542032" y="5404104"/>
            <a:ext cx="259689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12080" y="5330952"/>
            <a:ext cx="3200400" cy="475488"/>
          </a:xfrm>
          <a:prstGeom prst="rect">
            <a:avLst/>
          </a:prstGeom>
          <a:solidFill>
            <a:srgbClr val="FFF0E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5285232" y="5404104"/>
            <a:ext cx="30540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/>
              <a:t>Experimentation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80" y="5330952"/>
            <a:ext cx="3291840" cy="475488"/>
          </a:xfrm>
          <a:prstGeom prst="rect">
            <a:avLst/>
          </a:prstGeom>
          <a:solidFill>
            <a:srgbClr val="1E8A44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485632" y="5404104"/>
            <a:ext cx="314553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000" b="1" dirty="0"/>
              <a:t>P</a:t>
            </a:r>
            <a:r>
              <a:rPr lang="fr-FR" sz="1000" b="1" i="0" dirty="0"/>
              <a:t>roduction</a:t>
            </a:r>
            <a:endParaRPr sz="1000" b="1" i="0" dirty="0"/>
          </a:p>
        </p:txBody>
      </p:sp>
      <p:sp>
        <p:nvSpPr>
          <p:cNvPr id="89" name="Rectangle 88"/>
          <p:cNvSpPr/>
          <p:nvPr/>
        </p:nvSpPr>
        <p:spPr>
          <a:xfrm>
            <a:off x="274320" y="6309360"/>
            <a:ext cx="1161288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65760" y="63276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LSTM selectionne en production : meilleures performances + pipeline full PyTorch integre dans l'architecture MLOps</a:t>
            </a:r>
          </a:p>
        </p:txBody>
      </p:sp>
    </p:spTree>
  </p:cSld>
  <p:clrMapOvr>
    <a:masterClrMapping/>
  </p:clrMapOvr>
  <p:transition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Architecture Prophet — Facebook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10/3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Prophet — Modele Additif Decomposable (Facebook, 2018)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078992"/>
            <a:ext cx="9418320" cy="6858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371600" y="1078992"/>
            <a:ext cx="13716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1115568"/>
            <a:ext cx="9052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0B1F47"/>
                </a:solidFill>
              </a:rPr>
              <a:t>Formule :  y(t) = g(t) + s(t) + h(t) + epsilon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265176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92024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g(t)
Tendance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2578608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6700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Modele lineaire par morceaux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28416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41985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OU modele logistique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78224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Changepoints automatiques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28032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9194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Flexibilite reglable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1920240"/>
            <a:ext cx="2651760" cy="566928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37560" y="192024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s(t)
Saisonnalite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0" y="2487168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429000" y="2578608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0" y="26700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Serie de Fourier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9000" y="3328416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74720" y="341985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Saison annuelle (annee)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29000" y="4078224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74720" y="416966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Saison hebdo (7 jours)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29000" y="4828032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74720" y="49194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Saison journaliere (24h)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920240"/>
            <a:ext cx="2651760" cy="56692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17920" y="192024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h(t)
Jours feries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487168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09360" y="2578608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55080" y="26700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Effets ponctuels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328416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55080" y="341985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Fetes nationales CI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078224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55080" y="416966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Evenements specifiques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828032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49194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Ajustement manuel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1920240"/>
            <a:ext cx="2651760" cy="566928"/>
          </a:xfrm>
          <a:prstGeom prst="rect">
            <a:avLst/>
          </a:prstGeom>
          <a:solidFill>
            <a:srgbClr val="55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98280" y="1920240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epsilon
Residu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2487168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556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189720" y="2578608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26700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Bruit non explique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89720" y="3328416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35440" y="341985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Hypothese : i.i.d.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89720" y="4078224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235440" y="416966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Pas capte par modele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4828032"/>
            <a:ext cx="2468880" cy="64008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235440" y="491947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-&gt; Intervalles de conf.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486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5532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Resultats Prophet (temperature Yamoussoukro) :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5559552"/>
            <a:ext cx="20116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0" y="555955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MAE: ~1.5 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5559552"/>
            <a:ext cx="20116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58000" y="555955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RMSE: ~2.1 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0" y="5559552"/>
            <a:ext cx="201168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144000" y="555955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Statut: Reference baseline</a:t>
            </a:r>
          </a:p>
        </p:txBody>
      </p:sp>
    </p:spTree>
  </p:cSld>
  <p:clrMapOvr>
    <a:masterClrMapping/>
  </p:clrMapOvr>
  <p:transition>
    <p:split orient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Architecture TFT — Temporal Fusion 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11/3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TFT — Temporal Fusion Transformer (Lim et al., 2021)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188720"/>
            <a:ext cx="1828800" cy="6400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1887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INPUTS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828800"/>
            <a:ext cx="1828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93192" y="1920240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Features connues futur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" y="2596896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" y="2670048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(calendrier: hour, day...)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3273552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768" y="334670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Features passees observees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" y="3950208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" y="4023360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(lag, rolling, diff)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834640"/>
            <a:ext cx="64008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212848" y="1188720"/>
            <a:ext cx="1828800" cy="6400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212848" y="11887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Variable
Selection
Networks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12848" y="1828800"/>
            <a:ext cx="1828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286000" y="1920240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22576" y="1993392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Selectionne features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2596896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322576" y="2670048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pertinentes auto.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3273552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22576" y="334670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Poids d'importance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3950208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22576" y="4023360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par variable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41648" y="2834640"/>
            <a:ext cx="64008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105656" y="1188720"/>
            <a:ext cx="1828800" cy="64008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05656" y="11887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LSTM
Encoder /
Decoder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05656" y="1828800"/>
            <a:ext cx="1828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178808" y="1920240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15384" y="1993392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Encoder: historique 24p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78808" y="2596896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15384" y="2670048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Decoder: horizon 24p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78808" y="3273552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15384" y="334670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hidden_size = 64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78808" y="3950208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15384" y="4023360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lstm_layers = 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34456" y="2834640"/>
            <a:ext cx="64008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998464" y="1188720"/>
            <a:ext cx="1828800" cy="6400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98464" y="11887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Multi-Head
Attention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98464" y="1828800"/>
            <a:ext cx="1828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071616" y="1920240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08192" y="1993392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attention_heads = 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1616" y="2596896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08192" y="2670048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Dependances long-terme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71616" y="3273552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08192" y="334670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Pondere tous les pas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71616" y="3950208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08192" y="4023360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Interpretable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27264" y="2834640"/>
            <a:ext cx="64008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891272" y="1188720"/>
            <a:ext cx="1828800" cy="640080"/>
          </a:xfrm>
          <a:prstGeom prst="rect">
            <a:avLst/>
          </a:prstGeom>
          <a:solidFill>
            <a:srgbClr val="C05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891272" y="11887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Gated
Residual
Networks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91272" y="1828800"/>
            <a:ext cx="1828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5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964424" y="1920240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001000" y="1993392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Flux info controle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64424" y="2596896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001000" y="2670048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Gate = sigmoid()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64424" y="3273552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001000" y="334670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Residual connection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964424" y="3950208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001000" y="4023360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Stabilise gradient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720072" y="2834640"/>
            <a:ext cx="64008" cy="1828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9784080" y="1188720"/>
            <a:ext cx="1828800" cy="6400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784080" y="118872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OUTPUTS
Quantiles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1828800"/>
            <a:ext cx="18288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9857232" y="1920240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893808" y="1993392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5 quantiles: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57232" y="2596896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93808" y="2670048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10%, 25%, 50%,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7232" y="3273552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893808" y="3346704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75%, 90%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57232" y="3950208"/>
            <a:ext cx="1682496" cy="585216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893808" y="4023360"/>
            <a:ext cx="16093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Intervalles de conf.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" y="4846320"/>
            <a:ext cx="115488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411480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11480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hidden_size=64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45336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545336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lstm_layers=2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679192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679192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attention_head_size=4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13048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813048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dropout=0.1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46904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946904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hidden_continuous_size=16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0760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080760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loss=QuantileLoss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214616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214616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lr=1e-3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48472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8348472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batch=64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482328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482328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max_epochs=60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616184" y="4892040"/>
            <a:ext cx="1078992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10616184" y="4892040"/>
            <a:ext cx="1078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patience=10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5440680"/>
            <a:ext cx="115488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457200" y="5486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TFT — Resultats :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0" y="5486400"/>
            <a:ext cx="169164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743200" y="5486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MAE test: ~1.58 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572000" y="5486400"/>
            <a:ext cx="169164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572000" y="5486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RMSE test: ~2.1 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0" y="5486400"/>
            <a:ext cx="1691640" cy="54864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400800" y="5486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Quantiles: 10%~90%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229600" y="5486400"/>
            <a:ext cx="1691640" cy="54864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229600" y="5486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Statut: Experimentation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0058400" y="5486400"/>
            <a:ext cx="1691640" cy="5486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10058400" y="548640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Avantage: Interpretabilite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5760" y="6291072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3"/>
                </a:solidFill>
              </a:rPr>
              <a:t>Librairie: pytorch-forecasting + pytorch-lightning  |  Ref: Lim et al. (2021) — NeurIPS</a:t>
            </a:r>
          </a:p>
        </p:txBody>
      </p:sp>
    </p:spTree>
  </p:cSld>
  <p:clrMapOvr>
    <a:masterClrMapping/>
  </p:clrMapOvr>
  <p:transition>
    <p:split orient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Architecture LSTM — Modele de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12/3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LSTM Multi-couches — Architecture Detaillee (PyTorch)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70432"/>
            <a:ext cx="1078992" cy="1417320"/>
          </a:xfrm>
          <a:prstGeom prst="rect">
            <a:avLst/>
          </a:prstGeom>
          <a:solidFill>
            <a:srgbClr val="C2DBF0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F47"/>
                </a:solidFill>
              </a:rPr>
              <a:t>INPUT
(24, 49)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53312" y="1815084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426464" y="1170432"/>
            <a:ext cx="1078992" cy="1417320"/>
          </a:xfrm>
          <a:prstGeom prst="rect">
            <a:avLst/>
          </a:prstGeom>
          <a:solidFill>
            <a:srgbClr val="1A6BB8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26464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LSTM 1
128 units
Dropout 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05456" y="1815084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78608" y="1170432"/>
            <a:ext cx="1078992" cy="1417320"/>
          </a:xfrm>
          <a:prstGeom prst="rect">
            <a:avLst/>
          </a:prstGeom>
          <a:solidFill>
            <a:srgbClr val="1A6BB8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78608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LSTM 2
64 units
Dropout 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1815084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730752" y="1170432"/>
            <a:ext cx="1078992" cy="1417320"/>
          </a:xfrm>
          <a:prstGeom prst="rect">
            <a:avLst/>
          </a:prstGeom>
          <a:solidFill>
            <a:srgbClr val="0B1F47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30752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LSTM 3
32 units
Dropout 20%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9744" y="1815084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882896" y="1170432"/>
            <a:ext cx="1078992" cy="1417320"/>
          </a:xfrm>
          <a:prstGeom prst="rect">
            <a:avLst/>
          </a:prstGeom>
          <a:solidFill>
            <a:srgbClr val="5BB8D4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82896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Dense
64 + ReLU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61888" y="1815084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35040" y="1170432"/>
            <a:ext cx="1078992" cy="1417320"/>
          </a:xfrm>
          <a:prstGeom prst="rect">
            <a:avLst/>
          </a:prstGeom>
          <a:solidFill>
            <a:srgbClr val="5BB8D4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Dense
32 + ReLU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14032" y="1815084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187184" y="1170432"/>
            <a:ext cx="1078992" cy="1417320"/>
          </a:xfrm>
          <a:prstGeom prst="rect">
            <a:avLst/>
          </a:prstGeom>
          <a:solidFill>
            <a:srgbClr val="F9C724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87184" y="1170432"/>
            <a:ext cx="107899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B1F47"/>
                </a:solidFill>
              </a:rPr>
              <a:t>OUTPUT
24 vals
(72h)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32520" y="1170432"/>
            <a:ext cx="3291840" cy="38404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32520" y="11704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9C724"/>
                </a:solidFill>
              </a:rPr>
              <a:t>Configuration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32520" y="1627632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0" y="1627632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Optimizer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87000" y="1627632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360152" y="162763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Adam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32520" y="2011680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78240" y="2011680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Loss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87000" y="2011680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360152" y="201168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MSELoss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2395728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778240" y="2395728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lr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87000" y="2395728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360152" y="239572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1e-3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32520" y="2779776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778240" y="2779776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Batch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87000" y="2779776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60152" y="277977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32520" y="3163824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778240" y="3163824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Epochs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287000" y="3163824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360152" y="31638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100 max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732520" y="3547872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778240" y="3547872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Patience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87000" y="3547872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360152" y="3547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32520" y="3931920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778240" y="3931920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Device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287000" y="3931920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360152" y="393192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CPU/CUDA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4315968"/>
            <a:ext cx="1508760" cy="34747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78240" y="4315968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F47"/>
                </a:solidFill>
              </a:rPr>
              <a:t>Norm.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87000" y="4315968"/>
            <a:ext cx="16916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360152" y="431596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Z-score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" y="274320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F47"/>
                </a:solidFill>
              </a:rPr>
              <a:t>Detail cellule LSTM 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3182112"/>
            <a:ext cx="169164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4320" y="3182112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Forget gate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11680" y="3182112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084831" y="3218688"/>
            <a:ext cx="4617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B1F47"/>
                </a:solidFill>
              </a:rPr>
              <a:t>f(t) = sigmoid(Wf.[h,x] + bf)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0" y="3182112"/>
            <a:ext cx="1645920" cy="4754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903720" y="323697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Oublie info passee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758184"/>
            <a:ext cx="1691640" cy="475488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274320" y="3758184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Input gate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0" y="3758184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084831" y="3794760"/>
            <a:ext cx="4617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B1F47"/>
                </a:solidFill>
              </a:rPr>
              <a:t>i(t) = sigmoid(Wi.[h,x] + bi)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0" y="3758184"/>
            <a:ext cx="1645920" cy="4754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903720" y="381304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Quelle info stocker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74320" y="4334256"/>
            <a:ext cx="1691640" cy="47548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74320" y="4334256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Cell state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1680" y="4334256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84831" y="4370832"/>
            <a:ext cx="4617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B1F47"/>
                </a:solidFill>
              </a:rPr>
              <a:t>C(t) = f*C(t-1) + i*tanh(Wc.[h,x])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58000" y="4334256"/>
            <a:ext cx="1645920" cy="4754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903720" y="438912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MAJ memoire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4910328"/>
            <a:ext cx="1691640" cy="475488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74320" y="4910328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Output gate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11680" y="4910328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47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2084831" y="4946904"/>
            <a:ext cx="4617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B1F47"/>
                </a:solidFill>
              </a:rPr>
              <a:t>o(t) = sigmoid(Wo.[h,x] + bo)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8000" y="4910328"/>
            <a:ext cx="1645920" cy="4754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903720" y="49651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Sortie filtree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5486400"/>
            <a:ext cx="1691640" cy="47548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74320" y="5486400"/>
            <a:ext cx="1691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Hidden state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11680" y="548640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2084831" y="5522976"/>
            <a:ext cx="4617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B1F47"/>
                </a:solidFill>
              </a:rPr>
              <a:t>h(t) = o(t) * tanh(C(t))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858000" y="5486400"/>
            <a:ext cx="1645920" cy="475488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903720" y="554126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Etat cache courant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6291072"/>
            <a:ext cx="11612880" cy="2743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MAE test=0.052 C  |  RMSE test=0.068 C  |  MAE prod=0.807 C  |  RMSE prod=1.082 C  |  56 points evalues</a:t>
            </a:r>
          </a:p>
        </p:txBody>
      </p:sp>
    </p:spTree>
  </p:cSld>
  <p:clrMapOvr>
    <a:masterClrMapping/>
  </p:clrMapOvr>
  <p:transition>
    <p:split orient="ver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Resultats &amp; Comparaison des Modeles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13/3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Comparaison MAE — Prophet vs TFT vs LSTM (Production)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4873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3"/>
                </a:solidFill>
              </a:rPr>
              <a:t>0.0C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913632"/>
            <a:ext cx="8229600" cy="9144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" y="37764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3"/>
                </a:solidFill>
              </a:rPr>
              <a:t>0.5C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816352"/>
            <a:ext cx="8229600" cy="9144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" y="26791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3"/>
                </a:solidFill>
              </a:rPr>
              <a:t>1.0C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719072"/>
            <a:ext cx="8229600" cy="9144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" y="15819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3"/>
                </a:solidFill>
              </a:rPr>
              <a:t>1.5C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" y="48463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3"/>
                </a:solidFill>
              </a:rPr>
              <a:t>2.0C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1719072"/>
            <a:ext cx="1463040" cy="32918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139903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</a:rPr>
              <a:t>1.500C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38344"/>
            <a:ext cx="1463040" cy="23774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0474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Ref.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47"/>
                </a:solidFill>
              </a:rPr>
              <a:t>Prophet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1543507"/>
            <a:ext cx="1463040" cy="3467404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0320" y="122346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7300"/>
                </a:solidFill>
              </a:rPr>
              <a:t>1.580C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038344"/>
            <a:ext cx="1463040" cy="237744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560320" y="50474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Exp.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3035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47"/>
                </a:solidFill>
              </a:rPr>
              <a:t>TFT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4896794"/>
            <a:ext cx="1463040" cy="114117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80560" y="457675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8B57"/>
                </a:solidFill>
              </a:rPr>
              <a:t>0.052C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5038344"/>
            <a:ext cx="1463040" cy="237744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50474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3035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47"/>
                </a:solidFill>
              </a:rPr>
              <a:t>LSTM
test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239902"/>
            <a:ext cx="1463040" cy="1771009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291986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6BB8"/>
                </a:solidFill>
              </a:rPr>
              <a:t>0.807C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038344"/>
            <a:ext cx="1463040" cy="237744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50474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PROD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3035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47"/>
                </a:solidFill>
              </a:rPr>
              <a:t>LSTM
prod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1170432"/>
            <a:ext cx="2926080" cy="38404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52560" y="117043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9C724"/>
                </a:solidFill>
              </a:rPr>
              <a:t>MAE LSTM / horizon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2560" y="1627632"/>
            <a:ext cx="2926080" cy="530352"/>
          </a:xfrm>
          <a:prstGeom prst="rect">
            <a:avLst/>
          </a:prstGeom>
          <a:solidFill>
            <a:srgbClr val="FFFFFF"/>
          </a:solidFill>
          <a:ln w="25400">
            <a:solidFill>
              <a:srgbClr val="1E8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25712" y="170078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+3h  (pas 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5712" y="1700784"/>
            <a:ext cx="2816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E8A44"/>
                </a:solidFill>
              </a:rPr>
              <a:t>0.034 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2249424"/>
            <a:ext cx="2926080" cy="530352"/>
          </a:xfrm>
          <a:prstGeom prst="rect">
            <a:avLst/>
          </a:prstGeom>
          <a:solidFill>
            <a:srgbClr val="FFFFFF"/>
          </a:solidFill>
          <a:ln w="25400">
            <a:solidFill>
              <a:srgbClr val="1E8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125712" y="232257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+24h (J+1)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5712" y="2322576"/>
            <a:ext cx="2816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E8A44"/>
                </a:solidFill>
              </a:rPr>
              <a:t>0.051 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2560" y="2871216"/>
            <a:ext cx="2926080" cy="530352"/>
          </a:xfrm>
          <a:prstGeom prst="rect">
            <a:avLst/>
          </a:prstGeom>
          <a:solidFill>
            <a:srgbClr val="FFFFFF"/>
          </a:solidFill>
          <a:ln w="254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25712" y="294436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+48h (J+2)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25712" y="2944368"/>
            <a:ext cx="2816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6BB8"/>
                </a:solidFill>
              </a:rPr>
              <a:t>0.058 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52560" y="3493008"/>
            <a:ext cx="2926080" cy="530352"/>
          </a:xfrm>
          <a:prstGeom prst="rect">
            <a:avLst/>
          </a:prstGeom>
          <a:solidFill>
            <a:srgbClr val="FFFFFF"/>
          </a:solidFill>
          <a:ln w="254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125712" y="356616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+72h (J+3)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25712" y="3566160"/>
            <a:ext cx="2816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A6BB8"/>
                </a:solidFill>
              </a:rPr>
              <a:t>0.069 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52560" y="4114800"/>
            <a:ext cx="2926080" cy="530352"/>
          </a:xfrm>
          <a:prstGeom prst="rect">
            <a:avLst/>
          </a:prstGeom>
          <a:solidFill>
            <a:srgbClr val="FFFFFF"/>
          </a:solidFill>
          <a:ln w="254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125712" y="418795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Global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25712" y="4187952"/>
            <a:ext cx="28163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8B57"/>
                </a:solidFill>
              </a:rPr>
              <a:t>0.052 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760720"/>
            <a:ext cx="11612880" cy="56692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65760" y="5788152"/>
            <a:ext cx="1143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FFFFF"/>
                </a:solidFill>
              </a:rPr>
              <a:t>LSTM </a:t>
            </a:r>
            <a:r>
              <a:rPr sz="1200" b="0" i="0" dirty="0" err="1">
                <a:solidFill>
                  <a:srgbClr val="FFFFFF"/>
                </a:solidFill>
              </a:rPr>
              <a:t>retenu</a:t>
            </a:r>
            <a:r>
              <a:rPr sz="1200" b="0" i="0" dirty="0">
                <a:solidFill>
                  <a:srgbClr val="FFFFFF"/>
                </a:solidFill>
              </a:rPr>
              <a:t> </a:t>
            </a:r>
            <a:r>
              <a:rPr sz="1200" b="0" i="0" dirty="0" err="1">
                <a:solidFill>
                  <a:srgbClr val="FFFFFF"/>
                </a:solidFill>
              </a:rPr>
              <a:t>en</a:t>
            </a:r>
            <a:r>
              <a:rPr sz="1200" b="0" i="0" dirty="0">
                <a:solidFill>
                  <a:srgbClr val="FFFFFF"/>
                </a:solidFill>
              </a:rPr>
              <a:t> PRODUCTION : MAE 0.807 C sur donnees </a:t>
            </a:r>
            <a:r>
              <a:rPr sz="1200" b="0" i="0" dirty="0" err="1">
                <a:solidFill>
                  <a:srgbClr val="FFFFFF"/>
                </a:solidFill>
              </a:rPr>
              <a:t>reelles</a:t>
            </a:r>
            <a:r>
              <a:rPr sz="1200" b="0" i="0" dirty="0">
                <a:solidFill>
                  <a:srgbClr val="FFFFFF"/>
                </a:solidFill>
              </a:rPr>
              <a:t>  |  </a:t>
            </a:r>
            <a:r>
              <a:rPr sz="1200" b="0" i="0" dirty="0" err="1">
                <a:solidFill>
                  <a:srgbClr val="FFFFFF"/>
                </a:solidFill>
              </a:rPr>
              <a:t>Biais</a:t>
            </a:r>
            <a:r>
              <a:rPr sz="1200" b="0" i="0" dirty="0">
                <a:solidFill>
                  <a:srgbClr val="FFFFFF"/>
                </a:solidFill>
              </a:rPr>
              <a:t> : +0.61 C (</a:t>
            </a:r>
            <a:r>
              <a:rPr sz="1200" b="0" i="0" dirty="0" err="1">
                <a:solidFill>
                  <a:srgbClr val="FFFFFF"/>
                </a:solidFill>
              </a:rPr>
              <a:t>surestimation</a:t>
            </a:r>
            <a:r>
              <a:rPr sz="1200" b="0" i="0" dirty="0">
                <a:solidFill>
                  <a:srgbClr val="FFFFFF"/>
                </a:solidFill>
              </a:rPr>
              <a:t> </a:t>
            </a:r>
            <a:r>
              <a:rPr sz="1200" b="0" i="0" dirty="0" err="1">
                <a:solidFill>
                  <a:srgbClr val="FFFFFF"/>
                </a:solidFill>
              </a:rPr>
              <a:t>legere</a:t>
            </a:r>
            <a:r>
              <a:rPr sz="1200" b="0" i="0" dirty="0">
                <a:solidFill>
                  <a:srgbClr val="FFFFFF"/>
                </a:solidFill>
              </a:rPr>
              <a:t>) </a:t>
            </a:r>
          </a:p>
        </p:txBody>
      </p:sp>
    </p:spTree>
  </p:cSld>
  <p:clrMapOvr>
    <a:masterClrMapping/>
  </p:clrMapOvr>
  <p:transition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D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87261" y="2194560"/>
            <a:ext cx="654851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Classification </a:t>
            </a:r>
            <a:r>
              <a:rPr sz="3800" b="1" i="0" dirty="0" err="1">
                <a:solidFill>
                  <a:srgbClr val="FFFFFF"/>
                </a:solidFill>
              </a:rPr>
              <a:t>Multimodale</a:t>
            </a:r>
            <a:endParaRPr sz="3800" b="1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49969" y="3291840"/>
            <a:ext cx="4607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2DBF0"/>
                </a:solidFill>
              </a:rPr>
              <a:t>Images COCO  ·  Textes SNLI  ·  Fusion Early &amp; Joint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4160520"/>
            <a:ext cx="5486400" cy="5486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Section 3 — Classification Multimodale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14/3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</p:spTree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EDA Multimodal —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15/3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Analyse Exploratoire — Dataset Multi-Label (COCO/SNLI)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1554480" cy="45720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10972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Classes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109728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74520" y="1097280"/>
            <a:ext cx="4023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0B1F47"/>
                </a:solidFill>
              </a:rPr>
              <a:t>18 labels (1-19, </a:t>
            </a:r>
            <a:r>
              <a:rPr sz="1100" b="0" i="0" dirty="0" err="1">
                <a:solidFill>
                  <a:srgbClr val="0B1F47"/>
                </a:solidFill>
              </a:rPr>
              <a:t>sauf</a:t>
            </a:r>
            <a:r>
              <a:rPr sz="1100" b="0" i="0" dirty="0">
                <a:solidFill>
                  <a:srgbClr val="0B1F47"/>
                </a:solidFill>
              </a:rPr>
              <a:t> 12)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097280"/>
            <a:ext cx="1554480" cy="45720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0760" y="10972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109728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80960" y="10972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Multi-label (N classes/image)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645920"/>
            <a:ext cx="15544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16459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Images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164592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74520" y="1645920"/>
            <a:ext cx="4023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0B1F47"/>
                </a:solidFill>
              </a:rPr>
              <a:t>Dataset Kaggle Multi-label 2023</a:t>
            </a:r>
            <a:r>
              <a:rPr lang="en-US" sz="1100" b="0" i="0" dirty="0">
                <a:solidFill>
                  <a:srgbClr val="0B1F47"/>
                </a:solidFill>
              </a:rPr>
              <a:t>     40 000 images </a:t>
            </a:r>
            <a:endParaRPr sz="1100" b="0" i="0" dirty="0">
              <a:solidFill>
                <a:srgbClr val="0B1F47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080760" y="1645920"/>
            <a:ext cx="15544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80760" y="16459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Captions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164592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0" y="16459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Descriptions textuelles (SNLI)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194560"/>
            <a:ext cx="15544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Train/Val/Test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219456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874520" y="2194560"/>
            <a:ext cx="40233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0B1F47"/>
                </a:solidFill>
              </a:rPr>
              <a:t>70% / 15% / 15%</a:t>
            </a:r>
            <a:r>
              <a:rPr lang="en-US" sz="1100" b="0" i="0" dirty="0">
                <a:solidFill>
                  <a:srgbClr val="0B1F47"/>
                </a:solidFill>
              </a:rPr>
              <a:t>: Train: 20997 | Val: 4499 | Test: 4500y_train shape: (20997, 18)</a:t>
            </a:r>
            <a:endParaRPr sz="1100" b="0" i="0" dirty="0">
              <a:solidFill>
                <a:srgbClr val="0B1F47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080760" y="2194560"/>
            <a:ext cx="15544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80760" y="21945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Metrique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2194560"/>
            <a:ext cx="4114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80960" y="21945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F1 micro + F1 macro</a:t>
            </a:r>
          </a:p>
        </p:txBody>
      </p:sp>
      <p:pic>
        <p:nvPicPr>
          <p:cNvPr id="33" name="Picture 32" descr="eda_labe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017520"/>
            <a:ext cx="5852160" cy="3383280"/>
          </a:xfrm>
          <a:prstGeom prst="rect">
            <a:avLst/>
          </a:prstGeom>
        </p:spPr>
      </p:pic>
      <p:pic>
        <p:nvPicPr>
          <p:cNvPr id="34" name="Picture 33" descr="eda_word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017520"/>
            <a:ext cx="5669280" cy="33832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4320" y="651052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Distribution labels (image)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6510528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Vocabulaire des captions (texte)</a:t>
            </a: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Classification Images — Architecture CNN/EfficientNet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16/3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Classification d'Images — Pipeline &amp; Architectures CNN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F47"/>
                </a:solidFill>
              </a:rPr>
              <a:t>Pipeline de Traitement des Images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36192"/>
            <a:ext cx="1508760" cy="731520"/>
          </a:xfrm>
          <a:prstGeom prst="rect">
            <a:avLst/>
          </a:prstGeom>
          <a:solidFill>
            <a:srgbClr val="C2DBF0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Image
brute
224x224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1837944"/>
            <a:ext cx="6400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38528" y="1536192"/>
            <a:ext cx="1508760" cy="731520"/>
          </a:xfrm>
          <a:prstGeom prst="rect">
            <a:avLst/>
          </a:prstGeom>
          <a:solidFill>
            <a:srgbClr val="EDF2F7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938528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Resize +
Normalize
ImageNet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7288" y="1837944"/>
            <a:ext cx="6400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11296" y="1536192"/>
            <a:ext cx="1508760" cy="731520"/>
          </a:xfrm>
          <a:prstGeom prst="rect">
            <a:avLst/>
          </a:prstGeom>
          <a:solidFill>
            <a:srgbClr val="EDF2F7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11296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Data
Augment.
flip/crop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0056" y="1837944"/>
            <a:ext cx="6400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84064" y="1536192"/>
            <a:ext cx="1508760" cy="731520"/>
          </a:xfrm>
          <a:prstGeom prst="rect">
            <a:avLst/>
          </a:prstGeom>
          <a:solidFill>
            <a:srgbClr val="1A6BB8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84064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Feature
Extraction
CNN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2824" y="1837944"/>
            <a:ext cx="6400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656832" y="1536192"/>
            <a:ext cx="1508760" cy="731520"/>
          </a:xfrm>
          <a:prstGeom prst="rect">
            <a:avLst/>
          </a:prstGeom>
          <a:solidFill>
            <a:srgbClr val="1A6BB8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56832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GlobalAvg
Pooling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65592" y="1837944"/>
            <a:ext cx="6400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0" y="1536192"/>
            <a:ext cx="1508760" cy="731520"/>
          </a:xfrm>
          <a:prstGeom prst="rect">
            <a:avLst/>
          </a:prstGeom>
          <a:solidFill>
            <a:srgbClr val="5BB8D4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0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Dense
+ Dropout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38360" y="1837944"/>
            <a:ext cx="6400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802368" y="1536192"/>
            <a:ext cx="1508760" cy="731520"/>
          </a:xfrm>
          <a:prstGeom prst="rect">
            <a:avLst/>
          </a:prstGeom>
          <a:solidFill>
            <a:srgbClr val="2E8B57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02368" y="1536192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Sigmoid
(18 sorties)
multi-label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4231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F47"/>
                </a:solidFill>
              </a:rPr>
              <a:t>Trois Architectures Comparees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80360"/>
            <a:ext cx="356616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28803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Experimentation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200400"/>
            <a:ext cx="356616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32004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Baseline CNN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703320"/>
            <a:ext cx="3566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5488" y="3794760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- 3 blocs Conv2D + MaxPool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4233672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Filtres: 32 -&gt; 64 -&gt; 128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4672584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BatchNorm apres Conv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" y="5111496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Dense 256 + Dropout 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" y="5550408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Sigmoid (18 classes)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" y="5989320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Params: ~500K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42232" y="2880360"/>
            <a:ext cx="3566160" cy="32004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42232" y="28803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Transfer Learning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42232" y="3200400"/>
            <a:ext cx="3566160" cy="50292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42232" y="32004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EfficientNetB0
Feature Extractor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42232" y="3703320"/>
            <a:ext cx="3566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51960" y="3794760"/>
            <a:ext cx="33467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0" dirty="0">
                <a:solidFill>
                  <a:srgbClr val="0B1F47"/>
                </a:solidFill>
              </a:rPr>
              <a:t>- EfficientNetB0 </a:t>
            </a:r>
            <a:r>
              <a:rPr lang="fr-FR" sz="1100" b="0" i="0" dirty="0" err="1">
                <a:solidFill>
                  <a:srgbClr val="0B1F47"/>
                </a:solidFill>
              </a:rPr>
              <a:t>gele</a:t>
            </a:r>
            <a:r>
              <a:rPr lang="fr-FR" sz="1100" b="0" i="0" dirty="0">
                <a:solidFill>
                  <a:srgbClr val="0B1F47"/>
                </a:solidFill>
              </a:rPr>
              <a:t> (</a:t>
            </a:r>
            <a:r>
              <a:rPr lang="fr-FR" sz="1100" b="0" i="0" dirty="0" err="1">
                <a:solidFill>
                  <a:srgbClr val="0B1F47"/>
                </a:solidFill>
              </a:rPr>
              <a:t>frozen</a:t>
            </a:r>
            <a:r>
              <a:rPr lang="fr-FR" sz="1100" b="0" i="0" dirty="0">
                <a:solidFill>
                  <a:srgbClr val="0B1F47"/>
                </a:solidFill>
              </a:rPr>
              <a:t>)</a:t>
            </a:r>
            <a:r>
              <a:rPr lang="fr-FR" sz="1100" dirty="0"/>
              <a:t>  'IMAGENET1K_V1'</a:t>
            </a:r>
          </a:p>
          <a:p>
            <a:pPr algn="l"/>
            <a:endParaRPr lang="fr-FR" sz="1100" b="0" i="0" dirty="0">
              <a:solidFill>
                <a:srgbClr val="0B1F47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251960" y="4233672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GlobalAveragePooling2D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4672584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Dense 512 + Dropout 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1960" y="5111496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Dense 256 + Dropout 0.3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60" y="5550408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Sigmoid (18 classes)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0" y="5989320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Params backbone: 4M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18704" y="2880360"/>
            <a:ext cx="3566160" cy="3200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918704" y="28803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18704" y="3200400"/>
            <a:ext cx="3566160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918704" y="32004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EfficientNetB0
Fine-Tuning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18704" y="3703320"/>
            <a:ext cx="35661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028432" y="3794760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Dernieres couches degelees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28432" y="4233672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Fine-tune bloc7 + tete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28432" y="4672584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lr tres faible: 1e-5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28432" y="5111496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Dense 512 + 256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28432" y="5550408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- Sigmoid (18 classes)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2" y="5989320"/>
            <a:ext cx="3346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8B57"/>
                </a:solidFill>
              </a:rPr>
              <a:t>* MEILLEURE PERF.</a:t>
            </a:r>
          </a:p>
        </p:txBody>
      </p:sp>
    </p:spTree>
  </p:cSld>
  <p:clrMapOvr>
    <a:masterClrMapping/>
  </p:clrMapOvr>
  <p:transition>
    <p:split orient="vert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Resultats Classification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17/3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Classification d'Images — Resultats &amp; Courbes d'Apprentissage</a:t>
            </a:r>
          </a:p>
        </p:txBody>
      </p:sp>
      <p:pic>
        <p:nvPicPr>
          <p:cNvPr id="9" name="Picture 8" descr="img_EfficientNetB0_Fine-tu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132320" cy="5257800"/>
          </a:xfrm>
          <a:prstGeom prst="rect">
            <a:avLst/>
          </a:prstGeom>
        </p:spPr>
      </p:pic>
      <p:pic>
        <p:nvPicPr>
          <p:cNvPr id="10" name="Picture 9" descr="img_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5257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74320" y="6446520"/>
            <a:ext cx="1161288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46480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EfficientNetB0 Fine-Tuning : meilleures performances F1 &gt; baseline CNN  |  Transfer learning = gain majeur</a:t>
            </a:r>
          </a:p>
        </p:txBody>
      </p:sp>
    </p:spTree>
  </p:cSld>
  <p:clrMapOvr>
    <a:masterClrMapping/>
  </p:clrMapOvr>
  <p:transition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Classification Texte — 3 Architectures NLP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18/3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Classification de Texte — Pipeline &amp; Trois Architectures NLP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F47"/>
                </a:solidFill>
              </a:rPr>
              <a:t>Pipeline commun de traitement (Captions)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81328"/>
            <a:ext cx="1783080" cy="713232"/>
          </a:xfrm>
          <a:prstGeom prst="rect">
            <a:avLst/>
          </a:prstGeom>
          <a:solidFill>
            <a:srgbClr val="C2DBF0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481328"/>
            <a:ext cx="1783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Texte
brut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8840" y="1783080"/>
            <a:ext cx="91440" cy="10972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240280" y="1481328"/>
            <a:ext cx="1783080" cy="713232"/>
          </a:xfrm>
          <a:prstGeom prst="rect">
            <a:avLst/>
          </a:prstGeom>
          <a:solidFill>
            <a:srgbClr val="EDF2F7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40280" y="1481328"/>
            <a:ext cx="1783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lower +
suppr punct.
stopwords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783080"/>
            <a:ext cx="91440" cy="10972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14800" y="1481328"/>
            <a:ext cx="1783080" cy="713232"/>
          </a:xfrm>
          <a:prstGeom prst="rect">
            <a:avLst/>
          </a:prstGeom>
          <a:solidFill>
            <a:srgbClr val="1A6BB8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0" y="1481328"/>
            <a:ext cx="1783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TF-IDF
(M1+M2)
vecteur 5000d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1783080"/>
            <a:ext cx="91440" cy="10972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89320" y="1481328"/>
            <a:ext cx="1783080" cy="713232"/>
          </a:xfrm>
          <a:prstGeom prst="rect">
            <a:avLst/>
          </a:prstGeom>
          <a:solidFill>
            <a:srgbClr val="5BB8D4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1481328"/>
            <a:ext cx="1783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Tokens
(M3)
indices vocab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1783080"/>
            <a:ext cx="91440" cy="10972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863840" y="1481328"/>
            <a:ext cx="1783080" cy="713232"/>
          </a:xfrm>
          <a:prstGeom prst="rect">
            <a:avLst/>
          </a:prstGeom>
          <a:solidFill>
            <a:srgbClr val="6A0DAD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63840" y="1481328"/>
            <a:ext cx="1783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Modele
(LR / MLP
/ BiLSTM)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46920" y="1783080"/>
            <a:ext cx="91440" cy="10972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738360" y="1481328"/>
            <a:ext cx="1783080" cy="713232"/>
          </a:xfrm>
          <a:prstGeom prst="rect">
            <a:avLst/>
          </a:prstGeom>
          <a:solidFill>
            <a:srgbClr val="2E8B57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38360" y="1481328"/>
            <a:ext cx="1783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Sigmoid
18 sorties
multi-label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3317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F47"/>
                </a:solidFill>
              </a:rPr>
              <a:t>Trois Architectures Comparees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743200"/>
            <a:ext cx="3657600" cy="402336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274320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M1 — TF-IDF + LogReg  [RETENU]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218688"/>
            <a:ext cx="1188720" cy="71323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3218688"/>
            <a:ext cx="1188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TF-IDF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8760" y="3218688"/>
            <a:ext cx="2423160" cy="713232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554480" y="3264408"/>
            <a:ext cx="2331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max_features=5000
ngram_range=(1,2)
sublinear_tf=True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023360"/>
            <a:ext cx="1188720" cy="71323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4320" y="4023360"/>
            <a:ext cx="1188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LogReg OvR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08760" y="4023360"/>
            <a:ext cx="2423160" cy="713232"/>
          </a:xfrm>
          <a:prstGeom prst="rect">
            <a:avLst/>
          </a:prstGeom>
          <a:solidFill>
            <a:srgbClr val="C2DBF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554480" y="4069080"/>
            <a:ext cx="2331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OneVsRestClassifier
LogisticRegression(C=1.0)
max_iter=1000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828032"/>
            <a:ext cx="1188720" cy="71323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74320" y="4828032"/>
            <a:ext cx="1188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Sortie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08760" y="4828032"/>
            <a:ext cx="2423160" cy="713232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554480" y="4873752"/>
            <a:ext cx="2331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18 classifieurs binaires
independants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650992"/>
            <a:ext cx="3657600" cy="420624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74320" y="5650992"/>
            <a:ext cx="3657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F1 micro = 0.8048  |  Precision = 0.9217  [BEST]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2743200"/>
            <a:ext cx="3566160" cy="402336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0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M2 — TF-IDF + MLP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0" y="3218688"/>
            <a:ext cx="1097280" cy="566928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14800" y="3218688"/>
            <a:ext cx="1097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Entree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3218688"/>
            <a:ext cx="2423160" cy="56692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303520" y="3255264"/>
            <a:ext cx="2331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TF-IDF (5000d)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3877056"/>
            <a:ext cx="1097280" cy="566928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0" y="3877056"/>
            <a:ext cx="1097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Dense 512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3877056"/>
            <a:ext cx="2423160" cy="566928"/>
          </a:xfrm>
          <a:prstGeom prst="rect">
            <a:avLst/>
          </a:prstGeom>
          <a:solidFill>
            <a:srgbClr val="C2DBF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303520" y="3913632"/>
            <a:ext cx="2331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Linear + BN + ReLU
+ Dropout 0.4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4535424"/>
            <a:ext cx="1097280" cy="566928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14800" y="4535424"/>
            <a:ext cx="1097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Dense 256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535424"/>
            <a:ext cx="2423160" cy="566928"/>
          </a:xfrm>
          <a:prstGeom prst="rect">
            <a:avLst/>
          </a:prstGeom>
          <a:solidFill>
            <a:srgbClr val="C2DBF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303520" y="4572000"/>
            <a:ext cx="2331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Linear + BN + ReLU
+ Dropout 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14800" y="5193792"/>
            <a:ext cx="1097280" cy="566928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114800" y="5193792"/>
            <a:ext cx="1097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Sortie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5193792"/>
            <a:ext cx="2423160" cy="566928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303520" y="5230368"/>
            <a:ext cx="2331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Linear(256,18)
+ Sigmoid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5650992"/>
            <a:ext cx="3566160" cy="420624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0" y="5650992"/>
            <a:ext cx="35661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F1 micro = 0.7147  |  Recall = 0.7752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63840" y="2743200"/>
            <a:ext cx="4114800" cy="402336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863840" y="274320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M3 — Bi-LSTM (Deep Learning)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3218688"/>
            <a:ext cx="118872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63840" y="3218688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Entree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98280" y="3218688"/>
            <a:ext cx="2880360" cy="420624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144000" y="3246120"/>
            <a:ext cx="2816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Tokens indices
max_len=20, vocab=10002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3721608"/>
            <a:ext cx="118872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863840" y="3721608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Embedding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98280" y="3721608"/>
            <a:ext cx="2880360" cy="420624"/>
          </a:xfrm>
          <a:prstGeom prst="rect">
            <a:avLst/>
          </a:prstGeom>
          <a:solidFill>
            <a:srgbClr val="C2DBF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144000" y="3749040"/>
            <a:ext cx="2816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Embed(10002, 128)
(appris, pas GloVe)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63840" y="4224528"/>
            <a:ext cx="118872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863840" y="4224528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BiLSTM x2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98280" y="4224528"/>
            <a:ext cx="2880360" cy="420624"/>
          </a:xfrm>
          <a:prstGeom prst="rect">
            <a:avLst/>
          </a:prstGeom>
          <a:solidFill>
            <a:srgbClr val="C2DBF0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0" y="4251960"/>
            <a:ext cx="2816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LSTM(128,128, bidir=True)
2 couches, dropout=0.3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863840" y="4727448"/>
            <a:ext cx="118872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863840" y="4727448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AvgPool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98280" y="4727448"/>
            <a:ext cx="2880360" cy="420624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144000" y="4754880"/>
            <a:ext cx="2816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mean(out, dim=1)
-&gt; (batch, 256d)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63840" y="5230368"/>
            <a:ext cx="118872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863840" y="5230368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Dense 128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98280" y="5230368"/>
            <a:ext cx="2880360" cy="420624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9144000" y="5257800"/>
            <a:ext cx="2816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Linear(256,128)+ReLU
+Dropout 0.3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5733288"/>
            <a:ext cx="118872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863840" y="5733288"/>
            <a:ext cx="11887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Sortie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98280" y="5733288"/>
            <a:ext cx="2880360" cy="420624"/>
          </a:xfrm>
          <a:prstGeom prst="rect">
            <a:avLst/>
          </a:prstGeom>
          <a:solidFill>
            <a:srgbClr val="6A0DAD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144000" y="5760720"/>
            <a:ext cx="2816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F47"/>
                </a:solidFill>
              </a:rPr>
              <a:t>Linear(128,18)
+Sigmoid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63840" y="5650992"/>
            <a:ext cx="411480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863840" y="5650992"/>
            <a:ext cx="4114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F1 micro = 0.6575  |  Recall = 0.7692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6236208"/>
            <a:ext cx="11612880" cy="3200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65760" y="6254496"/>
            <a:ext cx="114300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Modele retenu : TF-IDF + LogReg (F1=0.8048)  — Le classifieur lineaire surpasse les approches DL sur ce corpus court  | Precision = 0.9217</a:t>
            </a:r>
          </a:p>
        </p:txBody>
      </p:sp>
    </p:spTree>
  </p:cSld>
  <p:clrMapOvr>
    <a:masterClrMapping/>
  </p:clrMapOvr>
  <p:transition>
    <p:split orient="vert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Resultats Classification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19/3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Classification Texte — Resultats &amp; Courbes d'Apprentissage</a:t>
            </a:r>
          </a:p>
        </p:txBody>
      </p:sp>
      <p:pic>
        <p:nvPicPr>
          <p:cNvPr id="9" name="Picture 8" descr="text_ml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93192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02336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Courbes apprentissage MLP</a:t>
            </a:r>
          </a:p>
        </p:txBody>
      </p:sp>
      <p:pic>
        <p:nvPicPr>
          <p:cNvPr id="11" name="Picture 10" descr="text_bilstm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51560"/>
            <a:ext cx="3931920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9120" y="4023360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Courbes apprentissage BiLSTM</a:t>
            </a:r>
          </a:p>
        </p:txBody>
      </p:sp>
      <p:pic>
        <p:nvPicPr>
          <p:cNvPr id="13" name="Picture 12" descr="text_model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51560"/>
            <a:ext cx="3474720" cy="2926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03920" y="4023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Comparaison 3 modeles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370832"/>
            <a:ext cx="3200400" cy="38404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Modele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4370832"/>
            <a:ext cx="137160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4370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F1 micro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4370832"/>
            <a:ext cx="137160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0" y="4370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F1 macro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370832"/>
            <a:ext cx="137160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17920" y="4370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4370832"/>
            <a:ext cx="137160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20" y="4370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4370832"/>
            <a:ext cx="2560320" cy="38404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0" y="437083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Statut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754880"/>
            <a:ext cx="3200400" cy="438912"/>
          </a:xfrm>
          <a:prstGeom prst="rect">
            <a:avLst/>
          </a:prstGeom>
          <a:solidFill>
            <a:srgbClr val="E8F8EE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9184" y="480974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TF-IDF + LR (baseline)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4754880"/>
            <a:ext cx="1371600" cy="438912"/>
          </a:xfrm>
          <a:prstGeom prst="rect">
            <a:avLst/>
          </a:prstGeom>
          <a:solidFill>
            <a:srgbClr val="E8F8EE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529584" y="480974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</a:rPr>
              <a:t>0.8048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4754880"/>
            <a:ext cx="1371600" cy="438912"/>
          </a:xfrm>
          <a:prstGeom prst="rect">
            <a:avLst/>
          </a:prstGeom>
          <a:solidFill>
            <a:srgbClr val="E8F8EE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01184" y="480974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</a:rPr>
              <a:t>0.6867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754880"/>
            <a:ext cx="1371600" cy="438912"/>
          </a:xfrm>
          <a:prstGeom prst="rect">
            <a:avLst/>
          </a:prstGeom>
          <a:solidFill>
            <a:srgbClr val="E8F8EE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72784" y="480974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</a:rPr>
              <a:t>0.9217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754880"/>
            <a:ext cx="1371600" cy="438912"/>
          </a:xfrm>
          <a:prstGeom prst="rect">
            <a:avLst/>
          </a:prstGeom>
          <a:solidFill>
            <a:srgbClr val="E8F8EE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644384" y="480974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</a:rPr>
              <a:t>0.7142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4754880"/>
            <a:ext cx="2560320" cy="438912"/>
          </a:xfrm>
          <a:prstGeom prst="rect">
            <a:avLst/>
          </a:prstGeom>
          <a:solidFill>
            <a:srgbClr val="1E8A44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15984" y="4809744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RETENU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193792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9184" y="5248656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TF-IDF + MLP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0" y="5193792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529584" y="524865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0.7147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5193792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01184" y="524865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0.6230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193792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72784" y="524865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0.6629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89520" y="5193792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44384" y="524865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0.7752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61120" y="5193792"/>
            <a:ext cx="2560320" cy="438912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015984" y="5248656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Exp.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632704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9184" y="5687568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Bi-LSTM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0" y="5632704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529584" y="568756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0.6575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632704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901184" y="568756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0.5926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5632704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72784" y="568756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0.5741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5632704"/>
            <a:ext cx="1371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644384" y="568756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0.7692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61120" y="5632704"/>
            <a:ext cx="2560320" cy="438912"/>
          </a:xfrm>
          <a:prstGeom prst="rect">
            <a:avLst/>
          </a:prstGeom>
          <a:solidFill>
            <a:srgbClr val="EDF2F7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015984" y="5687568"/>
            <a:ext cx="24505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Exp.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6400800"/>
            <a:ext cx="11612880" cy="25603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Modele retenu : TF-IDF + LogReg  (F1=0.8048, Precision=0.9217)  — Le classifieur lineaire surpasse MLP et BiLSTM sur les captions courtes</a:t>
            </a:r>
          </a:p>
        </p:txBody>
      </p:sp>
    </p:spTree>
  </p:cSld>
  <p:clrMapOvr>
    <a:masterClrMapping/>
  </p:clrMapOvr>
  <p:transition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Fusion Multimodale —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20/3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Fusion Multimodale — Architectures Early Fusion &amp; Joint Fusion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78992"/>
            <a:ext cx="5486400" cy="43891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1078992"/>
            <a:ext cx="5486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Early Fusion  —  F1 = 0.738  (MEILLEUR)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17904"/>
            <a:ext cx="5486400" cy="5047488"/>
          </a:xfrm>
          <a:prstGeom prst="rect">
            <a:avLst/>
          </a:prstGeom>
          <a:solidFill>
            <a:srgbClr val="FFFFFF"/>
          </a:solidFill>
          <a:ln w="254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645920"/>
            <a:ext cx="2286000" cy="5303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645920"/>
            <a:ext cx="2286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Image (EfficientNet)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76272"/>
            <a:ext cx="2286000" cy="329184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217627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features : 1280d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645920"/>
            <a:ext cx="2377440" cy="530352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1645920"/>
            <a:ext cx="2377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Texte (BiLSTM+Attn)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176272"/>
            <a:ext cx="2377440" cy="329184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0" y="217627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features : 256d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2505456"/>
            <a:ext cx="128016" cy="256032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360" y="2505456"/>
            <a:ext cx="128016" cy="256032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761488"/>
            <a:ext cx="4892040" cy="53035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2761488"/>
            <a:ext cx="4892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Concatenation  [1280 + 256 = 1536d]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3291840"/>
            <a:ext cx="128016" cy="20116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11480" y="3493008"/>
            <a:ext cx="4892040" cy="50292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493008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Dense 512  +  ReLU  +  BatchNorm  +  Dropout 0.4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40" y="3995928"/>
            <a:ext cx="128016" cy="20116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1480" y="4197096"/>
            <a:ext cx="4892040" cy="50292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4197096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Dense 256  +  ReLU  +  Dropout 0.3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4700016"/>
            <a:ext cx="128016" cy="20116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11480" y="4901184"/>
            <a:ext cx="4892040" cy="5029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901184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47"/>
                </a:solidFill>
              </a:rPr>
              <a:t>Linear(256, 18)  +  Sigmoid  (18 classes multi-label)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078992"/>
            <a:ext cx="5943600" cy="438912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89320" y="107899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Joint Fusion  —  F1 = 0.712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9320" y="1517904"/>
            <a:ext cx="5943600" cy="5047488"/>
          </a:xfrm>
          <a:prstGeom prst="rect">
            <a:avLst/>
          </a:prstGeom>
          <a:solidFill>
            <a:srgbClr val="FFFFFF"/>
          </a:solidFill>
          <a:ln w="254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126480" y="1645920"/>
            <a:ext cx="2468880" cy="5303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26480" y="1645920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Image branch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EfficientNet -&gt; Dense 512
-&gt; features 512d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1645920"/>
            <a:ext cx="2834640" cy="530352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69680" y="1645920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Texte branch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69680" y="2176272"/>
            <a:ext cx="2834640" cy="329184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869680" y="217627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BiLSTM -&gt; Dense 256
-&gt; features 256d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69480" y="2505456"/>
            <a:ext cx="128016" cy="256032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195560" y="2505456"/>
            <a:ext cx="128016" cy="256032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126480" y="2761488"/>
            <a:ext cx="5669280" cy="56692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26480" y="2761488"/>
            <a:ext cx="5669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Cross-Attention
Q = image  |  K = V = texte  -&gt;  attention multimodale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3328416"/>
            <a:ext cx="128016" cy="20116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26480" y="3529584"/>
            <a:ext cx="5669280" cy="53035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26480" y="3529584"/>
            <a:ext cx="5669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Fusion MLP  :  Concat(attn, img, txt)  -&gt;  Dense 512  -&gt;  Dense 256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4059936"/>
            <a:ext cx="128016" cy="201168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126480" y="4261104"/>
            <a:ext cx="5669280" cy="50292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26480" y="4261104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Dense 256  +  ReLU  +  Dropout 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69680" y="4764024"/>
            <a:ext cx="128016" cy="164592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126480" y="4928616"/>
            <a:ext cx="5669280" cy="50292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26480" y="4928616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B1F47"/>
                </a:solidFill>
              </a:rPr>
              <a:t>Linear(256, 18)  +  Sigmoid  (18 classes)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10528"/>
            <a:ext cx="11612880" cy="25603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8640" y="652881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573"/>
                </a:solidFill>
              </a:rPr>
              <a:t>Image seule : F1=0.681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80" y="652881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573"/>
                </a:solidFill>
              </a:rPr>
              <a:t>Texte seul : F1=0.695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652881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2DBF0"/>
                </a:solidFill>
              </a:rPr>
              <a:t>Joint Fusion : F1=0.712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652881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9C724"/>
                </a:solidFill>
              </a:rPr>
              <a:t>Early Fusion : F1=0.738 BEST</a:t>
            </a:r>
          </a:p>
        </p:txBody>
      </p:sp>
    </p:spTree>
  </p:cSld>
  <p:clrMapOvr>
    <a:masterClrMapping/>
  </p:clrMapOvr>
  <p:transition>
    <p:split orient="vert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Resultats Fusion Multimodale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21/3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Fusion Multimodale — Resultats &amp; Analyse</a:t>
            </a:r>
          </a:p>
        </p:txBody>
      </p:sp>
      <p:pic>
        <p:nvPicPr>
          <p:cNvPr id="9" name="Picture 8" descr="fusion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25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1051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F47"/>
                </a:solidFill>
              </a:rPr>
              <a:t>Synthese des Resultats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554480"/>
            <a:ext cx="420624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0" y="1554480"/>
            <a:ext cx="228600" cy="65836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1645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Early Fusion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6459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8B57"/>
                </a:solidFill>
              </a:rPr>
              <a:t>F1 = 0.7383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304288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23957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F47"/>
                </a:solidFill>
              </a:rPr>
              <a:t>Joint 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3957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A6BB8"/>
                </a:solidFill>
              </a:rPr>
              <a:t>F1 = 0.712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05409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6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0" y="314553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F47"/>
                </a:solidFill>
              </a:rPr>
              <a:t>Image seule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145536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67300"/>
                </a:solidFill>
              </a:rPr>
              <a:t>F1 = 0.681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803904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0" y="389534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F47"/>
                </a:solidFill>
              </a:rPr>
              <a:t>Texte seul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95344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6A0DAD"/>
                </a:solidFill>
              </a:rPr>
              <a:t>F1 = 0.695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4553712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0" y="46451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F47"/>
                </a:solidFill>
              </a:rPr>
              <a:t>Baseline LR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64515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C0392B"/>
                </a:solidFill>
              </a:rPr>
              <a:t>F1 = ~0.5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5349240"/>
            <a:ext cx="4206240" cy="960120"/>
          </a:xfrm>
          <a:prstGeom prst="rect">
            <a:avLst/>
          </a:prstGeom>
          <a:solidFill>
            <a:srgbClr val="E8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18120" y="53766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B57"/>
                </a:solidFill>
              </a:rPr>
              <a:t>Pourquoi Early Fusion &gt; Joint 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687568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B1F47"/>
                </a:solidFill>
              </a:rPr>
              <a:t>La concatenation directe avant les couches denses permet une fusion plus riche. Le cross-attention joint ajoute de la complexite sans gain.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492240"/>
            <a:ext cx="11612880" cy="25603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51052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Conclusion : La fusion image+texte (Early Fusion) surpasse systematiquement les modalites separees — F1 +5.7% vs image seule</a:t>
            </a:r>
          </a:p>
        </p:txBody>
      </p:sp>
    </p:spTree>
  </p:cSld>
  <p:clrMapOvr>
    <a:masterClrMapping/>
  </p:clrMapOvr>
  <p:transition>
    <p:wip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D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57889" y="2230458"/>
            <a:ext cx="3882683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MLOps / DevOps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4289" y="3315994"/>
            <a:ext cx="4318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2DBF0"/>
                </a:solidFill>
              </a:rPr>
              <a:t>Docker · Airflow · CI/CD · FastAPI · Monitoring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4160520"/>
            <a:ext cx="5486400" cy="54864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Section 4 — MLOps / DevOps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22/3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</p:spTree>
  </p:cSld>
  <p:clrMapOvr>
    <a:masterClrMapping/>
  </p:clrMapOvr>
  <p:transition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Infrastructure Docker — 7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23/3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Architecture Docker Compose — 7 Microservices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1143000"/>
            <a:ext cx="15544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1143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600200"/>
            <a:ext cx="155448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16002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947672"/>
            <a:ext cx="1554480" cy="29260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" y="194767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:8000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240280"/>
            <a:ext cx="1554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REST API
Predictions
Monitoring
/health /metrics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84832" y="1143000"/>
            <a:ext cx="1554480" cy="45720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84832" y="1143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web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84832" y="1600200"/>
            <a:ext cx="155448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84832" y="16002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Flask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84832" y="1947672"/>
            <a:ext cx="1554480" cy="29260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084832" y="1947672"/>
            <a:ext cx="1554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0B1F47"/>
                </a:solidFill>
              </a:rPr>
              <a:t>:</a:t>
            </a:r>
            <a:r>
              <a:rPr lang="en-US" sz="900" b="0" i="0" dirty="0">
                <a:solidFill>
                  <a:srgbClr val="0B1F47"/>
                </a:solidFill>
              </a:rPr>
              <a:t>8</a:t>
            </a:r>
            <a:r>
              <a:rPr sz="900" b="0" i="0" dirty="0">
                <a:solidFill>
                  <a:srgbClr val="0B1F47"/>
                </a:solidFill>
              </a:rPr>
              <a:t>0</a:t>
            </a:r>
            <a:r>
              <a:rPr lang="en-US" sz="900" b="0" i="0" dirty="0">
                <a:solidFill>
                  <a:srgbClr val="0B1F47"/>
                </a:solidFill>
              </a:rPr>
              <a:t>8</a:t>
            </a:r>
            <a:r>
              <a:rPr sz="900" b="0" i="0" dirty="0">
                <a:solidFill>
                  <a:srgbClr val="0B1F47"/>
                </a:solidFill>
              </a:rPr>
              <a:t>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84832" y="2240280"/>
            <a:ext cx="1554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5798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Interface
utilisateur
Jinja2
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2192" y="1143000"/>
            <a:ext cx="1554480" cy="45720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22192" y="1143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grafana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22192" y="1600200"/>
            <a:ext cx="155448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22192" y="16002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Grafana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22192" y="1947672"/>
            <a:ext cx="1554480" cy="29260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822192" y="194767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:3000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22192" y="2240280"/>
            <a:ext cx="1554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9534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Dashboards
Metriques
Infinity
Prometheus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59552" y="1143000"/>
            <a:ext cx="155448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559552" y="1143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prometheus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59552" y="1600200"/>
            <a:ext cx="155448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559552" y="16002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Prometheus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59552" y="1947672"/>
            <a:ext cx="1554480" cy="29260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59552" y="194767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:9090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59552" y="2240280"/>
            <a:ext cx="1554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3270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Scraping
metriques
/metrics
Alertes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6912" y="1143000"/>
            <a:ext cx="15544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96912" y="1143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airflow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96912" y="1600200"/>
            <a:ext cx="155448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96912" y="16002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Airflow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96912" y="1947672"/>
            <a:ext cx="1554480" cy="29260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296912" y="194767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:8080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96912" y="2240280"/>
            <a:ext cx="1554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7006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DAG fetch
DAG predict
@daily
Logs UI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34272" y="1143000"/>
            <a:ext cx="1554480" cy="457200"/>
          </a:xfrm>
          <a:prstGeom prst="rect">
            <a:avLst/>
          </a:prstGeom>
          <a:solidFill>
            <a:srgbClr val="5565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034272" y="11430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34272" y="1600200"/>
            <a:ext cx="155448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034272" y="16002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SQLite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34272" y="1947672"/>
            <a:ext cx="1554480" cy="292608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34272" y="194767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B1F47"/>
                </a:solidFill>
              </a:rPr>
              <a:t>volume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34272" y="2240280"/>
            <a:ext cx="1554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556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0742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weather.db
Predictions
Observations
Partage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771632" y="1143000"/>
            <a:ext cx="1420368" cy="45720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771632" y="1143000"/>
            <a:ext cx="14200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mlflow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771632" y="1600200"/>
            <a:ext cx="1420368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771632" y="1600200"/>
            <a:ext cx="14200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MLflow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771632" y="1947672"/>
            <a:ext cx="1420368" cy="246221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771632" y="1947672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0B1F47"/>
                </a:solidFill>
              </a:rPr>
              <a:t>:500</a:t>
            </a:r>
            <a:r>
              <a:rPr lang="en-US" sz="900" b="0" i="0" dirty="0">
                <a:solidFill>
                  <a:srgbClr val="0B1F47"/>
                </a:solidFill>
              </a:rPr>
              <a:t>0</a:t>
            </a:r>
            <a:endParaRPr sz="900" b="0" i="0" dirty="0">
              <a:solidFill>
                <a:srgbClr val="0B1F47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0771632" y="2240280"/>
            <a:ext cx="14203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844784" y="2331720"/>
            <a:ext cx="1408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Model
Registry
Experiences
Artefacts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5897880"/>
            <a:ext cx="11521440" cy="411480"/>
          </a:xfrm>
          <a:prstGeom prst="rect">
            <a:avLst/>
          </a:prstGeom>
          <a:solidFill>
            <a:srgbClr val="006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" y="5916168"/>
            <a:ext cx="1133856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Reseau Docker : projet_final_network  |  Volume SQLite partage  |  .env pour variables sensibles  |  healthcheck sur api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Airflow &amp; Pipeline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24/3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Orchestration Airflow &amp; Deploiement Continu (GitHub Actions)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1143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B1F47"/>
                </a:solidFill>
              </a:rPr>
              <a:t>Pipeline Airflow (schedule: @daily — 0</a:t>
            </a:r>
            <a:r>
              <a:rPr lang="en-US" sz="1400" b="1" i="0" dirty="0">
                <a:solidFill>
                  <a:srgbClr val="0B1F47"/>
                </a:solidFill>
              </a:rPr>
              <a:t>1</a:t>
            </a:r>
            <a:r>
              <a:rPr sz="1400" b="1" i="0" dirty="0">
                <a:solidFill>
                  <a:srgbClr val="0B1F47"/>
                </a:solidFill>
              </a:rPr>
              <a:t>:00 UTC)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72768"/>
            <a:ext cx="2103120" cy="34747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[1] fetch_weather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240"/>
            <a:ext cx="2103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956816"/>
            <a:ext cx="2103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GET Open-Meteo
72h previsions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057400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42032" y="1572768"/>
            <a:ext cx="2103120" cy="347472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42032" y="15727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[2] validate_data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920240"/>
            <a:ext cx="2103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1956816"/>
            <a:ext cx="2103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Check non-null
Qualite donnees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45152" y="2057400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718304" y="1572768"/>
            <a:ext cx="2103120" cy="34747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18304" y="15727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[3] run_predictions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18304" y="1920240"/>
            <a:ext cx="2103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18304" y="1956816"/>
            <a:ext cx="2103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LSTM inference
24 pas x 3h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21424" y="2057400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894576" y="1572768"/>
            <a:ext cx="2103120" cy="347472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94576" y="15727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[4] store_results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6" y="1920240"/>
            <a:ext cx="2103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94576" y="1956816"/>
            <a:ext cx="2103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INSERT SQLite
weather.db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97696" y="2057400"/>
            <a:ext cx="73152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70848" y="1572768"/>
            <a:ext cx="2103120" cy="347472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70848" y="15727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[5] trigger_report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70848" y="1920240"/>
            <a:ext cx="2103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70848" y="1956816"/>
            <a:ext cx="21031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Genere rapport
monitoring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834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Retry: 3 fois  |  SLA: 30min  |  Logs: Airflow UI :8080  |  Trigger: manuel ou schedule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3291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F47"/>
                </a:solidFill>
              </a:rPr>
              <a:t>Pipeline CI/CD — GitHub Actions (push sur main)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794760"/>
            <a:ext cx="1554480" cy="292608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37947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087368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1F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65760" y="4123944"/>
            <a:ext cx="1554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git push
(trigger)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4279392"/>
            <a:ext cx="20116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121408" y="3794760"/>
            <a:ext cx="1554480" cy="292608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21408" y="37947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21408" y="4087368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121408" y="4123944"/>
            <a:ext cx="1554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pip install
requirements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75888" y="4279392"/>
            <a:ext cx="20116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877056" y="3794760"/>
            <a:ext cx="1554480" cy="29260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877056" y="37947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77056" y="4087368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877056" y="4123944"/>
            <a:ext cx="1554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pytest
16 tests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31536" y="4279392"/>
            <a:ext cx="20116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632704" y="3794760"/>
            <a:ext cx="1554480" cy="292608"/>
          </a:xfrm>
          <a:prstGeom prst="rect">
            <a:avLst/>
          </a:prstGeom>
          <a:solidFill>
            <a:srgbClr val="006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632704" y="37947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32704" y="4087368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06D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632704" y="4123944"/>
            <a:ext cx="1554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docker
build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87184" y="4279392"/>
            <a:ext cx="20116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388352" y="3794760"/>
            <a:ext cx="1554480" cy="292608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388352" y="37947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88352" y="4087368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6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88352" y="4123944"/>
            <a:ext cx="1554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docker-compose
up -d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42832" y="4279392"/>
            <a:ext cx="20116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9144000" y="3794760"/>
            <a:ext cx="1554480" cy="292608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144000" y="37947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4087368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E8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144000" y="4123944"/>
            <a:ext cx="15544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GET /health
assert 200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698480" y="4279392"/>
            <a:ext cx="201168" cy="12801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10899648" y="3794760"/>
            <a:ext cx="1292047" cy="310896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0637215" y="3794760"/>
            <a:ext cx="155448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899648" y="4087368"/>
            <a:ext cx="129235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F9C7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0899648" y="4123944"/>
            <a:ext cx="13533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Badge
statut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5074920"/>
            <a:ext cx="11430000" cy="411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510235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B1F47"/>
                </a:solidFill>
              </a:rPr>
              <a:t>GIT_COMMIT_ID -&gt; SOFTWARE_VERSION  |  Secrets dans GitHub Secrets  |  Rollback auto si health check echoue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5596128"/>
            <a:ext cx="12191695" cy="36576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6576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F47"/>
                </a:solidFill>
              </a:rPr>
              <a:t>FastAPI — Endpoints principaux :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6053328"/>
            <a:ext cx="1828800" cy="347472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65760" y="60533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 /health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0" y="6053328"/>
            <a:ext cx="1828800" cy="347472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286000" y="60533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 /predictions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206240" y="6053328"/>
            <a:ext cx="1828800" cy="347472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06240" y="60533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 /monitoring/data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126480" y="6053328"/>
            <a:ext cx="1828800" cy="347472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126480" y="60533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POST /pipeline/fetch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46720" y="6053328"/>
            <a:ext cx="1828800" cy="347472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046720" y="60533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POST /pipeline/predict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966960" y="6053328"/>
            <a:ext cx="182880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9966960" y="60533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GET /metrics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D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51918" y="2286000"/>
            <a:ext cx="354505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</a:rPr>
              <a:t>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29184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C2DBF0"/>
                </a:solidFill>
              </a:rPr>
              <a:t>Interface Web · Dashboard Grafana · Tests </a:t>
            </a:r>
            <a:r>
              <a:rPr sz="1600" b="0" i="0" dirty="0" err="1">
                <a:solidFill>
                  <a:srgbClr val="C2DBF0"/>
                </a:solidFill>
              </a:rPr>
              <a:t>Automatises</a:t>
            </a:r>
            <a:endParaRPr sz="1600" b="0" i="0" dirty="0">
              <a:solidFill>
                <a:srgbClr val="C2DBF0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40480" y="4160520"/>
            <a:ext cx="5486400" cy="54864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Section 5 — Demonstration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25/3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</p:spTree>
  </p:cSld>
  <p:clrMapOvr>
    <a:masterClrMapping/>
  </p:clrMapOvr>
  <p:transition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Interface Web — Dashboard Meteo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26/3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0B1F47"/>
                </a:solidFill>
              </a:rPr>
              <a:t>Interface Web </a:t>
            </a:r>
            <a:r>
              <a:rPr lang="en-US" sz="2100" b="1" dirty="0">
                <a:solidFill>
                  <a:srgbClr val="0B1F47"/>
                </a:solidFill>
              </a:rPr>
              <a:t>docs</a:t>
            </a:r>
            <a:endParaRPr sz="2100" b="1" i="0" dirty="0">
              <a:solidFill>
                <a:srgbClr val="0B1F47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57400" y="1600200"/>
            <a:ext cx="1600200" cy="347472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5740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Demain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600200"/>
            <a:ext cx="1600200" cy="347472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4904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J+2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600200"/>
            <a:ext cx="1600200" cy="347472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4068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J+3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89888" y="2029968"/>
            <a:ext cx="960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89888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03h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18488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89888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9888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24 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6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14016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06h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42616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14016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AUBE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6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25 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38144" y="2029968"/>
            <a:ext cx="960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38144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09h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66744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38144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NUAGE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38144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29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62272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62272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12h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90872" y="2331720"/>
            <a:ext cx="502920" cy="4114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62272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2272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32 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2029968"/>
            <a:ext cx="960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0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15h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15000" y="2331720"/>
            <a:ext cx="502920" cy="4114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0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34 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10528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10528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18h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39128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10528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SOIR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0528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31 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3977639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573"/>
                </a:solidFill>
              </a:rPr>
              <a:t>Courbe temperature sur 72h (graphique Chart.js)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0" y="48463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43200" y="4892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Max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5166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1F47"/>
                </a:solidFill>
              </a:rPr>
              <a:t>34 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0" y="48463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9200" y="4892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Min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5166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1F47"/>
                </a:solidFill>
              </a:rPr>
              <a:t>24 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1572768"/>
            <a:ext cx="182880" cy="420624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8046720" y="2075688"/>
            <a:ext cx="182880" cy="420624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302752" y="21396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Navigation 4 onglets (jours)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46720" y="2578608"/>
            <a:ext cx="182880" cy="420624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046720" y="3081528"/>
            <a:ext cx="182880" cy="420624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8046720" y="3584448"/>
            <a:ext cx="182880" cy="420624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302752" y="364845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Refresh via API FastAPI :8000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46720" y="4087368"/>
            <a:ext cx="182880" cy="420624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46720" y="4590288"/>
            <a:ext cx="18288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046720" y="509320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8046720" y="5093208"/>
            <a:ext cx="182880" cy="420624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274320" y="6510528"/>
            <a:ext cx="11612880" cy="25603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365760" y="652881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2DBF0"/>
                </a:solidFill>
              </a:rPr>
              <a:t>Flux : Open-Meteo -&gt; Airflow (fetch) -&gt; SQLite -&gt; FastAPI :8000 -&gt; Flask :5000 -&gt; Utilisateur</a:t>
            </a:r>
          </a:p>
        </p:txBody>
      </p:sp>
      <p:pic>
        <p:nvPicPr>
          <p:cNvPr id="95" name="Image 94">
            <a:extLst>
              <a:ext uri="{FF2B5EF4-FFF2-40B4-BE49-F238E27FC236}">
                <a16:creationId xmlns:a16="http://schemas.microsoft.com/office/drawing/2014/main" id="{DACD00FE-4374-4930-B1EA-D8479B8FF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19" y="1133856"/>
            <a:ext cx="10902462" cy="483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04709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Interface Web — Dashboard Meteo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</a:t>
            </a:r>
            <a:r>
              <a:rPr lang="en-US" sz="1000" b="0" i="0" dirty="0">
                <a:solidFill>
                  <a:srgbClr val="F9C724"/>
                </a:solidFill>
              </a:rPr>
              <a:t>7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Interface Web Flask — Dashboard de Prevision Meteorologique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051560"/>
            <a:ext cx="7589520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051560"/>
            <a:ext cx="7589520" cy="45720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7406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Previsions Meteo — Yamoussoukro, Cote d'Ivoire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1600200" cy="347472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Aujourd'hui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7400" y="1600200"/>
            <a:ext cx="1600200" cy="347472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05740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Demain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600200"/>
            <a:ext cx="1600200" cy="347472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4904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J+2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600200"/>
            <a:ext cx="1600200" cy="347472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40680" y="1600200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B1F47"/>
                </a:solidFill>
              </a:rPr>
              <a:t>J+3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00h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25 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89888" y="2029968"/>
            <a:ext cx="960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89888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03h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18488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89888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NUIT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9888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24 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6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414016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06h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42616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14016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AUBE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6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25 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38144" y="2029968"/>
            <a:ext cx="960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38144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09h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66744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38144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NUAGE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38144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29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62272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62272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12h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90872" y="2331720"/>
            <a:ext cx="502920" cy="4114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62272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2272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32 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2029968"/>
            <a:ext cx="9601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0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15h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15000" y="2331720"/>
            <a:ext cx="502920" cy="41148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0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34 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10528" y="2029968"/>
            <a:ext cx="960120" cy="1280160"/>
          </a:xfrm>
          <a:prstGeom prst="rect">
            <a:avLst/>
          </a:prstGeom>
          <a:solidFill>
            <a:srgbClr val="C2DBF0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10528" y="20574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18h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39128" y="2331720"/>
            <a:ext cx="502920" cy="4114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10528" y="233172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SOIR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0528" y="27889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B1F47"/>
                </a:solidFill>
              </a:rPr>
              <a:t>31 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429000"/>
            <a:ext cx="7315200" cy="128016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65760" y="3977639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573"/>
                </a:solidFill>
              </a:rPr>
              <a:t>Courbe temperature sur 72h (graphique Chart.js)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8463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7200" y="4892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Moy.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5166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1F47"/>
                </a:solidFill>
              </a:rPr>
              <a:t>28.4 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0" y="48463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743200" y="4892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Max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5166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1F47"/>
                </a:solidFill>
              </a:rPr>
              <a:t>34 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0" y="48463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029200" y="48920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3"/>
                </a:solidFill>
              </a:rPr>
              <a:t>Min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5166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1F47"/>
                </a:solidFill>
              </a:rPr>
              <a:t>24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46720" y="105156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F47"/>
                </a:solidFill>
              </a:rPr>
              <a:t>Fonctionnalites de l'Interface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046720" y="157276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046720" y="1572768"/>
            <a:ext cx="182880" cy="420624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302752" y="163677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Previsions horaires 72h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46720" y="207568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8046720" y="2075688"/>
            <a:ext cx="182880" cy="420624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302752" y="21396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Navigation 4 onglets (jours)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46720" y="257860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046720" y="2578608"/>
            <a:ext cx="182880" cy="420624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302752" y="264261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Icones dynamiques jour/nuit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46720" y="308152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046720" y="3081528"/>
            <a:ext cx="182880" cy="420624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302752" y="314553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Graphique Chart.js interactif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46720" y="358444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8046720" y="3584448"/>
            <a:ext cx="182880" cy="420624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302752" y="364845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Refresh via API FastAPI :8000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408736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8046720" y="4087368"/>
            <a:ext cx="182880" cy="420624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302752" y="415137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Interface responsive CSS3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46720" y="459028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46720" y="4590288"/>
            <a:ext cx="182880" cy="420624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302752" y="465429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Flask + Jinja2 templates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46720" y="5093208"/>
            <a:ext cx="3931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C2D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8046720" y="5093208"/>
            <a:ext cx="182880" cy="420624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302752" y="515721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F47"/>
                </a:solidFill>
              </a:rPr>
              <a:t>Donnees meteorologiques reelles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6510528"/>
            <a:ext cx="11612880" cy="256032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365760" y="652881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2DBF0"/>
                </a:solidFill>
              </a:rPr>
              <a:t>Flux : Open-Meteo -&gt; Airflow (fetch) -&gt; SQLite -&gt; FastAPI :8000 -&gt; Flask :5000 -&gt; Utilisateur</a:t>
            </a:r>
          </a:p>
        </p:txBody>
      </p:sp>
      <p:pic>
        <p:nvPicPr>
          <p:cNvPr id="94" name="Image 93">
            <a:extLst>
              <a:ext uri="{FF2B5EF4-FFF2-40B4-BE49-F238E27FC236}">
                <a16:creationId xmlns:a16="http://schemas.microsoft.com/office/drawing/2014/main" id="{8BD7175D-1AAB-454F-9C3D-42093760E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7399"/>
            <a:ext cx="12192000" cy="582402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Dashboard Grafana — Monitoring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</a:t>
            </a:r>
            <a:r>
              <a:rPr lang="en-US" sz="1000" b="0" i="0" dirty="0">
                <a:solidFill>
                  <a:srgbClr val="F9C724"/>
                </a:solidFill>
              </a:rPr>
              <a:t>8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4925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0B1F47"/>
                </a:solidFill>
              </a:rPr>
              <a:t>Dashboard Grafana — Supervision </a:t>
            </a:r>
            <a:r>
              <a:rPr sz="2100" b="1" i="0" dirty="0" err="1">
                <a:solidFill>
                  <a:srgbClr val="0B1F47"/>
                </a:solidFill>
              </a:rPr>
              <a:t>Meteo</a:t>
            </a:r>
            <a:r>
              <a:rPr sz="2100" b="1" i="0" dirty="0">
                <a:solidFill>
                  <a:srgbClr val="0B1F47"/>
                </a:solidFill>
              </a:rPr>
              <a:t> </a:t>
            </a:r>
            <a:r>
              <a:rPr sz="2100" b="1" i="0" dirty="0" err="1">
                <a:solidFill>
                  <a:srgbClr val="0B1F47"/>
                </a:solidFill>
              </a:rPr>
              <a:t>en</a:t>
            </a:r>
            <a:r>
              <a:rPr sz="2100" b="1" i="0" dirty="0">
                <a:solidFill>
                  <a:srgbClr val="0B1F47"/>
                </a:solidFill>
              </a:rPr>
              <a:t> Temps Reel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6510528"/>
            <a:ext cx="11612880" cy="256032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52881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Grafana :3000  |  Prometheus :9090  |  Datasources: Prometheus + Infinity  |  Dashboard auto-provisionne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42391C3-730D-4D31-B9C3-B89C93D66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" y="907034"/>
            <a:ext cx="6552731" cy="1273791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520F3EF6-E911-414D-AB85-BC6F4C46D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2106587"/>
            <a:ext cx="6552731" cy="1719825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074AC325-2710-4F71-A95D-5A07090A0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8425" y="866192"/>
            <a:ext cx="5423095" cy="1240395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696FD12A-D3C5-4708-941A-ABAB61C99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8424" y="2106586"/>
            <a:ext cx="5423096" cy="1719825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A931B703-3A2E-40E0-8C97-F02EA7B6FE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5" y="3853844"/>
            <a:ext cx="6585719" cy="269326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1615CC15-D95F-4DE2-9A7F-8678EF7868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8425" y="3853844"/>
            <a:ext cx="5423096" cy="264754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Tests Automatises — 16 Tests pytest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F9C724"/>
                </a:solidFill>
              </a:rPr>
              <a:t>2</a:t>
            </a:r>
            <a:r>
              <a:rPr lang="en-US" sz="1000" b="0" i="0" dirty="0">
                <a:solidFill>
                  <a:srgbClr val="F9C724"/>
                </a:solidFill>
              </a:rPr>
              <a:t>9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100" b="1" i="0" dirty="0">
                <a:solidFill>
                  <a:srgbClr val="0B1F47"/>
                </a:solidFill>
              </a:rPr>
              <a:t>Dashboard </a:t>
            </a:r>
            <a:r>
              <a:rPr lang="fr-FR" sz="2100" b="1" i="0" dirty="0" err="1">
                <a:solidFill>
                  <a:srgbClr val="0B1F47"/>
                </a:solidFill>
              </a:rPr>
              <a:t>Airflow</a:t>
            </a:r>
            <a:endParaRPr lang="fr-FR" sz="2100" b="1" i="0" dirty="0">
              <a:solidFill>
                <a:srgbClr val="0B1F47"/>
              </a:solidFill>
            </a:endParaRPr>
          </a:p>
        </p:txBody>
      </p:sp>
      <p:pic>
        <p:nvPicPr>
          <p:cNvPr id="88" name="Image 87">
            <a:extLst>
              <a:ext uri="{FF2B5EF4-FFF2-40B4-BE49-F238E27FC236}">
                <a16:creationId xmlns:a16="http://schemas.microsoft.com/office/drawing/2014/main" id="{69071342-8DF3-4DA5-97D2-65EDB19F4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" y="890986"/>
            <a:ext cx="12088368" cy="3360271"/>
          </a:xfrm>
          <a:prstGeom prst="rect">
            <a:avLst/>
          </a:prstGeom>
        </p:spPr>
      </p:pic>
      <p:pic>
        <p:nvPicPr>
          <p:cNvPr id="90" name="Image 89">
            <a:extLst>
              <a:ext uri="{FF2B5EF4-FFF2-40B4-BE49-F238E27FC236}">
                <a16:creationId xmlns:a16="http://schemas.microsoft.com/office/drawing/2014/main" id="{73837529-D3E7-44E6-ACB1-37B6F0B2E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" y="3277773"/>
            <a:ext cx="12192000" cy="3223612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Tests Automatises — 16 Tests pytest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30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62946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100" b="1" i="0" dirty="0">
                <a:solidFill>
                  <a:srgbClr val="0B1F47"/>
                </a:solidFill>
              </a:rPr>
              <a:t>Dashboard </a:t>
            </a:r>
            <a:r>
              <a:rPr lang="fr-FR" sz="2100" b="1" i="0" dirty="0" err="1">
                <a:solidFill>
                  <a:srgbClr val="0B1F47"/>
                </a:solidFill>
              </a:rPr>
              <a:t>Mlfow</a:t>
            </a:r>
            <a:endParaRPr lang="fr-FR" sz="2100" b="1" i="0" dirty="0">
              <a:solidFill>
                <a:srgbClr val="0B1F47"/>
              </a:solidFill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48B7803-421C-4A07-813D-816FA4A6B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58072"/>
            <a:ext cx="12192000" cy="292635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48BF6E1B-CD63-44F4-9A58-2F774BC2F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84429"/>
            <a:ext cx="12192000" cy="285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767872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B1F47"/>
                </a:solidFill>
              </a:rPr>
              <a:t>Bilan Technique &amp; Perspectives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8B57"/>
                </a:solidFill>
              </a:rPr>
              <a:t>Realisations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7276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57276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6276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LSTM 3 couches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6276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MAE 0.807 C en production (56 pts)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12140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12140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21762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Pipeline ETL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1762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Airflow @daily — fetch + predict + 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7004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267004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2724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Fusion Multimodale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7249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Early Fusion F1=0.738 (image+texte)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1868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21868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7 microservices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2735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Docker Compose orchestre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76732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76732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1792" y="38221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API REST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82219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FastAPI : 9 endpoints documentes Swagger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1596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5760" y="431596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437083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Monitoring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437083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Grafana + Prometheus temps reel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86460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486460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1792" y="491947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CI/CD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91947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GitHub Actions : test -&gt; build -&gt; deploy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413248"/>
            <a:ext cx="5669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5413248"/>
            <a:ext cx="182880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1792" y="54681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Tests auto.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46811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16 tests pytest (unit + integration)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107899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6BB8"/>
                </a:solidFill>
              </a:rPr>
              <a:t>Perspectives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157276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92240" y="157276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748272" y="16276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TFT fine-tune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162763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Entrainer TFT sur 3 ans de donnees locales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212140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92240" y="212140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748272" y="21762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Features meteo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21762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Ajouter vent, humidite, pression atm.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267004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492240" y="267004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48272" y="27249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App mobile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27249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React Native — Notifications push alertes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321868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492240" y="321868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748272" y="327355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Cloud deploy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12480" y="32735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556573"/>
                </a:solidFill>
              </a:rPr>
              <a:t>AWS/GCP — autoscaling Kubernetes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92240" y="376732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492240" y="376732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748272" y="3822192"/>
            <a:ext cx="16459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 err="1">
                <a:solidFill>
                  <a:srgbClr val="0B1F47"/>
                </a:solidFill>
              </a:rPr>
              <a:t>Entraînement</a:t>
            </a:r>
            <a:r>
              <a:rPr lang="en-US" sz="1100" b="1" dirty="0">
                <a:solidFill>
                  <a:srgbClr val="0B1F47"/>
                </a:solidFill>
              </a:rPr>
              <a:t> </a:t>
            </a:r>
            <a:r>
              <a:rPr lang="en-US" sz="1100" b="1" dirty="0" err="1">
                <a:solidFill>
                  <a:srgbClr val="0B1F47"/>
                </a:solidFill>
              </a:rPr>
              <a:t>automatique</a:t>
            </a:r>
            <a:endParaRPr sz="1100" b="1" i="0" dirty="0">
              <a:solidFill>
                <a:srgbClr val="0B1F47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412480" y="3822192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dirty="0" err="1">
                <a:solidFill>
                  <a:srgbClr val="556573"/>
                </a:solidFill>
              </a:rPr>
              <a:t>Entraînement</a:t>
            </a:r>
            <a:r>
              <a:rPr lang="en-US" sz="1000" dirty="0">
                <a:solidFill>
                  <a:srgbClr val="556573"/>
                </a:solidFill>
              </a:rPr>
              <a:t> </a:t>
            </a:r>
            <a:r>
              <a:rPr lang="en-US" sz="1000" dirty="0" err="1">
                <a:solidFill>
                  <a:srgbClr val="556573"/>
                </a:solidFill>
              </a:rPr>
              <a:t>automatique</a:t>
            </a:r>
            <a:r>
              <a:rPr lang="en-US" sz="1000" dirty="0">
                <a:solidFill>
                  <a:srgbClr val="556573"/>
                </a:solidFill>
              </a:rPr>
              <a:t> à travers des derives </a:t>
            </a:r>
            <a:endParaRPr sz="1000" b="0" i="0" dirty="0">
              <a:solidFill>
                <a:srgbClr val="556573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492240" y="431596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492240" y="431596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748272" y="437083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B1F47"/>
                </a:solidFill>
              </a:rPr>
              <a:t>A/B testing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0" y="437083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Comparer modeles en production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92240" y="486460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492240" y="486460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48272" y="49194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B1F47"/>
                </a:solidFill>
              </a:rPr>
              <a:t>BERT/GPT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4919472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b="0" i="0" dirty="0">
                <a:solidFill>
                  <a:srgbClr val="556573"/>
                </a:solidFill>
              </a:rPr>
              <a:t>Tester  L</a:t>
            </a:r>
            <a:r>
              <a:rPr sz="1000" b="0" i="0" dirty="0">
                <a:solidFill>
                  <a:srgbClr val="556573"/>
                </a:solidFill>
              </a:rPr>
              <a:t>LM pour classification </a:t>
            </a:r>
            <a:r>
              <a:rPr sz="1000" b="0" i="0" dirty="0" err="1">
                <a:solidFill>
                  <a:srgbClr val="556573"/>
                </a:solidFill>
              </a:rPr>
              <a:t>texte</a:t>
            </a:r>
            <a:endParaRPr sz="1000" b="0" i="0" dirty="0">
              <a:solidFill>
                <a:srgbClr val="556573"/>
              </a:solidFill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6492240" y="5413248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6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6492240" y="5413248"/>
            <a:ext cx="182880" cy="45720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748272" y="546811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F47"/>
                </a:solidFill>
              </a:rPr>
              <a:t>Alerting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12480" y="546811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3"/>
                </a:solidFill>
              </a:rPr>
              <a:t>MAE &gt; seuil -&gt; alerte Slack/email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44768" y="1115568"/>
            <a:ext cx="54864" cy="5120640"/>
          </a:xfrm>
          <a:prstGeom prst="rect">
            <a:avLst/>
          </a:prstGeom>
          <a:solidFill>
            <a:srgbClr val="C2D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>
    <p:wheel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0B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0D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F2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9C724"/>
                </a:solidFill>
              </a:rPr>
              <a:t>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960120"/>
            <a:ext cx="1737360" cy="2011680"/>
          </a:xfrm>
          <a:prstGeom prst="rect">
            <a:avLst/>
          </a:prstGeom>
          <a:solidFill>
            <a:srgbClr val="1A6B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0515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0.807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MAE production
LSTM 72h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960120"/>
            <a:ext cx="1737360" cy="2011680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42032" y="10515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0.738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19659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F1 Early Fusion
multimodal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4" y="960120"/>
            <a:ext cx="1737360" cy="2011680"/>
          </a:xfrm>
          <a:prstGeom prst="rect">
            <a:avLst/>
          </a:prstGeom>
          <a:solidFill>
            <a:srgbClr val="E67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43984" y="10515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19659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Microservices
Docker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960120"/>
            <a:ext cx="1737360" cy="201168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5936" y="10515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19659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Tests
automatises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960120"/>
            <a:ext cx="1737360" cy="2011680"/>
          </a:xfrm>
          <a:prstGeom prst="rect">
            <a:avLst/>
          </a:prstGeom>
          <a:solidFill>
            <a:srgbClr val="5B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47888" y="10515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24/24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19659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Monitoring
continu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960120"/>
            <a:ext cx="1737360" cy="2011680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49840" y="10515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659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Donnees
entrain.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Un systeme MLOps complet 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931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2DBF0"/>
                </a:solidFill>
              </a:rPr>
              <a:t>Collecte automatique (Airflow)   -&gt;   Modele LSTM (PyTorch)   -&gt;   API FastAPI   -&gt;   Interface Web   -&gt;   Monitoring Grafana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2DBF0"/>
                </a:solidFill>
              </a:rPr>
              <a:t>Yamoussoukro, Cote d'Ivoire  |  Temperature prevue a 72h  |  MAE &lt; 1 C en production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257800"/>
            <a:ext cx="11247120" cy="1005840"/>
          </a:xfrm>
          <a:prstGeom prst="rect">
            <a:avLst/>
          </a:prstGeom>
          <a:solidFill>
            <a:srgbClr val="0814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28523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9C724"/>
                </a:solidFill>
              </a:rPr>
              <a:t>Merci pour votre attention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2DBF0"/>
                </a:solidFill>
              </a:rPr>
              <a:t>TOURE Abdoul Aziz  |  Master MLOps ESTIA  |  Avril 2026  |  BIHAR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943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9C724"/>
                </a:solidFill>
              </a:rPr>
              <a:t>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5303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9C724"/>
                </a:solidFill>
              </a:rPr>
              <a:t>*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29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9C724"/>
                </a:solidFill>
              </a:rPr>
              <a:t>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1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2DBF0"/>
                </a:solidFill>
              </a:rPr>
              <a:t>BIHAR 2026  |  Prevision Meteorologique Yamoussoukro  |  Master MLOps ESTIA</a:t>
            </a:r>
          </a:p>
        </p:txBody>
      </p:sp>
    </p:spTree>
  </p:cSld>
  <p:clrMapOvr>
    <a:masterClrMapping/>
  </p:clrMapOvr>
  <p:transition>
    <p:dissolv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77" name="Image 76">
            <a:extLst>
              <a:ext uri="{FF2B5EF4-FFF2-40B4-BE49-F238E27FC236}">
                <a16:creationId xmlns:a16="http://schemas.microsoft.com/office/drawing/2014/main" id="{16E05497-F60B-49D4-8B33-2FBA737E9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21" y="683237"/>
            <a:ext cx="11732455" cy="569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806145"/>
      </p:ext>
    </p:extLst>
  </p:cSld>
  <p:clrMapOvr>
    <a:masterClrMapping/>
  </p:clrMapOvr>
  <p:transition>
    <p:wheel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A2C5C028-13FF-4C10-8F80-6386C4DA7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4" y="772781"/>
            <a:ext cx="12086591" cy="5728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990456"/>
      </p:ext>
    </p:extLst>
  </p:cSld>
  <p:clrMapOvr>
    <a:masterClrMapping/>
  </p:clrMapOvr>
  <p:transition>
    <p:wheel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03F3DE5D-87B3-43BF-9150-D09546B70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72197"/>
            <a:ext cx="11830929" cy="558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068028"/>
      </p:ext>
    </p:extLst>
  </p:cSld>
  <p:clrMapOvr>
    <a:masterClrMapping/>
  </p:clrMapOvr>
  <p:transition>
    <p:wheel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9845B0A2-E2E6-493F-92AC-3E4475C2A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529484" y="-2306265"/>
            <a:ext cx="5651194" cy="1173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230365"/>
      </p:ext>
    </p:extLst>
  </p:cSld>
  <p:clrMapOvr>
    <a:masterClrMapping/>
  </p:clrMapOvr>
  <p:transition>
    <p:wheel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A1B987A-689F-46BC-B00D-27C1781477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766" y="988756"/>
            <a:ext cx="5615355" cy="509646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4A6E0BBB-981B-4739-9E47-CCD47214E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14283"/>
            <a:ext cx="6210886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247839"/>
      </p:ext>
    </p:extLst>
  </p:cSld>
  <p:clrMapOvr>
    <a:masterClrMapping/>
  </p:clrMapOvr>
  <p:transition>
    <p:wheel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D6A95FF6-C3AF-489A-A9DD-C5968DCF4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35" y="1191388"/>
            <a:ext cx="11325225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573556"/>
      </p:ext>
    </p:extLst>
  </p:cSld>
  <p:clrMapOvr>
    <a:masterClrMapping/>
  </p:clrMapOvr>
  <p:transition>
    <p:wheel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EB6F46A9-0674-4F88-8B6B-4133A11BF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2780"/>
            <a:ext cx="11830929" cy="572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270452"/>
      </p:ext>
    </p:extLst>
  </p:cSld>
  <p:clrMapOvr>
    <a:masterClrMapping/>
  </p:clrMapOvr>
  <p:transition>
    <p:wheel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F8911E2-8716-4419-B9FB-80A0F7466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29" y="900332"/>
            <a:ext cx="10072468" cy="5500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323776"/>
      </p:ext>
    </p:extLst>
  </p:cSld>
  <p:clrMapOvr>
    <a:masterClrMapping/>
  </p:clrMapOvr>
  <p:transition>
    <p:wheel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0B1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365760"/>
          </a:xfrm>
          <a:prstGeom prst="rect">
            <a:avLst/>
          </a:prstGeom>
          <a:solidFill>
            <a:srgbClr val="F9C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657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2DBF0"/>
                </a:solidFill>
              </a:rPr>
              <a:t>BIHAR 2026  |  Bilan &amp;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36576"/>
            <a:ext cx="731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F9C724"/>
                </a:solidFill>
              </a:rPr>
              <a:t>31</a:t>
            </a:r>
            <a:r>
              <a:rPr sz="1000" b="0" i="0" dirty="0">
                <a:solidFill>
                  <a:srgbClr val="F9C724"/>
                </a:solidFill>
              </a:rPr>
              <a:t>/3</a:t>
            </a:r>
            <a:r>
              <a:rPr lang="en-US" sz="1000" b="0" i="0" dirty="0">
                <a:solidFill>
                  <a:srgbClr val="F9C724"/>
                </a:solidFill>
              </a:rPr>
              <a:t>2</a:t>
            </a:r>
            <a:endParaRPr sz="1000" b="0" i="0" dirty="0">
              <a:solidFill>
                <a:srgbClr val="F9C72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"/>
            <a:ext cx="11247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b="1" i="0" dirty="0">
                <a:solidFill>
                  <a:srgbClr val="0B1F47"/>
                </a:solidFill>
              </a:rPr>
              <a:t>Annexes </a:t>
            </a:r>
            <a:endParaRPr sz="2100" b="1" i="0" dirty="0">
              <a:solidFill>
                <a:srgbClr val="0B1F47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57730D24-F1AC-4B38-9651-71F19732A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906" y="872197"/>
            <a:ext cx="9608232" cy="5328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75781"/>
      </p:ext>
    </p:extLst>
  </p:cSld>
  <p:clrMapOvr>
    <a:masterClrMapping/>
  </p:clrMapOvr>
  <p:transition>
    <p:whee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3163</TotalTime>
  <Words>3905</Words>
  <Application>Microsoft Office PowerPoint</Application>
  <PresentationFormat>Grand écran</PresentationFormat>
  <Paragraphs>808</Paragraphs>
  <Slides>41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ABDOUL AZIZ TOURE</dc:creator>
  <cp:keywords/>
  <dc:description>generated using python-pptx</dc:description>
  <cp:lastModifiedBy>ABDOUL AZIZ TOURE</cp:lastModifiedBy>
  <cp:revision>71</cp:revision>
  <dcterms:created xsi:type="dcterms:W3CDTF">2013-01-27T09:14:16Z</dcterms:created>
  <dcterms:modified xsi:type="dcterms:W3CDTF">2026-04-11T02:35:07Z</dcterms:modified>
  <cp:category/>
</cp:coreProperties>
</file>